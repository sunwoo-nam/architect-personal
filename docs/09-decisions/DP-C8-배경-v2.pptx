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2795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DP-C8 배경 (1/2) — 루프 구조와 설계 변수. 01: 관찰→추론→행동 반복. 컨텍스트가 루프의 유일한 상태(무상태 LLM의 입력 전체, 관찰 적재) → 설계 변수 ① 컨텍스트의 수명. 계획이 국소 결정을 전역 목표에 정렬 → 설계 변수 ② 계획의 소유권. 02: 계획의 세 역할 — 목표 보존 / 진행 추적 / 행동 정합성 기준선(DP-C6 전제).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DP-C8 배경 (2/2) — 실패 요인 3개. 관통 시나리오: 쿠팡 DVD 최저가(광고 ₩19,900, 실제 최저가 3번째 ₩12,900). 요인1 목표 통제력 저하[변수①]: 관찰 누적에 따른 목표 비중 축소(초기 조건 희석, 후기 준수율 저하, 요약 치환 시 근거 유실). 요인2 완료 오판·계획 자기수정[변수②]: 작성·수행·판정 주체 동일 → 독립 검증자 부재·자기일관성 편향·검증 술어 부재·계획 수정 자유. 요인3 계획-현실 괴리[변수②]: 관찰 이전 수립 계획의 가정 붕괴 → 단계 연쇄 무효, 재계획 부재 시 공회전.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04792" y="182875"/>
            <a:ext cx="670543" cy="289552"/>
          </a:xfrm>
          <a:prstGeom prst="roundRect">
            <a:avLst>
              <a:gd name="adj" fmla="val 2105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3089" y="254196"/>
            <a:ext cx="433948" cy="1943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Malgun Gothic"/>
              </a:rPr>
              <a:t>DP-C8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52" y="160625"/>
            <a:ext cx="3785140" cy="2971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560" b="1">
                <a:solidFill>
                  <a:srgbClr val="0F172A"/>
                </a:solidFill>
                <a:latin typeface="Malgun Gothic"/>
              </a:rPr>
              <a:t>에이전트 루프 구조 </a:t>
            </a:r>
            <a:r>
              <a:rPr sz="900" b="0">
                <a:solidFill>
                  <a:srgbClr val="64748B"/>
                </a:solidFill>
                <a:latin typeface="Malgun Gothic"/>
              </a:rPr>
              <a:t>— 배경 (1/2) · 루프 구조와 설계 변수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52" y="431738"/>
            <a:ext cx="3695798" cy="1657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9" b="0">
                <a:solidFill>
                  <a:srgbClr val="475569"/>
                </a:solidFill>
                <a:latin typeface="Malgun Gothic"/>
              </a:rPr>
              <a:t>계획의 소유 구조와 컨텍스트 수명 = 다단계 웹 태스크 성공률의 결정 변수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98273" y="224174"/>
            <a:ext cx="2488629" cy="1314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690" b="0">
                <a:solidFill>
                  <a:srgbClr val="64748B"/>
                </a:solidFill>
                <a:latin typeface="Malgun Gothic"/>
              </a:rPr>
              <a:t>선행 결정: BD-1 자율 서브에이전트 · DP-C2 Quick Action 분리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4494" y="376570"/>
            <a:ext cx="1222407" cy="1314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690" b="0">
                <a:solidFill>
                  <a:srgbClr val="64748B"/>
                </a:solidFill>
                <a:latin typeface="Malgun Gothic"/>
              </a:rPr>
              <a:t>QAS 1순위: E2E 태스크 성공률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4792" y="655303"/>
            <a:ext cx="11582110" cy="0"/>
          </a:xfrm>
          <a:prstGeom prst="line">
            <a:avLst/>
          </a:prstGeom>
          <a:ln w="11429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4792" y="761980"/>
            <a:ext cx="11582110" cy="2743131"/>
          </a:xfrm>
          <a:prstGeom prst="roundRect">
            <a:avLst>
              <a:gd name="adj" fmla="val 2777"/>
            </a:avLst>
          </a:prstGeom>
          <a:solidFill>
            <a:srgbClr val="FFFFFF"/>
          </a:solidFill>
          <a:ln w="11429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6709" y="868658"/>
            <a:ext cx="205734" cy="205734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01" y="915291"/>
            <a:ext cx="181351" cy="1600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22" y="897765"/>
            <a:ext cx="2305373" cy="18859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90" b="1">
                <a:solidFill>
                  <a:srgbClr val="0F172A"/>
                </a:solidFill>
                <a:latin typeface="Malgun Gothic"/>
              </a:rPr>
              <a:t>에이전트 루프 </a:t>
            </a:r>
            <a:r>
              <a:rPr sz="750" b="0">
                <a:solidFill>
                  <a:srgbClr val="64748B"/>
                </a:solidFill>
                <a:latin typeface="Malgun Gothic"/>
              </a:rPr>
              <a:t>— 관찰 · 추론 · 행동의 반복 구조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2971" y="1333466"/>
            <a:ext cx="3962300" cy="655303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09" y="1405854"/>
            <a:ext cx="1409664" cy="14287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>
                <a:solidFill>
                  <a:srgbClr val="0F172A"/>
                </a:solidFill>
                <a:latin typeface="Malgun Gothic"/>
              </a:rPr>
              <a:t>컨텍스트 — 루프의 유일한 상태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09" y="1615399"/>
            <a:ext cx="396230" cy="198115"/>
          </a:xfrm>
          <a:prstGeom prst="roundRect">
            <a:avLst>
              <a:gd name="adj" fmla="val 15384"/>
            </a:avLst>
          </a:prstGeom>
          <a:solidFill>
            <a:srgbClr val="FEF3C7"/>
          </a:solidFill>
          <a:ln w="76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33466" y="1674834"/>
            <a:ext cx="198115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00" b="1">
                <a:solidFill>
                  <a:srgbClr val="92400E"/>
                </a:solidFill>
                <a:latin typeface="Malgun Gothic"/>
              </a:rPr>
              <a:t>목표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76358" y="1615399"/>
            <a:ext cx="396230" cy="198115"/>
          </a:xfrm>
          <a:prstGeom prst="roundRect">
            <a:avLst>
              <a:gd name="adj" fmla="val 15384"/>
            </a:avLst>
          </a:prstGeom>
          <a:solidFill>
            <a:srgbClr val="FEF3C7"/>
          </a:solidFill>
          <a:ln w="76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75415" y="1674834"/>
            <a:ext cx="198115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00" b="1">
                <a:solidFill>
                  <a:srgbClr val="92400E"/>
                </a:solidFill>
                <a:latin typeface="Malgun Gothic"/>
              </a:rPr>
              <a:t>계획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18307" y="1615399"/>
            <a:ext cx="579105" cy="198115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76418" y="1674834"/>
            <a:ext cx="262883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00" b="0">
                <a:solidFill>
                  <a:srgbClr val="475569"/>
                </a:solidFill>
                <a:latin typeface="Malgun Gothic"/>
              </a:rPr>
              <a:t>관찰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131" y="1615399"/>
            <a:ext cx="579105" cy="198115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01242" y="1674834"/>
            <a:ext cx="262883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00" b="0">
                <a:solidFill>
                  <a:srgbClr val="475569"/>
                </a:solidFill>
                <a:latin typeface="Malgun Gothic"/>
              </a:rPr>
              <a:t>관찰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67955" y="1615399"/>
            <a:ext cx="579105" cy="198115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26066" y="1674834"/>
            <a:ext cx="262883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00" b="0">
                <a:solidFill>
                  <a:srgbClr val="475569"/>
                </a:solidFill>
                <a:latin typeface="Malgun Gothic"/>
              </a:rPr>
              <a:t>관찰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4217" y="1667823"/>
            <a:ext cx="125726" cy="1257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>
                <a:solidFill>
                  <a:srgbClr val="94A3B8"/>
                </a:solidFill>
                <a:latin typeface="Malgun Gothic"/>
              </a:rPr>
              <a:t>···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853" y="1615399"/>
            <a:ext cx="579105" cy="198115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09964" y="1674834"/>
            <a:ext cx="262883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00" b="0">
                <a:solidFill>
                  <a:srgbClr val="475569"/>
                </a:solidFill>
                <a:latin typeface="Malgun Gothic"/>
              </a:rPr>
              <a:t>관찰 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4356" y="1426885"/>
            <a:ext cx="499478" cy="10858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570" b="0">
                <a:solidFill>
                  <a:srgbClr val="94A3B8"/>
                </a:solidFill>
                <a:latin typeface="Malgun Gothic"/>
              </a:rPr>
              <a:t>스텝마다 적재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2971" y="2590735"/>
            <a:ext cx="1523961" cy="548626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1429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614256" y="2705946"/>
            <a:ext cx="581391" cy="1600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40" b="1">
                <a:solidFill>
                  <a:srgbClr val="0F172A"/>
                </a:solidFill>
                <a:latin typeface="Malgun Gothic"/>
              </a:rPr>
              <a:t>추론 (LLM)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4056" y="2889888"/>
            <a:ext cx="781792" cy="10858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570" b="0">
                <a:solidFill>
                  <a:srgbClr val="64748B"/>
                </a:solidFill>
                <a:latin typeface="Malgun Gothic"/>
              </a:rPr>
              <a:t>클라우드 호출 · 무상태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81310" y="2590735"/>
            <a:ext cx="1523961" cy="54862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29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927249" y="2705946"/>
            <a:ext cx="832083" cy="1600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40" b="1">
                <a:solidFill>
                  <a:srgbClr val="0F172A"/>
                </a:solidFill>
                <a:latin typeface="Malgun Gothic"/>
              </a:rPr>
              <a:t>환경 (웹 페이지)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10305" y="2889888"/>
            <a:ext cx="665971" cy="10858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570" b="0">
                <a:solidFill>
                  <a:srgbClr val="64748B"/>
                </a:solidFill>
                <a:latin typeface="Malgun Gothic"/>
              </a:rPr>
              <a:t>브라우저 조작 대상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600159" y="1988770"/>
            <a:ext cx="0" cy="556246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691597" y="2151377"/>
            <a:ext cx="840083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1">
                <a:solidFill>
                  <a:srgbClr val="475569"/>
                </a:solidFill>
                <a:latin typeface="Malgun Gothic"/>
              </a:rPr>
              <a:t>① 전체 컨텍스트 입력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597" y="2268569"/>
            <a:ext cx="425185" cy="1028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40" b="0">
                <a:solidFill>
                  <a:srgbClr val="94A3B8"/>
                </a:solidFill>
                <a:latin typeface="Malgun Gothic"/>
              </a:rPr>
              <a:t>매 스텝 반복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666933" y="2865048"/>
            <a:ext cx="868658" cy="0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945246" y="2738102"/>
            <a:ext cx="312031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30" b="1">
                <a:solidFill>
                  <a:srgbClr val="475569"/>
                </a:solidFill>
                <a:latin typeface="Malgun Gothic"/>
              </a:rPr>
              <a:t>② 행동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4648083" y="1988770"/>
            <a:ext cx="0" cy="556246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739521" y="2151377"/>
            <a:ext cx="496049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1">
                <a:solidFill>
                  <a:srgbClr val="475569"/>
                </a:solidFill>
                <a:latin typeface="Malgun Gothic"/>
              </a:rPr>
              <a:t>③ 관찰 적재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39521" y="2268569"/>
            <a:ext cx="514337" cy="1028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40" b="0">
                <a:solidFill>
                  <a:srgbClr val="94A3B8"/>
                </a:solidFill>
                <a:latin typeface="Malgun Gothic"/>
              </a:rPr>
              <a:t>DOM/AX 스냅샷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2971" y="3275603"/>
            <a:ext cx="3562260" cy="1257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>
                <a:solidFill>
                  <a:srgbClr val="475569"/>
                </a:solidFill>
                <a:latin typeface="Malgun Gothic"/>
              </a:rPr>
              <a:t>LLM 무상태 — 호출 간 기억 부재 · </a:t>
            </a:r>
            <a:r>
              <a:rPr sz="660" b="1">
                <a:solidFill>
                  <a:srgbClr val="475569"/>
                </a:solidFill>
                <a:latin typeface="Malgun Gothic"/>
              </a:rPr>
              <a:t>컨텍스트가 루프의 유일한 상태</a:t>
            </a:r>
            <a:r>
              <a:rPr sz="660" b="0">
                <a:solidFill>
                  <a:srgbClr val="475569"/>
                </a:solidFill>
                <a:latin typeface="Malgun Gothic"/>
              </a:rPr>
              <a:t> · 목표 달성까지 ①~③ 반복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8243" y="1195395"/>
            <a:ext cx="1638640" cy="1257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1">
                <a:solidFill>
                  <a:srgbClr val="64748B"/>
                </a:solidFill>
                <a:latin typeface="Malgun Gothic"/>
              </a:rPr>
              <a:t>루프의 두 내부 요소 = 본 결정의 설계 대상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48243" y="1333466"/>
            <a:ext cx="5516742" cy="929616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85400" y="1417589"/>
            <a:ext cx="1466051" cy="14858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80" b="1">
                <a:solidFill>
                  <a:srgbClr val="0F172A"/>
                </a:solidFill>
                <a:latin typeface="Malgun Gothic"/>
              </a:rPr>
              <a:t>컨텍스트 — 루프의 유일한 상태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5400" y="1602750"/>
            <a:ext cx="1480147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0">
                <a:solidFill>
                  <a:srgbClr val="475569"/>
                </a:solidFill>
                <a:latin typeface="Malgun Gothic"/>
              </a:rPr>
              <a:t>· 무상태 LLM의 입력 전체 = 루프의 기억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85400" y="1739907"/>
            <a:ext cx="1692169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0">
                <a:solidFill>
                  <a:srgbClr val="475569"/>
                </a:solidFill>
                <a:latin typeface="Malgun Gothic"/>
              </a:rPr>
              <a:t>· 스텝당 수천~수만 토큰의 관찰(DOM/AX) 적재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5400" y="1877063"/>
            <a:ext cx="1544154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0">
                <a:solidFill>
                  <a:srgbClr val="475569"/>
                </a:solidFill>
                <a:latin typeface="Malgun Gothic"/>
              </a:rPr>
              <a:t>· 스텝 수 증가에 따라 관찰 비중 지속 확대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85400" y="2026869"/>
            <a:ext cx="3230799" cy="167635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 w="76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61598" y="2067559"/>
            <a:ext cx="1760175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1">
                <a:solidFill>
                  <a:srgbClr val="92400E"/>
                </a:solidFill>
                <a:latin typeface="Malgun Gothic"/>
              </a:rPr>
              <a:t>설계 변수 ① 컨텍스트의 수명 — 보존·폐기 정책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48243" y="2369760"/>
            <a:ext cx="5516742" cy="929616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85400" y="2453883"/>
            <a:ext cx="1495768" cy="14858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80" b="1">
                <a:solidFill>
                  <a:srgbClr val="0F172A"/>
                </a:solidFill>
                <a:latin typeface="Malgun Gothic"/>
              </a:rPr>
              <a:t>계획 — 목표와 행동의 정렬 구조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85400" y="2639044"/>
            <a:ext cx="1784178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0">
                <a:solidFill>
                  <a:srgbClr val="475569"/>
                </a:solidFill>
                <a:latin typeface="Malgun Gothic"/>
              </a:rPr>
              <a:t>· 매 스텝의 국소 결정을 전역 목표에 정렬 (→ 02)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85400" y="2776201"/>
            <a:ext cx="2152215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0">
                <a:solidFill>
                  <a:srgbClr val="475569"/>
                </a:solidFill>
                <a:latin typeface="Malgun Gothic"/>
              </a:rPr>
              <a:t>· 컨텍스트 내 텍스트로 존재 → 수정 주체 지정이 설계 사항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85400" y="2913357"/>
            <a:ext cx="1404140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0">
                <a:solidFill>
                  <a:srgbClr val="475569"/>
                </a:solidFill>
                <a:latin typeface="Malgun Gothic"/>
              </a:rPr>
              <a:t>· 집행 강도 = 수정 권한의 위치에 종속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85400" y="3063163"/>
            <a:ext cx="3230799" cy="167635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 w="76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61598" y="3103853"/>
            <a:ext cx="1760175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1">
                <a:solidFill>
                  <a:srgbClr val="92400E"/>
                </a:solidFill>
                <a:latin typeface="Malgun Gothic"/>
              </a:rPr>
              <a:t>설계 변수 ② 계획의 소유권 — 수정 권한의 위치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04792" y="3611789"/>
            <a:ext cx="11582110" cy="1813514"/>
          </a:xfrm>
          <a:prstGeom prst="roundRect">
            <a:avLst>
              <a:gd name="adj" fmla="val 4201"/>
            </a:avLst>
          </a:prstGeom>
          <a:solidFill>
            <a:srgbClr val="FFFFFF"/>
          </a:solidFill>
          <a:ln w="11429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426709" y="3718467"/>
            <a:ext cx="205734" cy="205734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38901" y="3765100"/>
            <a:ext cx="181351" cy="1600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1022" y="3747574"/>
            <a:ext cx="2160596" cy="18859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90" b="1">
                <a:solidFill>
                  <a:srgbClr val="0F172A"/>
                </a:solidFill>
                <a:latin typeface="Malgun Gothic"/>
              </a:rPr>
              <a:t>계획의 역할 </a:t>
            </a:r>
            <a:r>
              <a:rPr sz="750" b="0">
                <a:solidFill>
                  <a:srgbClr val="64748B"/>
                </a:solidFill>
                <a:latin typeface="Malgun Gothic"/>
              </a:rPr>
              <a:t>— 국소 결정과 전역 목표의 연결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514537" y="4084217"/>
            <a:ext cx="2057348" cy="441948"/>
          </a:xfrm>
          <a:prstGeom prst="roundRect">
            <a:avLst>
              <a:gd name="adj" fmla="val 17241"/>
            </a:avLst>
          </a:prstGeom>
          <a:solidFill>
            <a:srgbClr val="F1F5F9"/>
          </a:solidFill>
          <a:ln w="11429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075164" y="4164835"/>
            <a:ext cx="936093" cy="1543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10" b="1">
                <a:solidFill>
                  <a:srgbClr val="0F172A"/>
                </a:solidFill>
                <a:latin typeface="Malgun Gothic"/>
              </a:rPr>
              <a:t>국소 결정 (매 스텝)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79155" y="4345882"/>
            <a:ext cx="1128112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30" b="0">
                <a:solidFill>
                  <a:srgbClr val="64748B"/>
                </a:solidFill>
                <a:latin typeface="Malgun Gothic"/>
              </a:rPr>
              <a:t>현재 화면 기준 다음 행동 선택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619809" y="4084217"/>
            <a:ext cx="2057348" cy="441948"/>
          </a:xfrm>
          <a:prstGeom prst="roundRect">
            <a:avLst>
              <a:gd name="adj" fmla="val 17241"/>
            </a:avLst>
          </a:prstGeom>
          <a:solidFill>
            <a:srgbClr val="F1F5F9"/>
          </a:solidFill>
          <a:ln w="11429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195867" y="4164835"/>
            <a:ext cx="905233" cy="1543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10" b="1">
                <a:solidFill>
                  <a:srgbClr val="0F172A"/>
                </a:solidFill>
                <a:latin typeface="Malgun Gothic"/>
              </a:rPr>
              <a:t>전역 목표 (태스크)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48443" y="4345882"/>
            <a:ext cx="800079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30" b="0">
                <a:solidFill>
                  <a:srgbClr val="64748B"/>
                </a:solidFill>
                <a:latin typeface="Malgun Gothic"/>
              </a:rPr>
              <a:t>"최저가로 주문해줘"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4571885" y="4305192"/>
            <a:ext cx="1082013" cy="0"/>
          </a:xfrm>
          <a:prstGeom prst="line">
            <a:avLst/>
          </a:prstGeom>
          <a:ln w="1905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537796" y="4305192"/>
            <a:ext cx="1082013" cy="0"/>
          </a:xfrm>
          <a:prstGeom prst="line">
            <a:avLst/>
          </a:prstGeom>
          <a:ln w="1905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5684377" y="4137556"/>
            <a:ext cx="822939" cy="335271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47261" y="4245757"/>
            <a:ext cx="297172" cy="17144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92400E"/>
                </a:solidFill>
                <a:latin typeface="Malgun Gothic"/>
              </a:rPr>
              <a:t>계획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26709" y="4724281"/>
            <a:ext cx="3687987" cy="57910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63865" y="4811909"/>
            <a:ext cx="590535" cy="14287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>
                <a:solidFill>
                  <a:srgbClr val="0F172A"/>
                </a:solidFill>
                <a:latin typeface="Malgun Gothic"/>
              </a:rPr>
              <a:t>① 목표 보존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3865" y="4978326"/>
            <a:ext cx="1376137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0">
                <a:solidFill>
                  <a:srgbClr val="475569"/>
                </a:solidFill>
                <a:latin typeface="Malgun Gothic"/>
              </a:rPr>
              <a:t>조건("최저가")을 명시적 단계로 고정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3865" y="5115482"/>
            <a:ext cx="1128112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0">
                <a:solidFill>
                  <a:srgbClr val="64748B"/>
                </a:solidFill>
                <a:latin typeface="Malgun Gothic"/>
              </a:rPr>
              <a:t>→ 관찰 적재에 따른 희석 방지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251853" y="4724281"/>
            <a:ext cx="3687987" cy="57910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389010" y="4811909"/>
            <a:ext cx="590535" cy="14287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>
                <a:solidFill>
                  <a:srgbClr val="0F172A"/>
                </a:solidFill>
                <a:latin typeface="Malgun Gothic"/>
              </a:rPr>
              <a:t>② 진행 추적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89010" y="4978326"/>
            <a:ext cx="760075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0">
                <a:solidFill>
                  <a:srgbClr val="475569"/>
                </a:solidFill>
                <a:latin typeface="Malgun Gothic"/>
              </a:rPr>
              <a:t>수행·잔여 단계 관리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89010" y="5115482"/>
            <a:ext cx="944094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0">
                <a:solidFill>
                  <a:srgbClr val="64748B"/>
                </a:solidFill>
                <a:latin typeface="Malgun Gothic"/>
              </a:rPr>
              <a:t>→ 단계 완료 판정의 근거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076998" y="4724281"/>
            <a:ext cx="3687987" cy="57910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14154" y="4811909"/>
            <a:ext cx="1000099" cy="14287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>
                <a:solidFill>
                  <a:srgbClr val="0F172A"/>
                </a:solidFill>
                <a:latin typeface="Malgun Gothic"/>
              </a:rPr>
              <a:t>③ 행동 정합성 기준선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14154" y="4978326"/>
            <a:ext cx="1044104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0">
                <a:solidFill>
                  <a:srgbClr val="475569"/>
                </a:solidFill>
                <a:latin typeface="Malgun Gothic"/>
              </a:rPr>
              <a:t>행동-목적 부합 판별의 기준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14154" y="5115482"/>
            <a:ext cx="1188118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0">
                <a:solidFill>
                  <a:srgbClr val="64748B"/>
                </a:solidFill>
                <a:latin typeface="Malgun Gothic"/>
              </a:rPr>
              <a:t>→ DP-C6 행동 시점 판별의 전제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04792" y="5638659"/>
            <a:ext cx="11582110" cy="350511"/>
          </a:xfrm>
          <a:prstGeom prst="roundRect">
            <a:avLst>
              <a:gd name="adj" fmla="val 21739"/>
            </a:avLst>
          </a:prstGeom>
          <a:solidFill>
            <a:srgbClr val="FFFBEB"/>
          </a:solidFill>
          <a:ln w="11429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135651" y="5761490"/>
            <a:ext cx="3920391" cy="1600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40" b="1">
                <a:solidFill>
                  <a:srgbClr val="92400E"/>
                </a:solidFill>
                <a:latin typeface="Malgun Gothic"/>
              </a:rPr>
              <a:t>두 설계 변수가 성공률을 가르는 지점 — 다단계 웹 태스크의 실패 요인 분석 (2/2)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4792" y="6532157"/>
            <a:ext cx="1715600" cy="10858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70" b="0">
                <a:solidFill>
                  <a:srgbClr val="94A3B8"/>
                </a:solidFill>
                <a:latin typeface="Malgun Gothic"/>
              </a:rPr>
              <a:t>Tizen TV AI Web Agent — ADS · DP-C8 배경장 (1/2)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564775" y="6532157"/>
            <a:ext cx="322127" cy="10858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570" b="0">
                <a:solidFill>
                  <a:srgbClr val="94A3B8"/>
                </a:solidFill>
                <a:latin typeface="Malgun Gothic"/>
              </a:rPr>
              <a:t>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04792" y="182875"/>
            <a:ext cx="670543" cy="289552"/>
          </a:xfrm>
          <a:prstGeom prst="roundRect">
            <a:avLst>
              <a:gd name="adj" fmla="val 2105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3089" y="254196"/>
            <a:ext cx="433948" cy="1943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Malgun Gothic"/>
              </a:rPr>
              <a:t>DP-C8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52" y="160625"/>
            <a:ext cx="4162320" cy="2971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560" b="1">
                <a:solidFill>
                  <a:srgbClr val="0F172A"/>
                </a:solidFill>
                <a:latin typeface="Malgun Gothic"/>
              </a:rPr>
              <a:t>에이전트 루프 구조 </a:t>
            </a:r>
            <a:r>
              <a:rPr sz="900" b="0">
                <a:solidFill>
                  <a:srgbClr val="64748B"/>
                </a:solidFill>
                <a:latin typeface="Malgun Gothic"/>
              </a:rPr>
              <a:t>— 배경 (2/2) · 다단계 웹 태스크의 실패 요인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52" y="431738"/>
            <a:ext cx="3441677" cy="1657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9" b="0">
                <a:solidFill>
                  <a:srgbClr val="475569"/>
                </a:solidFill>
                <a:latin typeface="Malgun Gothic"/>
              </a:rPr>
              <a:t>다단계 웹 태스크의 실패 요인 3개 — 동일 시나리오에서의 발생 기제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7807" y="300372"/>
            <a:ext cx="2379095" cy="1314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690" b="0">
                <a:solidFill>
                  <a:srgbClr val="64748B"/>
                </a:solidFill>
                <a:latin typeface="Malgun Gothic"/>
              </a:rPr>
              <a:t>설계 변수 ① 컨텍스트의 수명 · ② 계획의 소유권 (1/2 참조)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792" y="655303"/>
            <a:ext cx="11582110" cy="0"/>
          </a:xfrm>
          <a:prstGeom prst="line">
            <a:avLst/>
          </a:prstGeom>
          <a:ln w="11429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4792" y="761980"/>
            <a:ext cx="11582110" cy="807699"/>
          </a:xfrm>
          <a:prstGeom prst="roundRect">
            <a:avLst>
              <a:gd name="adj" fmla="val 9433"/>
            </a:avLst>
          </a:prstGeom>
          <a:solidFill>
            <a:srgbClr val="F8FAFC"/>
          </a:solidFill>
          <a:ln w="11429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188" y="852504"/>
            <a:ext cx="578343" cy="1257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1">
                <a:solidFill>
                  <a:srgbClr val="64748B"/>
                </a:solidFill>
                <a:latin typeface="Malgun Gothic"/>
              </a:rPr>
              <a:t>관통 시나리오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88" y="1037818"/>
            <a:ext cx="1451573" cy="17144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Malgun Gothic"/>
              </a:rPr>
              <a:t>"쿠팡에서 이 드라마 DVD를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88" y="1205453"/>
            <a:ext cx="1080107" cy="17144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Malgun Gothic"/>
              </a:rPr>
              <a:t>최저가로 주문해줘"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88" y="1392901"/>
            <a:ext cx="941046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64748B"/>
                </a:solidFill>
                <a:latin typeface="Malgun Gothic"/>
              </a:rPr>
              <a:t>3개 실패 요인의 공통 전제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725" y="853418"/>
            <a:ext cx="8793260" cy="624824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1429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71725" y="853418"/>
            <a:ext cx="8793260" cy="152396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71725" y="960095"/>
            <a:ext cx="8793260" cy="4571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2971725" y="1005814"/>
            <a:ext cx="8793260" cy="0"/>
          </a:xfrm>
          <a:prstGeom prst="line">
            <a:avLst/>
          </a:prstGeom>
          <a:ln w="762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040303" y="906757"/>
            <a:ext cx="45718" cy="45718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116502" y="906757"/>
            <a:ext cx="45718" cy="45718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261278" y="883897"/>
            <a:ext cx="1219169" cy="914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06997" y="900204"/>
            <a:ext cx="496811" cy="914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>
                <a:solidFill>
                  <a:srgbClr val="64748B"/>
                </a:solidFill>
                <a:latin typeface="Malgun Gothic"/>
              </a:rPr>
              <a:t>검색: 드라마 DVD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59030" y="900204"/>
            <a:ext cx="444996" cy="914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480" b="0">
                <a:solidFill>
                  <a:srgbClr val="94A3B8"/>
                </a:solidFill>
                <a:latin typeface="Malgun Gothic"/>
              </a:rPr>
              <a:t>검색 결과 12개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47923" y="1066773"/>
            <a:ext cx="2804089" cy="350511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108882" y="1127731"/>
            <a:ext cx="228594" cy="228594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398435" y="1135351"/>
            <a:ext cx="198115" cy="91437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76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23199" y="1151353"/>
            <a:ext cx="148586" cy="8572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50" b="1">
                <a:solidFill>
                  <a:srgbClr val="92400E"/>
                </a:solidFill>
                <a:latin typeface="Malgun Gothic"/>
              </a:rPr>
              <a:t>광고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42268" y="1133827"/>
            <a:ext cx="598155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334155"/>
                </a:solidFill>
                <a:latin typeface="Malgun Gothic"/>
              </a:rPr>
              <a:t>드라마 DVD 세트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98435" y="1266259"/>
            <a:ext cx="605584" cy="97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9" b="0">
                <a:solidFill>
                  <a:srgbClr val="94A3B8"/>
                </a:solidFill>
                <a:latin typeface="Malgun Gothic"/>
              </a:rPr>
              <a:t>1번째 · 최상단 노출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9573" y="1182594"/>
            <a:ext cx="531481" cy="17144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Malgun Gothic"/>
              </a:rPr>
              <a:t>₩19,900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28211" y="1066773"/>
            <a:ext cx="2804089" cy="350511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989170" y="1127731"/>
            <a:ext cx="228594" cy="228594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78723" y="1133827"/>
            <a:ext cx="598155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334155"/>
                </a:solidFill>
                <a:latin typeface="Malgun Gothic"/>
              </a:rPr>
              <a:t>드라마 DVD 세트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8723" y="1266259"/>
            <a:ext cx="204020" cy="97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9" b="0">
                <a:solidFill>
                  <a:srgbClr val="94A3B8"/>
                </a:solidFill>
                <a:latin typeface="Malgun Gothic"/>
              </a:rPr>
              <a:t>2번째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9861" y="1182594"/>
            <a:ext cx="531481" cy="17144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Malgun Gothic"/>
              </a:rPr>
              <a:t>₩15,500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08499" y="1066773"/>
            <a:ext cx="2895527" cy="350511"/>
          </a:xfrm>
          <a:prstGeom prst="roundRect">
            <a:avLst>
              <a:gd name="adj" fmla="val 10869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869458" y="1127731"/>
            <a:ext cx="228594" cy="228594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59011" y="1133827"/>
            <a:ext cx="598155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334155"/>
                </a:solidFill>
                <a:latin typeface="Malgun Gothic"/>
              </a:rPr>
              <a:t>드라마 DVD 세트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59011" y="1266259"/>
            <a:ext cx="605584" cy="97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9" b="1">
                <a:solidFill>
                  <a:srgbClr val="0D9488"/>
                </a:solidFill>
                <a:latin typeface="Malgun Gothic"/>
              </a:rPr>
              <a:t>3번째 · 실제 최저가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11587" y="1182594"/>
            <a:ext cx="531481" cy="17144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1">
                <a:solidFill>
                  <a:srgbClr val="0D9488"/>
                </a:solidFill>
                <a:latin typeface="Malgun Gothic"/>
              </a:rPr>
              <a:t>₩12,900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6709" y="1676358"/>
            <a:ext cx="3657508" cy="3703227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1429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26709" y="1676358"/>
            <a:ext cx="3657508" cy="213354"/>
          </a:xfrm>
          <a:prstGeom prst="roundRect">
            <a:avLst>
              <a:gd name="adj" fmla="val 35714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26709" y="1783035"/>
            <a:ext cx="3657508" cy="106677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26" y="1744021"/>
            <a:ext cx="1265650" cy="1257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1">
                <a:solidFill>
                  <a:srgbClr val="FFFFFF"/>
                </a:solidFill>
                <a:latin typeface="Malgun Gothic"/>
              </a:rPr>
              <a:t>설계 변수 ① — 컨텍스트의 수명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26" y="1967434"/>
            <a:ext cx="937236" cy="17144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Malgun Gothic"/>
              </a:rPr>
              <a:t>목표 통제력 저하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26" y="2136137"/>
            <a:ext cx="1392139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0">
                <a:solidFill>
                  <a:srgbClr val="64748B"/>
                </a:solidFill>
                <a:latin typeface="Malgun Gothic"/>
              </a:rPr>
              <a:t>관찰 적재에 따른 목표 신호 비중 축소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26" y="2301182"/>
            <a:ext cx="3413674" cy="1493482"/>
          </a:xfrm>
          <a:prstGeom prst="roundRect">
            <a:avLst>
              <a:gd name="adj" fmla="val 4081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63" y="2371741"/>
            <a:ext cx="1433286" cy="10858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70" b="1">
                <a:solidFill>
                  <a:srgbClr val="64748B"/>
                </a:solidFill>
                <a:latin typeface="Malgun Gothic"/>
              </a:rPr>
              <a:t>컨텍스트 구성비 (전체 = 매 스텝 LLM 입력)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63" y="2565742"/>
            <a:ext cx="236595" cy="1028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40" b="0">
                <a:solidFill>
                  <a:srgbClr val="64748B"/>
                </a:solidFill>
                <a:latin typeface="Malgun Gothic"/>
              </a:rPr>
              <a:t>스텝 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5335" y="2545016"/>
            <a:ext cx="472428" cy="121916"/>
          </a:xfrm>
          <a:prstGeom prst="rect">
            <a:avLst/>
          </a:prstGeom>
          <a:solidFill>
            <a:srgbClr val="FEF3C7"/>
          </a:solidFill>
          <a:ln w="76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32303" y="2580372"/>
            <a:ext cx="158492" cy="914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80" b="1">
                <a:solidFill>
                  <a:srgbClr val="92400E"/>
                </a:solidFill>
                <a:latin typeface="Malgun Gothic"/>
              </a:rPr>
              <a:t>목표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47763" y="2545016"/>
            <a:ext cx="2423099" cy="121916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253939" y="2580372"/>
            <a:ext cx="810747" cy="914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80" b="0">
                <a:solidFill>
                  <a:srgbClr val="64748B"/>
                </a:solidFill>
                <a:latin typeface="Malgun Gothic"/>
              </a:rPr>
              <a:t>관찰 1 (검색 결과 12개 DOM)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63" y="2794336"/>
            <a:ext cx="236595" cy="1028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40" b="0">
                <a:solidFill>
                  <a:srgbClr val="64748B"/>
                </a:solidFill>
                <a:latin typeface="Malgun Gothic"/>
              </a:rPr>
              <a:t>스텝 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5335" y="2773610"/>
            <a:ext cx="182875" cy="121916"/>
          </a:xfrm>
          <a:prstGeom prst="rect">
            <a:avLst/>
          </a:prstGeom>
          <a:solidFill>
            <a:srgbClr val="FEF3C7"/>
          </a:solidFill>
          <a:ln w="76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158211" y="2773610"/>
            <a:ext cx="899137" cy="121916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502626" y="2808966"/>
            <a:ext cx="210306" cy="914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80" b="0">
                <a:solidFill>
                  <a:srgbClr val="64748B"/>
                </a:solidFill>
                <a:latin typeface="Malgun Gothic"/>
              </a:rPr>
              <a:t>관찰 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57348" y="2773610"/>
            <a:ext cx="899137" cy="121916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401763" y="2808966"/>
            <a:ext cx="210306" cy="914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80" b="0">
                <a:solidFill>
                  <a:srgbClr val="64748B"/>
                </a:solidFill>
                <a:latin typeface="Malgun Gothic"/>
              </a:rPr>
              <a:t>관찰 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56486" y="2773610"/>
            <a:ext cx="914377" cy="121916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308521" y="2808966"/>
            <a:ext cx="210306" cy="914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80" b="0">
                <a:solidFill>
                  <a:srgbClr val="64748B"/>
                </a:solidFill>
                <a:latin typeface="Malgun Gothic"/>
              </a:rPr>
              <a:t>관찰 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63" y="3022930"/>
            <a:ext cx="236595" cy="1028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40" b="0">
                <a:solidFill>
                  <a:srgbClr val="64748B"/>
                </a:solidFill>
                <a:latin typeface="Malgun Gothic"/>
              </a:rPr>
              <a:t>스텝 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75335" y="3002204"/>
            <a:ext cx="91437" cy="121916"/>
          </a:xfrm>
          <a:prstGeom prst="rect">
            <a:avLst/>
          </a:prstGeom>
          <a:solidFill>
            <a:srgbClr val="FEF3C7"/>
          </a:solidFill>
          <a:ln w="76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66773" y="3002204"/>
            <a:ext cx="556246" cy="121916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623019" y="3002204"/>
            <a:ext cx="556246" cy="121916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2179265" y="3002204"/>
            <a:ext cx="556246" cy="121916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2735511" y="3002204"/>
            <a:ext cx="563865" cy="121916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3299377" y="3002204"/>
            <a:ext cx="571485" cy="121916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241747" y="3037560"/>
            <a:ext cx="454140" cy="914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80" b="0">
                <a:solidFill>
                  <a:srgbClr val="64748B"/>
                </a:solidFill>
                <a:latin typeface="Malgun Gothic"/>
              </a:rPr>
              <a:t>관찰 1 ~ 5 누적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021054" y="3154601"/>
            <a:ext cx="0" cy="76198"/>
          </a:xfrm>
          <a:prstGeom prst="line">
            <a:avLst/>
          </a:prstGeom>
          <a:ln w="9144">
            <a:solidFill>
              <a:srgbClr val="B4530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75335" y="3247410"/>
            <a:ext cx="1133446" cy="97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9" b="1">
                <a:solidFill>
                  <a:srgbClr val="B45309"/>
                </a:solidFill>
                <a:latin typeface="Malgun Gothic"/>
              </a:rPr>
              <a:t>목표 비중 극소 — 조건 "최저가" 희석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63" y="3472499"/>
            <a:ext cx="236595" cy="1028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40" b="0">
                <a:solidFill>
                  <a:srgbClr val="64748B"/>
                </a:solidFill>
                <a:latin typeface="Malgun Gothic"/>
              </a:rPr>
              <a:t>스텝 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75335" y="3451773"/>
            <a:ext cx="76198" cy="121916"/>
          </a:xfrm>
          <a:prstGeom prst="rect">
            <a:avLst/>
          </a:prstGeom>
          <a:solidFill>
            <a:srgbClr val="FEF3C7"/>
          </a:solidFill>
          <a:ln w="76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051533" y="3451773"/>
            <a:ext cx="838179" cy="121916"/>
          </a:xfrm>
          <a:prstGeom prst="rect">
            <a:avLst/>
          </a:prstGeom>
          <a:solidFill>
            <a:srgbClr val="E2E8F0"/>
          </a:solidFill>
          <a:ln w="762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243552" y="3487129"/>
            <a:ext cx="454140" cy="914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80" b="0" dirty="0" err="1">
                <a:solidFill>
                  <a:srgbClr val="475569"/>
                </a:solidFill>
                <a:latin typeface="Malgun Gothic"/>
              </a:rPr>
              <a:t>요약</a:t>
            </a:r>
            <a:r>
              <a:rPr sz="480" b="0" dirty="0">
                <a:solidFill>
                  <a:srgbClr val="475569"/>
                </a:solidFill>
                <a:latin typeface="Malgun Gothic"/>
              </a:rPr>
              <a:t> (</a:t>
            </a:r>
            <a:r>
              <a:rPr sz="480" b="0" dirty="0" err="1">
                <a:solidFill>
                  <a:srgbClr val="475569"/>
                </a:solidFill>
                <a:latin typeface="Malgun Gothic"/>
              </a:rPr>
              <a:t>관찰</a:t>
            </a:r>
            <a:r>
              <a:rPr sz="480" b="0" dirty="0">
                <a:solidFill>
                  <a:srgbClr val="475569"/>
                </a:solidFill>
                <a:latin typeface="Malgun Gothic"/>
              </a:rPr>
              <a:t> 1~6)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89712" y="3451773"/>
            <a:ext cx="990575" cy="121916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279847" y="3487129"/>
            <a:ext cx="210306" cy="914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80" b="0">
                <a:solidFill>
                  <a:srgbClr val="64748B"/>
                </a:solidFill>
                <a:latin typeface="Malgun Gothic"/>
              </a:rPr>
              <a:t>관찰 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880287" y="3451773"/>
            <a:ext cx="990575" cy="121916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270422" y="3487129"/>
            <a:ext cx="210306" cy="914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80" b="0">
                <a:solidFill>
                  <a:srgbClr val="64748B"/>
                </a:solidFill>
                <a:latin typeface="Malgun Gothic"/>
              </a:rPr>
              <a:t>관찰 8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470623" y="3588930"/>
            <a:ext cx="0" cy="76198"/>
          </a:xfrm>
          <a:prstGeom prst="line">
            <a:avLst/>
          </a:prstGeom>
          <a:ln w="9144">
            <a:solidFill>
              <a:srgbClr val="B4530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142971" y="3681739"/>
            <a:ext cx="1130208" cy="97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9" b="1">
                <a:solidFill>
                  <a:srgbClr val="B45309"/>
                </a:solidFill>
                <a:latin typeface="Malgun Gothic"/>
              </a:rPr>
              <a:t>요약 치환 — 근거 ₩12,900 유실 위험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48626" y="3901342"/>
            <a:ext cx="3413674" cy="0"/>
          </a:xfrm>
          <a:prstGeom prst="line">
            <a:avLst/>
          </a:prstGeom>
          <a:ln w="762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48626" y="3964891"/>
            <a:ext cx="392039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1">
                <a:solidFill>
                  <a:srgbClr val="334155"/>
                </a:solidFill>
                <a:latin typeface="Malgun Gothic"/>
              </a:rPr>
              <a:t>발생 기제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26" y="4105553"/>
            <a:ext cx="1741126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475569"/>
                </a:solidFill>
                <a:latin typeface="Malgun Gothic"/>
              </a:rPr>
              <a:t>· 스텝당 수천~수만 토큰 관찰 적재 → 목표 조건의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9584" y="4227470"/>
            <a:ext cx="1470623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475569"/>
                </a:solidFill>
                <a:latin typeface="Malgun Gothic"/>
              </a:rPr>
              <a:t>상대 비중 지속 축소 (목표 토큰 수는 불변)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26" y="4406840"/>
            <a:ext cx="208020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1">
                <a:solidFill>
                  <a:srgbClr val="334155"/>
                </a:solidFill>
                <a:latin typeface="Malgun Gothic"/>
              </a:rPr>
              <a:t>발현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26" y="4547502"/>
            <a:ext cx="1417284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475569"/>
                </a:solidFill>
                <a:latin typeface="Malgun Gothic"/>
              </a:rPr>
              <a:t>· 초기 — 조건 희석: 가격 비교 단계 생략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9584" y="4669419"/>
            <a:ext cx="1527771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64748B"/>
                </a:solidFill>
                <a:latin typeface="Malgun Gothic"/>
              </a:rPr>
              <a:t>→ 최상단 광고 ₩19,900 선택 · 형식상 완료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26" y="4806575"/>
            <a:ext cx="1543011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475569"/>
                </a:solidFill>
                <a:latin typeface="Malgun Gothic"/>
              </a:rPr>
              <a:t>· 후기 — 지시 준수율 저하: 10만+ 토큰 구간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9584" y="4928492"/>
            <a:ext cx="1196310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64748B"/>
                </a:solidFill>
                <a:latin typeface="Malgun Gothic"/>
              </a:rPr>
              <a:t>→ 동일 페이지 재방문 · 스텝 소진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267093" y="1676358"/>
            <a:ext cx="3657508" cy="3703227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1429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4267093" y="1676358"/>
            <a:ext cx="3657508" cy="213354"/>
          </a:xfrm>
          <a:prstGeom prst="roundRect">
            <a:avLst>
              <a:gd name="adj" fmla="val 35714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4267093" y="1783035"/>
            <a:ext cx="3657508" cy="106677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389010" y="1744021"/>
            <a:ext cx="1181832" cy="1257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1">
                <a:solidFill>
                  <a:srgbClr val="FFFFFF"/>
                </a:solidFill>
                <a:latin typeface="Malgun Gothic"/>
              </a:rPr>
              <a:t>설계 변수 ② — 계획의 소유권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89010" y="1967434"/>
            <a:ext cx="1382995" cy="17144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Malgun Gothic"/>
              </a:rPr>
              <a:t>완료 오판 · 계획 자기수정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89010" y="2136137"/>
            <a:ext cx="1200119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0">
                <a:solidFill>
                  <a:srgbClr val="64748B"/>
                </a:solidFill>
                <a:latin typeface="Malgun Gothic"/>
              </a:rPr>
              <a:t>작성 · 수행 · 판정 주체의 동일성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389010" y="2301182"/>
            <a:ext cx="3413674" cy="1493482"/>
          </a:xfrm>
          <a:prstGeom prst="roundRect">
            <a:avLst>
              <a:gd name="adj" fmla="val 4081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480447" y="2371741"/>
            <a:ext cx="1187166" cy="10858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70" b="1">
                <a:solidFill>
                  <a:srgbClr val="64748B"/>
                </a:solidFill>
                <a:latin typeface="Malgun Gothic"/>
              </a:rPr>
              <a:t>자기 판정 구조 — 독립 검증자 부재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571885" y="2514537"/>
            <a:ext cx="1371565" cy="45718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035932" y="2582810"/>
            <a:ext cx="443472" cy="13715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9" b="1">
                <a:solidFill>
                  <a:srgbClr val="0F172A"/>
                </a:solidFill>
                <a:latin typeface="Malgun Gothic"/>
              </a:rPr>
              <a:t>단일 LLM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648083" y="2727891"/>
            <a:ext cx="380990" cy="137156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759333" y="2770867"/>
            <a:ext cx="158492" cy="914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80" b="0">
                <a:solidFill>
                  <a:srgbClr val="475569"/>
                </a:solidFill>
                <a:latin typeface="Malgun Gothic"/>
              </a:rPr>
              <a:t>작성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067173" y="2727891"/>
            <a:ext cx="380990" cy="137156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78422" y="2770867"/>
            <a:ext cx="158492" cy="914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80" b="0">
                <a:solidFill>
                  <a:srgbClr val="475569"/>
                </a:solidFill>
                <a:latin typeface="Malgun Gothic"/>
              </a:rPr>
              <a:t>수행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486262" y="2727891"/>
            <a:ext cx="380990" cy="137156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597512" y="2770867"/>
            <a:ext cx="158492" cy="914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80" b="0">
                <a:solidFill>
                  <a:srgbClr val="475569"/>
                </a:solidFill>
                <a:latin typeface="Malgun Gothic"/>
              </a:rPr>
              <a:t>판정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5943451" y="2651693"/>
            <a:ext cx="243834" cy="0"/>
          </a:xfrm>
          <a:prstGeom prst="line">
            <a:avLst/>
          </a:prstGeom>
          <a:ln w="11429">
            <a:solidFill>
              <a:srgbClr val="B4530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6187285" y="2651693"/>
            <a:ext cx="0" cy="548626"/>
          </a:xfrm>
          <a:prstGeom prst="line">
            <a:avLst/>
          </a:prstGeom>
          <a:ln w="11429">
            <a:solidFill>
              <a:srgbClr val="B4530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>
            <a:off x="6095847" y="3200319"/>
            <a:ext cx="91438" cy="0"/>
          </a:xfrm>
          <a:prstGeom prst="line">
            <a:avLst/>
          </a:prstGeom>
          <a:ln w="11429">
            <a:solidFill>
              <a:srgbClr val="B4530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248243" y="2820701"/>
            <a:ext cx="372418" cy="97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9" b="1">
                <a:solidFill>
                  <a:srgbClr val="B45309"/>
                </a:solidFill>
                <a:latin typeface="Malgun Gothic"/>
              </a:rPr>
              <a:t>판정 근거 =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48243" y="2912138"/>
            <a:ext cx="531100" cy="97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9" b="1">
                <a:solidFill>
                  <a:srgbClr val="B45309"/>
                </a:solidFill>
                <a:latin typeface="Malgun Gothic"/>
              </a:rPr>
              <a:t>자신의 직전 출력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248243" y="3007081"/>
            <a:ext cx="518147" cy="914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>
                <a:solidFill>
                  <a:srgbClr val="A16207"/>
                </a:solidFill>
                <a:latin typeface="Malgun Gothic"/>
              </a:rPr>
              <a:t>(자기일관성 편향)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5257668" y="2971725"/>
            <a:ext cx="0" cy="121917"/>
          </a:xfrm>
          <a:prstGeom prst="line">
            <a:avLst/>
          </a:prstGeom>
          <a:ln w="11429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5333866" y="3007081"/>
            <a:ext cx="335271" cy="914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>
                <a:solidFill>
                  <a:srgbClr val="64748B"/>
                </a:solidFill>
                <a:latin typeface="Malgun Gothic"/>
              </a:rPr>
              <a:t>생성 · 수정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571885" y="3124121"/>
            <a:ext cx="1523961" cy="579105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 w="11429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648083" y="3182946"/>
            <a:ext cx="829797" cy="1028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40" b="1">
                <a:solidFill>
                  <a:srgbClr val="475569"/>
                </a:solidFill>
                <a:latin typeface="Malgun Gothic"/>
              </a:rPr>
              <a:t>계획 (컨텍스트 내 텍스트)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63323" y="3312483"/>
            <a:ext cx="109725" cy="1028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40" b="0">
                <a:solidFill>
                  <a:srgbClr val="0D9488"/>
                </a:solidFill>
                <a:latin typeface="Malgun Gothic"/>
              </a:rPr>
              <a:t>☑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770000" y="3312483"/>
            <a:ext cx="178303" cy="1028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40" b="0">
                <a:solidFill>
                  <a:srgbClr val="475569"/>
                </a:solidFill>
                <a:latin typeface="Malgun Gothic"/>
              </a:rPr>
              <a:t>검색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663323" y="3442020"/>
            <a:ext cx="109725" cy="1028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40" b="0">
                <a:solidFill>
                  <a:srgbClr val="0D9488"/>
                </a:solidFill>
                <a:latin typeface="Malgun Gothic"/>
              </a:rPr>
              <a:t>☑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770000" y="3442020"/>
            <a:ext cx="336033" cy="1028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40" b="1">
                <a:solidFill>
                  <a:srgbClr val="0F172A"/>
                </a:solidFill>
                <a:latin typeface="Malgun Gothic"/>
              </a:rPr>
              <a:t>가격 비교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288147" y="3436534"/>
            <a:ext cx="761980" cy="91437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76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407683" y="3452535"/>
            <a:ext cx="522909" cy="8572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50" b="1">
                <a:solidFill>
                  <a:srgbClr val="92400E"/>
                </a:solidFill>
                <a:latin typeface="Malgun Gothic"/>
              </a:rPr>
              <a:t>12개 중 3개만 확인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663323" y="3571557"/>
            <a:ext cx="109725" cy="1028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40" b="0">
                <a:solidFill>
                  <a:srgbClr val="94A3B8"/>
                </a:solidFill>
                <a:latin typeface="Malgun Gothic"/>
              </a:rPr>
              <a:t>☐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770000" y="3571557"/>
            <a:ext cx="377180" cy="1028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40" b="0">
                <a:solidFill>
                  <a:srgbClr val="94A3B8"/>
                </a:solidFill>
                <a:latin typeface="Malgun Gothic"/>
              </a:rPr>
              <a:t>담기 · 결제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4389010" y="3901342"/>
            <a:ext cx="3413674" cy="0"/>
          </a:xfrm>
          <a:prstGeom prst="line">
            <a:avLst/>
          </a:prstGeom>
          <a:ln w="762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4389010" y="3964891"/>
            <a:ext cx="392039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1">
                <a:solidFill>
                  <a:srgbClr val="334155"/>
                </a:solidFill>
                <a:latin typeface="Malgun Gothic"/>
              </a:rPr>
              <a:t>발생 기제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389010" y="4105553"/>
            <a:ext cx="1710647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475569"/>
                </a:solidFill>
                <a:latin typeface="Malgun Gothic"/>
              </a:rPr>
              <a:t>· 계획 작성 · 수행 · 완료 판정이 단일 LLM에 집중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449968" y="4227470"/>
            <a:ext cx="723881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64748B"/>
                </a:solidFill>
                <a:latin typeface="Malgun Gothic"/>
              </a:rPr>
              <a:t>→ 독립 검증자 부재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389010" y="4349387"/>
            <a:ext cx="1085822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475569"/>
                </a:solidFill>
                <a:latin typeface="Malgun Gothic"/>
              </a:rPr>
              <a:t>· 판정 근거 = 자신의 직전 출력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449968" y="4471304"/>
            <a:ext cx="1577300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64748B"/>
                </a:solidFill>
                <a:latin typeface="Malgun Gothic"/>
              </a:rPr>
              <a:t>→ 자기일관성 편향: 자기 선언의 무비판 수용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389010" y="4593221"/>
            <a:ext cx="1546821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475569"/>
                </a:solidFill>
                <a:latin typeface="Malgun Gothic"/>
              </a:rPr>
              <a:t>· 완료 기준이 자연어 서술 → 검증 술어 부재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449968" y="4715138"/>
            <a:ext cx="1630639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64748B"/>
                </a:solidFill>
                <a:latin typeface="Malgun Gothic"/>
              </a:rPr>
              <a:t>→ "가격 비교"의 대상 범위 미규정 · 해석 자유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389010" y="4837055"/>
            <a:ext cx="1623019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475569"/>
                </a:solidFill>
                <a:latin typeface="Malgun Gothic"/>
              </a:rPr>
              <a:t>· 계획도 동일 컨텍스트 내 텍스트 → 수정 자유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449968" y="4958972"/>
            <a:ext cx="1409664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64748B"/>
                </a:solidFill>
                <a:latin typeface="Malgun Gothic"/>
              </a:rPr>
              <a:t>→ "품절 다수" 사유로 최저가 조건 하향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8107477" y="1676358"/>
            <a:ext cx="3657508" cy="3703227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1429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8107477" y="1676358"/>
            <a:ext cx="3657508" cy="213354"/>
          </a:xfrm>
          <a:prstGeom prst="roundRect">
            <a:avLst>
              <a:gd name="adj" fmla="val 35714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8107477" y="1783035"/>
            <a:ext cx="3657508" cy="106677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8229394" y="1744021"/>
            <a:ext cx="1181832" cy="1257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1">
                <a:solidFill>
                  <a:srgbClr val="FFFFFF"/>
                </a:solidFill>
                <a:latin typeface="Malgun Gothic"/>
              </a:rPr>
              <a:t>설계 변수 ② — 계획의 소유권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229394" y="1967434"/>
            <a:ext cx="851513" cy="17144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Malgun Gothic"/>
              </a:rPr>
              <a:t>계획-현실 괴리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229394" y="2136137"/>
            <a:ext cx="1024102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0">
                <a:solidFill>
                  <a:srgbClr val="64748B"/>
                </a:solidFill>
                <a:latin typeface="Malgun Gothic"/>
              </a:rPr>
              <a:t>사전 수립 계획의 가정 붕괴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8229394" y="2301182"/>
            <a:ext cx="3413674" cy="1493482"/>
          </a:xfrm>
          <a:prstGeom prst="roundRect">
            <a:avLst>
              <a:gd name="adj" fmla="val 4081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8320831" y="2371741"/>
            <a:ext cx="1125636" cy="10858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70" b="1">
                <a:solidFill>
                  <a:srgbClr val="64748B"/>
                </a:solidFill>
                <a:latin typeface="Malgun Gothic"/>
              </a:rPr>
              <a:t>사전 계획 (수립 시점 = 관찰 이전)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320831" y="2514537"/>
            <a:ext cx="609584" cy="22859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762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536472" y="2596221"/>
            <a:ext cx="178303" cy="1028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540" b="0">
                <a:solidFill>
                  <a:srgbClr val="334155"/>
                </a:solidFill>
                <a:latin typeface="Malgun Gothic"/>
              </a:rPr>
              <a:t>검색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8930416" y="2628834"/>
            <a:ext cx="106678" cy="0"/>
          </a:xfrm>
          <a:prstGeom prst="line">
            <a:avLst/>
          </a:prstGeom>
          <a:ln w="11429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ounded Rectangle 144"/>
          <p:cNvSpPr/>
          <p:nvPr/>
        </p:nvSpPr>
        <p:spPr>
          <a:xfrm>
            <a:off x="9067573" y="2514537"/>
            <a:ext cx="1066773" cy="22859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9206634" y="2596221"/>
            <a:ext cx="788650" cy="1028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540" b="0">
                <a:solidFill>
                  <a:srgbClr val="334155"/>
                </a:solidFill>
                <a:latin typeface="Malgun Gothic"/>
              </a:rPr>
              <a:t>검색 결과에서 가격 수집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10134346" y="2628834"/>
            <a:ext cx="106677" cy="0"/>
          </a:xfrm>
          <a:prstGeom prst="line">
            <a:avLst/>
          </a:prstGeom>
          <a:ln w="11429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ounded Rectangle 147"/>
          <p:cNvSpPr/>
          <p:nvPr/>
        </p:nvSpPr>
        <p:spPr>
          <a:xfrm>
            <a:off x="10271503" y="2514537"/>
            <a:ext cx="548626" cy="228594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10456664" y="2596221"/>
            <a:ext cx="178303" cy="1028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540" b="0">
                <a:solidFill>
                  <a:srgbClr val="94A3B8"/>
                </a:solidFill>
                <a:latin typeface="Malgun Gothic"/>
              </a:rPr>
              <a:t>비교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10820129" y="2628834"/>
            <a:ext cx="106677" cy="0"/>
          </a:xfrm>
          <a:prstGeom prst="line">
            <a:avLst/>
          </a:prstGeom>
          <a:ln w="11429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ounded Rectangle 150"/>
          <p:cNvSpPr/>
          <p:nvPr/>
        </p:nvSpPr>
        <p:spPr>
          <a:xfrm>
            <a:off x="10957286" y="2514537"/>
            <a:ext cx="548626" cy="228594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11142447" y="2596221"/>
            <a:ext cx="178303" cy="1028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540" b="0">
                <a:solidFill>
                  <a:srgbClr val="94A3B8"/>
                </a:solidFill>
                <a:latin typeface="Malgun Gothic"/>
              </a:rPr>
              <a:t>담기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388367" y="2786716"/>
            <a:ext cx="425185" cy="1028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540" b="1">
                <a:solidFill>
                  <a:srgbClr val="DC2626"/>
                </a:solidFill>
                <a:latin typeface="Malgun Gothic"/>
              </a:rPr>
              <a:t>✗ 단계 무효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730025" y="2790221"/>
            <a:ext cx="317365" cy="97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509" b="0">
                <a:solidFill>
                  <a:srgbClr val="94A3B8"/>
                </a:solidFill>
                <a:latin typeface="Malgun Gothic"/>
              </a:rPr>
              <a:t>연쇄 무효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8320831" y="2941246"/>
            <a:ext cx="3230800" cy="0"/>
          </a:xfrm>
          <a:prstGeom prst="line">
            <a:avLst/>
          </a:prstGeom>
          <a:ln w="762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8320831" y="3011805"/>
            <a:ext cx="593583" cy="10858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70" b="1">
                <a:solidFill>
                  <a:srgbClr val="64748B"/>
                </a:solidFill>
                <a:latin typeface="Malgun Gothic"/>
              </a:rPr>
              <a:t>실제 페이지 구조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320831" y="3154601"/>
            <a:ext cx="1295367" cy="502907"/>
          </a:xfrm>
          <a:prstGeom prst="roundRect">
            <a:avLst>
              <a:gd name="adj" fmla="val 7575"/>
            </a:avLst>
          </a:prstGeom>
          <a:solidFill>
            <a:srgbClr val="FFFFFF"/>
          </a:solidFill>
          <a:ln w="11429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8397030" y="3213426"/>
            <a:ext cx="562341" cy="1028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40" b="1">
                <a:solidFill>
                  <a:srgbClr val="334155"/>
                </a:solidFill>
                <a:latin typeface="Malgun Gothic"/>
              </a:rPr>
              <a:t>검색 결과 페이지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8397030" y="3329856"/>
            <a:ext cx="1142971" cy="114297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8442748" y="3361097"/>
            <a:ext cx="448616" cy="8572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50" b="0">
                <a:solidFill>
                  <a:srgbClr val="64748B"/>
                </a:solidFill>
                <a:latin typeface="Malgun Gothic"/>
              </a:rPr>
              <a:t>드라마 DVD 세트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8397030" y="3467013"/>
            <a:ext cx="1142971" cy="114297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8442748" y="3498254"/>
            <a:ext cx="448616" cy="8572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50" b="0">
                <a:solidFill>
                  <a:srgbClr val="64748B"/>
                </a:solidFill>
                <a:latin typeface="Malgun Gothic"/>
              </a:rPr>
              <a:t>드라마 DVD 세트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968515" y="3361097"/>
            <a:ext cx="280027" cy="8572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50" b="1">
                <a:solidFill>
                  <a:srgbClr val="DC2626"/>
                </a:solidFill>
                <a:latin typeface="Malgun Gothic"/>
              </a:rPr>
              <a:t>가격 없음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968515" y="3498254"/>
            <a:ext cx="280027" cy="8572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50" b="1">
                <a:solidFill>
                  <a:srgbClr val="DC2626"/>
                </a:solidFill>
                <a:latin typeface="Malgun Gothic"/>
              </a:rPr>
              <a:t>가격 없음</a:t>
            </a:r>
          </a:p>
        </p:txBody>
      </p:sp>
      <p:cxnSp>
        <p:nvCxnSpPr>
          <p:cNvPr id="165" name="Connector 164"/>
          <p:cNvCxnSpPr/>
          <p:nvPr/>
        </p:nvCxnSpPr>
        <p:spPr>
          <a:xfrm>
            <a:off x="9616199" y="3406054"/>
            <a:ext cx="259074" cy="0"/>
          </a:xfrm>
          <a:prstGeom prst="line">
            <a:avLst/>
          </a:prstGeom>
          <a:ln w="11429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9671443" y="3307759"/>
            <a:ext cx="148586" cy="8572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50" b="0">
                <a:solidFill>
                  <a:srgbClr val="64748B"/>
                </a:solidFill>
                <a:latin typeface="Malgun Gothic"/>
              </a:rPr>
              <a:t>진입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9905752" y="3154601"/>
            <a:ext cx="1295367" cy="502907"/>
          </a:xfrm>
          <a:prstGeom prst="roundRect">
            <a:avLst>
              <a:gd name="adj" fmla="val 7575"/>
            </a:avLst>
          </a:prstGeom>
          <a:solidFill>
            <a:srgbClr val="FFFFFF"/>
          </a:solidFill>
          <a:ln w="11429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9981950" y="3213426"/>
            <a:ext cx="562341" cy="1028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40" b="1">
                <a:solidFill>
                  <a:srgbClr val="334155"/>
                </a:solidFill>
                <a:latin typeface="Malgun Gothic"/>
              </a:rPr>
              <a:t>상품 상세 페이지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9981950" y="3329856"/>
            <a:ext cx="1142971" cy="251453"/>
          </a:xfrm>
          <a:prstGeom prst="roundRect">
            <a:avLst>
              <a:gd name="adj" fmla="val 9090"/>
            </a:avLst>
          </a:prstGeom>
          <a:solidFill>
            <a:srgbClr val="F0FDFA"/>
          </a:solidFill>
          <a:ln w="762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0058148" y="3412760"/>
            <a:ext cx="389753" cy="12572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1">
                <a:solidFill>
                  <a:srgbClr val="0D9488"/>
                </a:solidFill>
                <a:latin typeface="Malgun Gothic"/>
              </a:rPr>
              <a:t>₩12,900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629634" y="3437296"/>
            <a:ext cx="451473" cy="8572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50" b="0">
                <a:solidFill>
                  <a:srgbClr val="0D9488"/>
                </a:solidFill>
                <a:latin typeface="Malgun Gothic"/>
              </a:rPr>
              <a:t>가격은 여기에만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8229394" y="3901342"/>
            <a:ext cx="3413674" cy="0"/>
          </a:xfrm>
          <a:prstGeom prst="line">
            <a:avLst/>
          </a:prstGeom>
          <a:ln w="762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8229394" y="3964891"/>
            <a:ext cx="392039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1">
                <a:solidFill>
                  <a:srgbClr val="334155"/>
                </a:solidFill>
                <a:latin typeface="Malgun Gothic"/>
              </a:rPr>
              <a:t>발생 기제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229394" y="4105553"/>
            <a:ext cx="1009624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475569"/>
                </a:solidFill>
                <a:latin typeface="Malgun Gothic"/>
              </a:rPr>
              <a:t>· 계획 수립 시점 = 관찰 이전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290352" y="4227470"/>
            <a:ext cx="1379185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64748B"/>
                </a:solidFill>
                <a:latin typeface="Malgun Gothic"/>
              </a:rPr>
              <a:t>→ 사이트 구조를 가정에 기반해 단계화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229394" y="4349387"/>
            <a:ext cx="1603969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475569"/>
                </a:solidFill>
                <a:latin typeface="Malgun Gothic"/>
              </a:rPr>
              <a:t>· 웹 환경: 팝업 · 동적 로딩 · 개인화 · A/B 노출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290352" y="4471304"/>
            <a:ext cx="899137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64748B"/>
                </a:solidFill>
                <a:latin typeface="Malgun Gothic"/>
              </a:rPr>
              <a:t>→ 사전 예측 가능성 제한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229394" y="4650674"/>
            <a:ext cx="208020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0" b="1">
                <a:solidFill>
                  <a:srgbClr val="334155"/>
                </a:solidFill>
                <a:latin typeface="Malgun Gothic"/>
              </a:rPr>
              <a:t>발현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8229394" y="4791336"/>
            <a:ext cx="1470623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475569"/>
                </a:solidFill>
                <a:latin typeface="Malgun Gothic"/>
              </a:rPr>
              <a:t>· 가정 붕괴 단계 이후 잔여 계획 연쇄 무효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229394" y="4928492"/>
            <a:ext cx="1417284" cy="11429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475569"/>
                </a:solidFill>
                <a:latin typeface="Malgun Gothic"/>
              </a:rPr>
              <a:t>· 재계획 경로 부재 시 공회전 · 스텝 소진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304792" y="5486262"/>
            <a:ext cx="11582110" cy="350511"/>
          </a:xfrm>
          <a:prstGeom prst="roundRect">
            <a:avLst>
              <a:gd name="adj" fmla="val 21739"/>
            </a:avLst>
          </a:prstGeom>
          <a:solidFill>
            <a:srgbClr val="FFFBEB"/>
          </a:solidFill>
          <a:ln w="11429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3338238" y="5540515"/>
            <a:ext cx="5515218" cy="1600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40" b="1">
                <a:solidFill>
                  <a:srgbClr val="92400E"/>
                </a:solidFill>
                <a:latin typeface="Malgun Gothic"/>
              </a:rPr>
              <a:t>세 실패 요인을 모두 차단하는 극단은 없음 — 확률적 완화 vs 구조적 보장의 트레이드오프 → 후보안 비교 (다음 장)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773715" y="5702208"/>
            <a:ext cx="2644264" cy="1200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30" b="0">
                <a:solidFill>
                  <a:srgbClr val="A16207"/>
                </a:solidFill>
                <a:latin typeface="Malgun Gothic"/>
              </a:rPr>
              <a:t>선행 실측: 장기 컨텍스트 계획 준수율 · 태스크 분포 · LLM 왕복 시간 (§7)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04792" y="6623595"/>
            <a:ext cx="1715600" cy="10858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70" b="0">
                <a:solidFill>
                  <a:srgbClr val="94A3B8"/>
                </a:solidFill>
                <a:latin typeface="Malgun Gothic"/>
              </a:rPr>
              <a:t>Tizen TV AI Web Agent — ADS · DP-C8 배경장 (2/2)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1564775" y="6623595"/>
            <a:ext cx="322127" cy="10858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570" b="0">
                <a:solidFill>
                  <a:srgbClr val="94A3B8"/>
                </a:solidFill>
                <a:latin typeface="Malgun Gothic"/>
              </a:rPr>
              <a:t>2026-07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1062</Words>
  <Application>Microsoft Office PowerPoint</Application>
  <PresentationFormat>와이드스크린</PresentationFormat>
  <Paragraphs>166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Sunwoo Nam</cp:lastModifiedBy>
  <cp:revision>1</cp:revision>
  <dcterms:created xsi:type="dcterms:W3CDTF">2013-01-27T09:14:16Z</dcterms:created>
  <dcterms:modified xsi:type="dcterms:W3CDTF">2026-07-18T13:29:33Z</dcterms:modified>
  <cp:category/>
</cp:coreProperties>
</file>
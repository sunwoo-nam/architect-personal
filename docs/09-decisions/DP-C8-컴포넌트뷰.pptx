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1160000" cy="36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 b="1">
                <a:solidFill>
                  <a:srgbClr val="000000"/>
                </a:solidFill>
                <a:latin typeface="Malgun Gothic"/>
              </a:rPr>
              <a:t>DP-C8 — 루프 구조 · 컴포넌트 뷰 : A′ 단일 루프  vs  B Planner-Executor  (동일 역할 = 동일 위치)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5400000" cy="3600000"/>
          </a:xfrm>
          <a:prstGeom prst="rect">
            <a:avLst/>
          </a:prstGeom>
          <a:noFill/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8800" rIns="18000" tIns="14400" bIns="7200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Malgun Gothic"/>
              </a:rPr>
              <a:t>후보 A′ — 단일 루프 (계획 = 조언)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044000" cy="162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목표 (진입)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32000"/>
            <a:ext cx="1044000" cy="19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컴팩터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692000"/>
            <a:ext cx="1044000" cy="113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8800" rIns="18000" tIns="14400" bIns="7200">
            <a:no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Malgun Gothic"/>
              </a:rPr>
              <a:t>누적 컨텍스트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1872000"/>
            <a:ext cx="864000" cy="1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목표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" y="2106000"/>
            <a:ext cx="864000" cy="1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Malgun Gothic"/>
              </a:rPr>
              <a:t>계획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" y="2340000"/>
            <a:ext cx="864000" cy="1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" y="2574000"/>
            <a:ext cx="864000" cy="1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Malgun Gothic"/>
              </a:rPr>
              <a:t>관찰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000" y="1835999"/>
            <a:ext cx="1188000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Context Builder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8000" y="2340000"/>
            <a:ext cx="1188000" cy="2880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Malgun Gothic"/>
              </a:rPr>
              <a:t>LLM 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000" y="2808000"/>
            <a:ext cx="1188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Action Executor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8000" y="3258000"/>
            <a:ext cx="1188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Perception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8000" y="3708000"/>
            <a:ext cx="1188000" cy="251999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Browser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6000" y="2286000"/>
            <a:ext cx="900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루프 컨트롤러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6000" y="2862000"/>
            <a:ext cx="900000" cy="1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종료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84000" y="1125000"/>
            <a:ext cx="90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74000" y="1125000"/>
            <a:ext cx="0" cy="682199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584000" y="1807199"/>
            <a:ext cx="90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91000" y="1278000"/>
            <a:ext cx="0" cy="10080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375200" y="1278000"/>
            <a:ext cx="40158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75200" y="1278000"/>
            <a:ext cx="0" cy="540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7999" y="1530000"/>
            <a:ext cx="0" cy="1620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84000" y="1431000"/>
            <a:ext cx="954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38000" y="1431000"/>
            <a:ext cx="0" cy="9810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38000" y="2412000"/>
            <a:ext cx="90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21999" y="3528000"/>
            <a:ext cx="0" cy="180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340000" y="3393000"/>
            <a:ext cx="28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40000" y="2664000"/>
            <a:ext cx="0" cy="729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494000" y="2664000"/>
            <a:ext cx="846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584000" y="1899000"/>
            <a:ext cx="1044000" cy="45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21999" y="1962000"/>
            <a:ext cx="0" cy="378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728000" y="2570400"/>
            <a:ext cx="900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28000" y="2196000"/>
            <a:ext cx="0" cy="3744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494000" y="2196000"/>
            <a:ext cx="234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21999" y="2628000"/>
            <a:ext cx="0" cy="180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16000" y="2943000"/>
            <a:ext cx="28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04000" y="2943000"/>
            <a:ext cx="0" cy="728999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61999" y="3671999"/>
            <a:ext cx="342001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61999" y="3671999"/>
            <a:ext cx="0" cy="36001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816000" y="2448000"/>
            <a:ext cx="900000" cy="3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248000" y="2529000"/>
            <a:ext cx="46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48000" y="2529000"/>
            <a:ext cx="0" cy="864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816000" y="3393000"/>
            <a:ext cx="432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66000" y="2610000"/>
            <a:ext cx="0" cy="25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28000" y="1144800"/>
            <a:ext cx="568673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목표 기록 (1회)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3" y="1152000"/>
            <a:ext cx="1281592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임계 초과 시 컴팩션 트리거 (조건부)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00" y="1573200"/>
            <a:ext cx="785980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과거 관찰→요약 치환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5999" y="1512000"/>
            <a:ext cx="553424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요약 LLM 호출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1257" y="1699200"/>
            <a:ext cx="633484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③ 전체 컨텍스트</a:t>
            </a:r>
          </a:p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(매 스텝)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76000" y="2052000"/>
            <a:ext cx="633484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④ 컨텍스트 주입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0000" y="2160000"/>
            <a:ext cx="656359" cy="3287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⑤ 계획 작성·수정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· 완료표시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(같은 LLM 소유)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6000" y="2678400"/>
            <a:ext cx="48098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⑥ 행동 결정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58000" y="3438000"/>
            <a:ext cx="930852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⑦ 행동 실행 (click/type)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64507" y="2232000"/>
            <a:ext cx="602985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완료·계속 판정</a:t>
            </a:r>
          </a:p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· 토큰 임계 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2000" y="3078000"/>
            <a:ext cx="656359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계속 → 다음 스텝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(① 관찰부터)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20000" y="2692800"/>
            <a:ext cx="656359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완료 시 결과 반환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76000" y="3538800"/>
            <a:ext cx="48098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① 관찰 수집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21505" y="2718000"/>
            <a:ext cx="480988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② 관찰 적재</a:t>
            </a:r>
          </a:p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(누적)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8000" y="4103999"/>
            <a:ext cx="2379246" cy="1417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50" b="0" i="1">
                <a:solidFill>
                  <a:srgbClr val="000000"/>
                </a:solidFill>
                <a:latin typeface="Malgun Gothic"/>
              </a:rPr>
              <a:t>↻ 단일 루프 — ①~⑦ 태스크 완료까지 반복 (매 스텝 관찰부터)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999" y="792000"/>
            <a:ext cx="5400000" cy="3600000"/>
          </a:xfrm>
          <a:prstGeom prst="rect">
            <a:avLst/>
          </a:prstGeom>
          <a:noFill/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8800" rIns="18000" tIns="14400" bIns="7200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Malgun Gothic"/>
              </a:rPr>
              <a:t>후보 B — Planner-Executor (계획 = 제어 흐름)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62000" y="1710000"/>
            <a:ext cx="1368000" cy="1872000"/>
          </a:xfrm>
          <a:prstGeom prst="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8800" rIns="18000" tIns="14400" bIns="7200">
            <a:no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Malgun Gothic"/>
              </a:rPr>
              <a:t>Step Executor — 단계 격리 루프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999" y="1044000"/>
            <a:ext cx="1044000" cy="162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목표 (진입)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999" y="1278000"/>
            <a:ext cx="1044000" cy="2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Malgun Gothic"/>
              </a:rPr>
              <a:t>Planner</a:t>
            </a:r>
          </a:p>
        </p:txBody>
      </p:sp>
      <p:sp>
        <p:nvSpPr>
          <p:cNvPr id="66" name="Can 65"/>
          <p:cNvSpPr/>
          <p:nvPr/>
        </p:nvSpPr>
        <p:spPr>
          <a:xfrm>
            <a:off x="6263999" y="1764000"/>
            <a:ext cx="1044000" cy="486000"/>
          </a:xfrm>
          <a:prstGeom prst="can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Malgun Gothic"/>
              </a:rPr>
              <a:t>봉인된 계획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52000" y="1835999"/>
            <a:ext cx="1188000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Context Builder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52000" y="2088000"/>
            <a:ext cx="1188000" cy="12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Malgun Gothic"/>
              </a:rPr>
              <a:t>단계 컨텍스트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2000" y="2340000"/>
            <a:ext cx="1188000" cy="2880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Malgun Gothic"/>
              </a:rPr>
              <a:t>LLM interface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52000" y="2808000"/>
            <a:ext cx="1188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Action Executor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52000" y="3258000"/>
            <a:ext cx="1188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Perception pipeline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52000" y="3708000"/>
            <a:ext cx="1188000" cy="251999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algun Gothic"/>
              </a:rPr>
              <a:t>Browser Session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40000" y="2286000"/>
            <a:ext cx="900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Malgun Gothic"/>
              </a:rPr>
              <a:t>단계 오케스트레이터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40000" y="2862000"/>
            <a:ext cx="900000" cy="1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8800" rIns="18000" tIns="14400" bIns="7200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Malgun Gothic"/>
              </a:rPr>
              <a:t>종료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85999" y="1206000"/>
            <a:ext cx="0" cy="7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629400" y="1494000"/>
            <a:ext cx="0" cy="270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942600" y="1674000"/>
            <a:ext cx="0" cy="90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942600" y="1674000"/>
            <a:ext cx="40374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980000" y="1674000"/>
            <a:ext cx="0" cy="61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340000" y="2350800"/>
            <a:ext cx="144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484000" y="1008000"/>
            <a:ext cx="0" cy="13428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7362000" y="1008000"/>
            <a:ext cx="4122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362000" y="1008000"/>
            <a:ext cx="0" cy="3996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307999" y="1407600"/>
            <a:ext cx="54001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307999" y="1450800"/>
            <a:ext cx="828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35999" y="1450800"/>
            <a:ext cx="0" cy="10332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5999" y="2484000"/>
            <a:ext cx="216001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080000" y="2383200"/>
            <a:ext cx="360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080000" y="1899000"/>
            <a:ext cx="0" cy="4842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9540000" y="1899000"/>
            <a:ext cx="540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946000" y="3528000"/>
            <a:ext cx="0" cy="180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8308799" y="3393000"/>
            <a:ext cx="43201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308799" y="1911600"/>
            <a:ext cx="0" cy="14814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308799" y="1911600"/>
            <a:ext cx="43201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32000" y="1962000"/>
            <a:ext cx="0" cy="12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32000" y="2214000"/>
            <a:ext cx="0" cy="12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946000" y="2628000"/>
            <a:ext cx="0" cy="180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540000" y="2943000"/>
            <a:ext cx="287999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827999" y="2943000"/>
            <a:ext cx="0" cy="728999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9486000" y="3671999"/>
            <a:ext cx="341999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86000" y="3671999"/>
            <a:ext cx="0" cy="36001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40000" y="2484000"/>
            <a:ext cx="900000" cy="45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836000" y="2610000"/>
            <a:ext cx="0" cy="25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452000" y="1162800"/>
            <a:ext cx="1197720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① 목표 위임 (관찰 前 · 계획 먼저)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7999" y="1519200"/>
            <a:ext cx="755481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② 단계 열 생성·봉인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61575" y="1562400"/>
            <a:ext cx="105284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③ 다음 단계 읽기 (읽기 전용)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86047" y="882000"/>
            <a:ext cx="1315904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⑫ 재계획 (실패 K회 · 불일치, 조건부)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82942" y="1890000"/>
            <a:ext cx="458114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계획·재계획</a:t>
            </a:r>
          </a:p>
          <a:p>
            <a:pPr algn="ctr"/>
            <a:r>
              <a:rPr sz="600" b="0" i="0">
                <a:solidFill>
                  <a:srgbClr val="000000"/>
                </a:solidFill>
                <a:latin typeface="Malgun Gothic"/>
              </a:rPr>
              <a:t>LLM 호출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6000" y="1965600"/>
            <a:ext cx="755481" cy="3287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④ 단계 지시 +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계획 요약(목표 포함)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+ 이전 단계 결과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0000" y="3596400"/>
            <a:ext cx="48098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⑤ 관찰 수집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60000" y="2700000"/>
            <a:ext cx="656359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⑥ 현 단계 관찰만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86000" y="1976400"/>
            <a:ext cx="30561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⑦ 조립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86000" y="2228400"/>
            <a:ext cx="808855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⑧ 격리 컨텍스트 주입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00000" y="2678400"/>
            <a:ext cx="480988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⑨ 행동 결정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82000" y="3384000"/>
            <a:ext cx="930852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⑩ 행동 실행 (click/type)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계속 시 → ⑤ 재관찰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94000" y="2646000"/>
            <a:ext cx="1148158" cy="23119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⑪ 단계 완료/실패/불일치 보고</a:t>
            </a:r>
          </a:p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(LLM 판단) · 단계 컨텍스트 폐기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890000" y="2692800"/>
            <a:ext cx="656359" cy="13359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Malgun Gothic"/>
              </a:rPr>
              <a:t>완료 시 결과 반환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52000" y="4103999"/>
            <a:ext cx="2333815" cy="1417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650" b="0" i="1">
                <a:solidFill>
                  <a:srgbClr val="000000"/>
                </a:solidFill>
                <a:latin typeface="Malgun Gothic"/>
              </a:rPr>
              <a:t>↻ 미니 루프 ⑤~⑩ (단계 내, 관찰부터) · 단계 진행 ③~⑪ 반복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
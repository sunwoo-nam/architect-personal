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604" y="1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7F7F7F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61D4-4955-9A7E-8BD4C3764BD6}"/>
              </c:ext>
            </c:extLst>
          </c:dPt>
          <c:dPt>
            <c:idx val="1"/>
            <c:invertIfNegative val="1"/>
            <c:bubble3D val="0"/>
            <c:spPr>
              <a:solidFill>
                <a:srgbClr val="1F3864"/>
              </a:solidFill>
            </c:spPr>
            <c:extLst>
              <c:ext xmlns:c16="http://schemas.microsoft.com/office/drawing/2014/chart" uri="{C3380CC4-5D6E-409C-BE32-E72D297353CC}">
                <c16:uniqueId val="{00000003-61D4-4955-9A7E-8BD4C3764BD6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1F3864"/>
                    </a:solidFill>
                    <a:latin typeface="맑은 고딕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2025</c:v>
                </c:pt>
                <c:pt idx="1">
                  <c:v>2030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7.84</c:v>
                </c:pt>
                <c:pt idx="1">
                  <c:v>52.62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61D4-4955-9A7E-8BD4C3764BD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BBBBBB"/>
            </a:solidFill>
          </a:ln>
        </c:spPr>
        <c:txPr>
          <a:bodyPr/>
          <a:lstStyle/>
          <a:p>
            <a:pPr>
              <a:defRPr sz="900"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7F7F7F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D37C-46BB-B8DA-F2A14EB1E5F8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D37C-46BB-B8DA-F2A14EB1E5F8}"/>
              </c:ext>
            </c:extLst>
          </c:dPt>
          <c:dPt>
            <c:idx val="2"/>
            <c:invertIfNegative val="1"/>
            <c:bubble3D val="0"/>
            <c:spPr>
              <a:solidFill>
                <a:srgbClr val="2E5BA8"/>
              </a:solidFill>
            </c:spPr>
            <c:extLst>
              <c:ext xmlns:c16="http://schemas.microsoft.com/office/drawing/2014/chart" uri="{C3380CC4-5D6E-409C-BE32-E72D297353CC}">
                <c16:uniqueId val="{00000005-D37C-46BB-B8DA-F2A14EB1E5F8}"/>
              </c:ext>
            </c:extLst>
          </c:dPt>
          <c:dPt>
            <c:idx val="3"/>
            <c:invertIfNegative val="1"/>
            <c:bubble3D val="0"/>
            <c:spPr>
              <a:solidFill>
                <a:srgbClr val="2E5BA8"/>
              </a:solidFill>
            </c:spPr>
            <c:extLst>
              <c:ext xmlns:c16="http://schemas.microsoft.com/office/drawing/2014/chart" uri="{C3380CC4-5D6E-409C-BE32-E72D297353CC}">
                <c16:uniqueId val="{00000007-D37C-46BB-B8DA-F2A14EB1E5F8}"/>
              </c:ext>
            </c:extLst>
          </c:dPt>
          <c:dPt>
            <c:idx val="4"/>
            <c:invertIfNegative val="1"/>
            <c:bubble3D val="0"/>
            <c:spPr>
              <a:solidFill>
                <a:srgbClr val="1E9E5A"/>
              </a:solidFill>
            </c:spPr>
            <c:extLst>
              <c:ext xmlns:c16="http://schemas.microsoft.com/office/drawing/2014/chart" uri="{C3380CC4-5D6E-409C-BE32-E72D297353CC}">
                <c16:uniqueId val="{00000009-D37C-46BB-B8DA-F2A14EB1E5F8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202020"/>
                    </a:solidFill>
                    <a:latin typeface="맑은 고딕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Mariner</c:v>
                </c:pt>
                <c:pt idx="1">
                  <c:v>OpenAI CUA</c:v>
                </c:pt>
                <c:pt idx="2">
                  <c:v>Browser Use</c:v>
                </c:pt>
                <c:pt idx="3">
                  <c:v>Magnitude</c:v>
                </c:pt>
                <c:pt idx="4">
                  <c:v>Surfer 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83.5</c:v>
                </c:pt>
                <c:pt idx="1">
                  <c:v>87</c:v>
                </c:pt>
                <c:pt idx="2">
                  <c:v>89.1</c:v>
                </c:pt>
                <c:pt idx="3">
                  <c:v>93.9</c:v>
                </c:pt>
                <c:pt idx="4">
                  <c:v>97.1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A-D37C-46BB-B8DA-F2A14EB1E5F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solidFill>
              <a:srgbClr val="BBBBBB"/>
            </a:solidFill>
          </a:ln>
        </c:spPr>
        <c:txPr>
          <a:bodyPr/>
          <a:lstStyle/>
          <a:p>
            <a:pPr>
              <a:defRPr sz="900"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777240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02020"/>
                </a:solidFill>
                <a:latin typeface="맑은 고딕"/>
                <a:ea typeface="맑은 고딕"/>
              </a:rPr>
              <a:t>과제 배경</a:t>
            </a:r>
            <a:r>
              <a:rPr sz="2200" b="1" i="0">
                <a:solidFill>
                  <a:srgbClr val="7F7F7F"/>
                </a:solidFill>
                <a:latin typeface="맑은 고딕"/>
                <a:ea typeface="맑은 고딕"/>
              </a:rPr>
              <a:t>  |  </a:t>
            </a:r>
            <a:r>
              <a:rPr sz="2200" b="1" i="0">
                <a:solidFill>
                  <a:srgbClr val="595959"/>
                </a:solidFill>
                <a:latin typeface="맑은 고딕"/>
                <a:ea typeface="맑은 고딕"/>
              </a:rPr>
              <a:t>TV 웹 브라우저, 왜 외면받는가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84280" cy="4064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entagon 3"/>
          <p:cNvSpPr/>
          <p:nvPr/>
        </p:nvSpPr>
        <p:spPr>
          <a:xfrm>
            <a:off x="7244791" y="274320"/>
            <a:ext cx="1024128" cy="310896"/>
          </a:xfrm>
          <a:prstGeom prst="homePlate">
            <a:avLst>
              <a:gd name="adj" fmla="val 50000"/>
            </a:avLst>
          </a:prstGeom>
          <a:solidFill>
            <a:srgbClr val="4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" tIns="0" rIns="127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과제 소개</a:t>
            </a:r>
          </a:p>
        </p:txBody>
      </p:sp>
      <p:sp>
        <p:nvSpPr>
          <p:cNvPr id="5" name="Chevron 4"/>
          <p:cNvSpPr/>
          <p:nvPr/>
        </p:nvSpPr>
        <p:spPr>
          <a:xfrm>
            <a:off x="8122615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" tIns="0" rIns="127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요구사항 분석</a:t>
            </a:r>
          </a:p>
        </p:txBody>
      </p:sp>
      <p:sp>
        <p:nvSpPr>
          <p:cNvPr id="6" name="Chevron 5"/>
          <p:cNvSpPr/>
          <p:nvPr/>
        </p:nvSpPr>
        <p:spPr>
          <a:xfrm>
            <a:off x="9000439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" tIns="0" rIns="127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설계</a:t>
            </a:r>
          </a:p>
        </p:txBody>
      </p:sp>
      <p:sp>
        <p:nvSpPr>
          <p:cNvPr id="7" name="Chevron 6"/>
          <p:cNvSpPr/>
          <p:nvPr/>
        </p:nvSpPr>
        <p:spPr>
          <a:xfrm>
            <a:off x="9878263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" tIns="0" rIns="127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구현 및 검증</a:t>
            </a:r>
          </a:p>
        </p:txBody>
      </p:sp>
      <p:sp>
        <p:nvSpPr>
          <p:cNvPr id="8" name="Chevron 7"/>
          <p:cNvSpPr/>
          <p:nvPr/>
        </p:nvSpPr>
        <p:spPr>
          <a:xfrm>
            <a:off x="10756087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" tIns="0" rIns="127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결론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389888"/>
            <a:ext cx="5559552" cy="1993392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15875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1560" y="1207008"/>
            <a:ext cx="4279392" cy="420624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리모컨 입력의 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1773936"/>
            <a:ext cx="2971800" cy="15544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190500" indent="-1905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75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250" b="1" i="0">
                <a:solidFill>
                  <a:srgbClr val="202020"/>
                </a:solidFill>
                <a:latin typeface="맑은 고딕"/>
                <a:ea typeface="맑은 고딕"/>
              </a:rPr>
              <a:t>리모컨 포인팅의 비효율</a:t>
            </a:r>
          </a:p>
          <a:p>
            <a:pPr marL="355600" indent="-1651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50" b="0" i="0">
                <a:solidFill>
                  <a:srgbClr val="202020"/>
                </a:solidFill>
                <a:latin typeface="맑은 고딕"/>
                <a:ea typeface="맑은 고딕"/>
              </a:rPr>
              <a:t>커서 탐색 느림 · </a:t>
            </a:r>
            <a:r>
              <a:rPr sz="1050" b="1" i="0">
                <a:solidFill>
                  <a:srgbClr val="C0322B"/>
                </a:solidFill>
                <a:latin typeface="맑은 고딕"/>
                <a:ea typeface="맑은 고딕"/>
              </a:rPr>
              <a:t>91% UI 불만족</a:t>
            </a:r>
          </a:p>
          <a:p>
            <a:pPr marL="190500" indent="-1905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75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250" b="1" i="0">
                <a:solidFill>
                  <a:srgbClr val="202020"/>
                </a:solidFill>
                <a:latin typeface="맑은 고딕"/>
                <a:ea typeface="맑은 고딕"/>
              </a:rPr>
              <a:t>텍스트 입력 = 최대 장벽</a:t>
            </a:r>
          </a:p>
          <a:p>
            <a:pPr marL="355600" indent="-1651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50" b="0" i="0">
                <a:solidFill>
                  <a:srgbClr val="202020"/>
                </a:solidFill>
                <a:latin typeface="맑은 고딕"/>
                <a:ea typeface="맑은 고딕"/>
              </a:rPr>
              <a:t>가상 키보드 </a:t>
            </a:r>
            <a:r>
              <a:rPr sz="1050" b="1" i="0">
                <a:solidFill>
                  <a:srgbClr val="202020"/>
                </a:solidFill>
                <a:highlight>
                  <a:srgbClr val="C6EFCE"/>
                </a:highlight>
                <a:latin typeface="맑은 고딕"/>
                <a:ea typeface="맑은 고딕"/>
              </a:rPr>
              <a:t>~5 WPM</a:t>
            </a:r>
            <a:r>
              <a:rPr sz="1050" b="0" i="0">
                <a:solidFill>
                  <a:srgbClr val="202020"/>
                </a:solidFill>
                <a:latin typeface="맑은 고딕"/>
                <a:ea typeface="맑은 고딕"/>
              </a:rPr>
              <a:t> → 검색·로그인 봉쇄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13048" y="1920240"/>
            <a:ext cx="1737360" cy="182880"/>
          </a:xfrm>
          <a:prstGeom prst="rect">
            <a:avLst/>
          </a:prstGeom>
          <a:solidFill>
            <a:srgbClr val="EFF1F4"/>
          </a:solidFill>
          <a:ln w="9525">
            <a:solidFill>
              <a:srgbClr val="C8C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67912" y="1920240"/>
            <a:ext cx="1645920" cy="1828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00" b="0" i="0">
                <a:solidFill>
                  <a:srgbClr val="7F7F7F"/>
                </a:solidFill>
                <a:latin typeface="맑은 고딕"/>
                <a:ea typeface="맑은 고딕"/>
              </a:rPr>
              <a:t>검색어 입력…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13048" y="2176272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13048" y="2165300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Q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68496" y="2176272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68496" y="2165300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23944" y="2176272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23944" y="2165300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9392" y="2176272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79392" y="2165300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2176272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34840" y="2165300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90288" y="2176272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90288" y="2165300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45736" y="2176272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45736" y="2165300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01184" y="2176272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01184" y="2165300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56632" y="2176272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56632" y="2165300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12080" y="2176272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12080" y="2165300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77056" y="2345436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877056" y="2334464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32504" y="2345436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032504" y="2334464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87952" y="2345436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187952" y="2334464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2345436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43400" y="2334464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F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98848" y="2345436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DBEAFB"/>
          </a:solidFill>
          <a:ln w="17780">
            <a:solidFill>
              <a:srgbClr val="2E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498848" y="2334464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1" i="0">
                <a:solidFill>
                  <a:srgbClr val="2E5BA8"/>
                </a:solidFill>
                <a:latin typeface="맑은 고딕"/>
                <a:ea typeface="맑은 고딕"/>
              </a:rPr>
              <a:t>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54296" y="2345436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654296" y="2334464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809744" y="2345436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809744" y="2334464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J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65192" y="2345436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965192" y="2334464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120640" y="2345436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120640" y="2334464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941064" y="2514600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941064" y="2503628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Z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096512" y="2514600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096512" y="2503628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X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51960" y="2514600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251960" y="2503628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C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407408" y="2514600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407408" y="2503628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V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62856" y="2514600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562856" y="2503628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B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718304" y="2514600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718304" y="2503628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873752" y="2514600"/>
            <a:ext cx="137160" cy="150876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5080">
            <a:solidFill>
              <a:srgbClr val="D5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873752" y="2503628"/>
            <a:ext cx="137160" cy="15087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</a:rPr>
              <a:t>M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330952" y="2176272"/>
            <a:ext cx="274320" cy="566928"/>
          </a:xfrm>
          <a:prstGeom prst="roundRect">
            <a:avLst>
              <a:gd name="adj" fmla="val 35000"/>
            </a:avLst>
          </a:prstGeom>
          <a:solidFill>
            <a:srgbClr val="3C4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5376672" y="2249424"/>
            <a:ext cx="182880" cy="182880"/>
          </a:xfrm>
          <a:prstGeom prst="ellipse">
            <a:avLst/>
          </a:prstGeom>
          <a:solidFill>
            <a:srgbClr val="9A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6199632" y="1389888"/>
            <a:ext cx="5577840" cy="1993392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15875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6839712" y="1207008"/>
            <a:ext cx="4297680" cy="420624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콘텐츠 부적합 · 인지 과부하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37376" y="1773936"/>
            <a:ext cx="2971800" cy="15544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190500" indent="-1905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75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250" b="1" i="0">
                <a:solidFill>
                  <a:srgbClr val="202020"/>
                </a:solidFill>
                <a:latin typeface="맑은 고딕"/>
                <a:ea typeface="맑은 고딕"/>
              </a:rPr>
              <a:t>웹 콘텐츠 호환성 부재</a:t>
            </a:r>
          </a:p>
          <a:p>
            <a:pPr marL="355600" indent="-1651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50" b="0" i="0">
                <a:solidFill>
                  <a:srgbClr val="202020"/>
                </a:solidFill>
                <a:latin typeface="맑은 고딕"/>
                <a:ea typeface="맑은 고딕"/>
              </a:rPr>
              <a:t>대부분 </a:t>
            </a:r>
            <a:r>
              <a:rPr sz="1050" b="1" i="0">
                <a:solidFill>
                  <a:srgbClr val="202020"/>
                </a:solidFill>
                <a:highlight>
                  <a:srgbClr val="C6EFCE"/>
                </a:highlight>
                <a:latin typeface="맑은 고딕"/>
                <a:ea typeface="맑은 고딕"/>
              </a:rPr>
              <a:t>PC·모바일 최적화</a:t>
            </a:r>
            <a:r>
              <a:rPr sz="1050" b="0" i="0">
                <a:solidFill>
                  <a:srgbClr val="202020"/>
                </a:solidFill>
                <a:latin typeface="맑은 고딕"/>
                <a:ea typeface="맑은 고딕"/>
              </a:rPr>
              <a:t> → 10-feet UI 부적합</a:t>
            </a:r>
          </a:p>
          <a:p>
            <a:pPr marL="190500" indent="-1905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75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250" b="1" i="0">
                <a:solidFill>
                  <a:srgbClr val="202020"/>
                </a:solidFill>
                <a:latin typeface="맑은 고딕"/>
                <a:ea typeface="맑은 고딕"/>
              </a:rPr>
              <a:t>인지 과부하 (Overload)</a:t>
            </a:r>
          </a:p>
          <a:p>
            <a:pPr marL="355600" indent="-1651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50" b="0" i="0">
                <a:solidFill>
                  <a:srgbClr val="202020"/>
                </a:solidFill>
                <a:latin typeface="맑은 고딕"/>
                <a:ea typeface="맑은 고딕"/>
              </a:rPr>
              <a:t>정보·링크 과밀 → </a:t>
            </a:r>
            <a:r>
              <a:rPr sz="1050" b="1" i="0">
                <a:solidFill>
                  <a:srgbClr val="202020"/>
                </a:solidFill>
                <a:highlight>
                  <a:srgbClr val="C6EFCE"/>
                </a:highlight>
                <a:latin typeface="맑은 고딕"/>
                <a:ea typeface="맑은 고딕"/>
              </a:rPr>
              <a:t>고령층</a:t>
            </a:r>
            <a:r>
              <a:rPr sz="1050" b="0" i="0">
                <a:solidFill>
                  <a:srgbClr val="202020"/>
                </a:solidFill>
                <a:latin typeface="맑은 고딕"/>
                <a:ea typeface="맑은 고딕"/>
              </a:rPr>
              <a:t> 조작 곤란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509760" y="1865376"/>
            <a:ext cx="19202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9601200" y="1938528"/>
            <a:ext cx="1737360" cy="100584"/>
          </a:xfrm>
          <a:prstGeom prst="rect">
            <a:avLst/>
          </a:prstGeom>
          <a:solidFill>
            <a:srgbClr val="33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619488" y="2112264"/>
            <a:ext cx="868680" cy="41148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9619488" y="2217420"/>
            <a:ext cx="1051560" cy="41148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619488" y="2322576"/>
            <a:ext cx="1051560" cy="41148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619488" y="2427732"/>
            <a:ext cx="868680" cy="41148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9619488" y="2532888"/>
            <a:ext cx="1051560" cy="41148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9619488" y="2638044"/>
            <a:ext cx="1051560" cy="41148"/>
          </a:xfrm>
          <a:prstGeom prst="rect">
            <a:avLst/>
          </a:prstGeom>
          <a:solidFill>
            <a:srgbClr val="CFD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0789920" y="2139696"/>
            <a:ext cx="530352" cy="219456"/>
          </a:xfrm>
          <a:prstGeom prst="rect">
            <a:avLst/>
          </a:prstGeom>
          <a:solidFill>
            <a:srgbClr val="E6E9EE"/>
          </a:solidFill>
          <a:ln w="6350">
            <a:solidFill>
              <a:srgbClr val="CF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0789920" y="2414016"/>
            <a:ext cx="530352" cy="219456"/>
          </a:xfrm>
          <a:prstGeom prst="rect">
            <a:avLst/>
          </a:prstGeom>
          <a:solidFill>
            <a:srgbClr val="E6E9EE"/>
          </a:solidFill>
          <a:ln w="6350">
            <a:solidFill>
              <a:srgbClr val="CF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0789920" y="2688336"/>
            <a:ext cx="530352" cy="219456"/>
          </a:xfrm>
          <a:prstGeom prst="rect">
            <a:avLst/>
          </a:prstGeom>
          <a:solidFill>
            <a:srgbClr val="E6E9EE"/>
          </a:solidFill>
          <a:ln w="6350">
            <a:solidFill>
              <a:srgbClr val="CF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10424160" y="2596896"/>
            <a:ext cx="347472" cy="347472"/>
          </a:xfrm>
          <a:prstGeom prst="ellipse">
            <a:avLst/>
          </a:prstGeom>
          <a:noFill/>
          <a:ln w="28575">
            <a:solidFill>
              <a:srgbClr val="C03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 rot="2700000">
            <a:off x="10716768" y="2916936"/>
            <a:ext cx="164592" cy="45720"/>
          </a:xfrm>
          <a:prstGeom prst="rect">
            <a:avLst/>
          </a:prstGeom>
          <a:solidFill>
            <a:srgbClr val="C03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411480" y="3730752"/>
            <a:ext cx="5559552" cy="1993392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15875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1051560" y="3547872"/>
            <a:ext cx="4279392" cy="420624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공용 기기 · 프라이버시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9224" y="4114800"/>
            <a:ext cx="2971800" cy="15544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190500" indent="-1905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75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250" b="1" i="0">
                <a:solidFill>
                  <a:srgbClr val="202020"/>
                </a:solidFill>
                <a:latin typeface="맑은 고딕"/>
                <a:ea typeface="맑은 고딕"/>
              </a:rPr>
              <a:t>거실 공용 기기 특성</a:t>
            </a:r>
          </a:p>
          <a:p>
            <a:pPr marL="355600" indent="-1651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50" b="0" i="0">
                <a:solidFill>
                  <a:srgbClr val="202020"/>
                </a:solidFill>
                <a:latin typeface="맑은 고딕"/>
                <a:ea typeface="맑은 고딕"/>
              </a:rPr>
              <a:t>가족 공유 → </a:t>
            </a:r>
            <a:r>
              <a:rPr sz="1050" b="1" i="0">
                <a:solidFill>
                  <a:srgbClr val="202020"/>
                </a:solidFill>
                <a:highlight>
                  <a:srgbClr val="C6EFCE"/>
                </a:highlight>
                <a:latin typeface="맑은 고딕"/>
                <a:ea typeface="맑은 고딕"/>
              </a:rPr>
              <a:t>개인 로그인 꺼림</a:t>
            </a:r>
          </a:p>
          <a:p>
            <a:pPr marL="190500" indent="-1905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75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250" b="1" i="0">
                <a:solidFill>
                  <a:srgbClr val="202020"/>
                </a:solidFill>
                <a:latin typeface="맑은 고딕"/>
                <a:ea typeface="맑은 고딕"/>
              </a:rPr>
              <a:t>민감정보 입력 회피</a:t>
            </a:r>
          </a:p>
          <a:p>
            <a:pPr marL="355600" indent="-1651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50" b="0" i="0">
                <a:solidFill>
                  <a:srgbClr val="202020"/>
                </a:solidFill>
                <a:latin typeface="맑은 고딕"/>
                <a:ea typeface="맑은 고딕"/>
              </a:rPr>
              <a:t>계정·결제·주소 입력을 </a:t>
            </a:r>
            <a:r>
              <a:rPr sz="1050" b="1" i="0">
                <a:solidFill>
                  <a:srgbClr val="C0322B"/>
                </a:solidFill>
                <a:latin typeface="맑은 고딕"/>
                <a:ea typeface="맑은 고딕"/>
              </a:rPr>
              <a:t>행동 자체 회피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950208" y="4261104"/>
            <a:ext cx="1463040" cy="850392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4014216" y="4315968"/>
            <a:ext cx="1335024" cy="722376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4462272" y="5129784"/>
            <a:ext cx="438912" cy="4572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4178808" y="4443984"/>
            <a:ext cx="182880" cy="182880"/>
          </a:xfrm>
          <a:prstGeom prst="ellipse">
            <a:avLst/>
          </a:prstGeom>
          <a:solidFill>
            <a:srgbClr val="4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4142232" y="4645152"/>
            <a:ext cx="256032" cy="164592"/>
          </a:xfrm>
          <a:prstGeom prst="roundRect">
            <a:avLst>
              <a:gd name="adj" fmla="val 50000"/>
            </a:avLst>
          </a:prstGeom>
          <a:solidFill>
            <a:srgbClr val="4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4636008" y="4443984"/>
            <a:ext cx="182880" cy="182880"/>
          </a:xfrm>
          <a:prstGeom prst="ellipse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ounded Rectangle 92"/>
          <p:cNvSpPr/>
          <p:nvPr/>
        </p:nvSpPr>
        <p:spPr>
          <a:xfrm>
            <a:off x="4599432" y="4645152"/>
            <a:ext cx="256032" cy="164592"/>
          </a:xfrm>
          <a:prstGeom prst="roundRect">
            <a:avLst>
              <a:gd name="adj" fmla="val 50000"/>
            </a:avLst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5093208" y="4443984"/>
            <a:ext cx="182880" cy="182880"/>
          </a:xfrm>
          <a:prstGeom prst="ellipse">
            <a:avLst/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5056632" y="4645152"/>
            <a:ext cx="256032" cy="164592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5239512" y="4261104"/>
            <a:ext cx="146304" cy="146304"/>
          </a:xfrm>
          <a:prstGeom prst="ellipse">
            <a:avLst/>
          </a:prstGeom>
          <a:noFill/>
          <a:ln w="31750">
            <a:solidFill>
              <a:srgbClr val="C03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5184648" y="4352544"/>
            <a:ext cx="256032" cy="201168"/>
          </a:xfrm>
          <a:prstGeom prst="roundRect">
            <a:avLst>
              <a:gd name="adj" fmla="val 20000"/>
            </a:avLst>
          </a:prstGeom>
          <a:solidFill>
            <a:srgbClr val="C03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5285232" y="440740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6199632" y="3730752"/>
            <a:ext cx="5577840" cy="1993392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15875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ounded Rectangle 99"/>
          <p:cNvSpPr/>
          <p:nvPr/>
        </p:nvSpPr>
        <p:spPr>
          <a:xfrm>
            <a:off x="6839712" y="3547872"/>
            <a:ext cx="4297680" cy="420624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디바이스 성능 한계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437376" y="4114800"/>
            <a:ext cx="2971800" cy="15544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marL="190500" indent="-1905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75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250" b="1" i="0">
                <a:solidFill>
                  <a:srgbClr val="202020"/>
                </a:solidFill>
                <a:latin typeface="맑은 고딕"/>
                <a:ea typeface="맑은 고딕"/>
              </a:rPr>
              <a:t>저사양 SoC · 제한 메모리</a:t>
            </a:r>
          </a:p>
          <a:p>
            <a:pPr marL="355600" indent="-1651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50" b="0" i="0">
                <a:solidFill>
                  <a:srgbClr val="202020"/>
                </a:solidFill>
                <a:latin typeface="맑은 고딕"/>
                <a:ea typeface="맑은 고딕"/>
              </a:rPr>
              <a:t>무거운 현대 웹 </a:t>
            </a:r>
            <a:r>
              <a:rPr sz="1050" b="1" i="0">
                <a:solidFill>
                  <a:srgbClr val="202020"/>
                </a:solidFill>
                <a:highlight>
                  <a:srgbClr val="C6EFCE"/>
                </a:highlight>
                <a:latin typeface="맑은 고딕"/>
                <a:ea typeface="맑은 고딕"/>
              </a:rPr>
              <a:t>렌더링 버벅임</a:t>
            </a:r>
          </a:p>
          <a:p>
            <a:pPr marL="190500" indent="-1905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75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250" b="1" i="0">
                <a:solidFill>
                  <a:srgbClr val="202020"/>
                </a:solidFill>
                <a:latin typeface="맑은 고딕"/>
                <a:ea typeface="맑은 고딕"/>
              </a:rPr>
              <a:t>체감 품질 저하</a:t>
            </a:r>
          </a:p>
          <a:p>
            <a:pPr marL="355600" indent="-1651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50" b="0" i="0">
                <a:solidFill>
                  <a:srgbClr val="202020"/>
                </a:solidFill>
                <a:latin typeface="맑은 고딕"/>
                <a:ea typeface="맑은 고딕"/>
              </a:rPr>
              <a:t>로딩 지연·스크롤 끊김 → </a:t>
            </a:r>
            <a:r>
              <a:rPr sz="1050" b="1" i="0">
                <a:solidFill>
                  <a:srgbClr val="C0322B"/>
                </a:solidFill>
                <a:latin typeface="맑은 고딕"/>
                <a:ea typeface="맑은 고딕"/>
              </a:rPr>
              <a:t>이탈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619488" y="4462272"/>
            <a:ext cx="603504" cy="603504"/>
          </a:xfrm>
          <a:prstGeom prst="roundRect">
            <a:avLst>
              <a:gd name="adj" fmla="val 8000"/>
            </a:avLst>
          </a:prstGeom>
          <a:solidFill>
            <a:srgbClr val="3C4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9729216" y="4389120"/>
            <a:ext cx="45720" cy="91440"/>
          </a:xfrm>
          <a:prstGeom prst="rect">
            <a:avLst/>
          </a:prstGeom>
          <a:solidFill>
            <a:srgbClr val="9A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9729216" y="5047488"/>
            <a:ext cx="45720" cy="91440"/>
          </a:xfrm>
          <a:prstGeom prst="rect">
            <a:avLst/>
          </a:prstGeom>
          <a:solidFill>
            <a:srgbClr val="9A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9866376" y="4389120"/>
            <a:ext cx="45720" cy="91440"/>
          </a:xfrm>
          <a:prstGeom prst="rect">
            <a:avLst/>
          </a:prstGeom>
          <a:solidFill>
            <a:srgbClr val="9A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9866376" y="5047488"/>
            <a:ext cx="45720" cy="91440"/>
          </a:xfrm>
          <a:prstGeom prst="rect">
            <a:avLst/>
          </a:prstGeom>
          <a:solidFill>
            <a:srgbClr val="9A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10003536" y="4389120"/>
            <a:ext cx="45720" cy="91440"/>
          </a:xfrm>
          <a:prstGeom prst="rect">
            <a:avLst/>
          </a:prstGeom>
          <a:solidFill>
            <a:srgbClr val="9A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10003536" y="5047488"/>
            <a:ext cx="45720" cy="91440"/>
          </a:xfrm>
          <a:prstGeom prst="rect">
            <a:avLst/>
          </a:prstGeom>
          <a:solidFill>
            <a:srgbClr val="9A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10140696" y="4389120"/>
            <a:ext cx="45720" cy="91440"/>
          </a:xfrm>
          <a:prstGeom prst="rect">
            <a:avLst/>
          </a:prstGeom>
          <a:solidFill>
            <a:srgbClr val="9A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10140696" y="5047488"/>
            <a:ext cx="45720" cy="91440"/>
          </a:xfrm>
          <a:prstGeom prst="rect">
            <a:avLst/>
          </a:prstGeom>
          <a:solidFill>
            <a:srgbClr val="9AA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9619488" y="4462272"/>
            <a:ext cx="603504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SoC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378440" y="4443984"/>
            <a:ext cx="914400" cy="14630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595959"/>
                </a:solidFill>
                <a:latin typeface="맑은 고딕"/>
                <a:ea typeface="맑은 고딕"/>
              </a:rPr>
              <a:t>필요 리소스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0378440" y="4590288"/>
            <a:ext cx="914400" cy="118872"/>
          </a:xfrm>
          <a:prstGeom prst="roundRect">
            <a:avLst>
              <a:gd name="adj" fmla="val 45000"/>
            </a:avLst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10378440" y="4736592"/>
            <a:ext cx="914400" cy="14630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595959"/>
                </a:solidFill>
                <a:latin typeface="맑은 고딕"/>
                <a:ea typeface="맑은 고딕"/>
              </a:rPr>
              <a:t>실제 처리량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10378440" y="4882896"/>
            <a:ext cx="384048" cy="118872"/>
          </a:xfrm>
          <a:prstGeom prst="roundRect">
            <a:avLst>
              <a:gd name="adj" fmla="val 45000"/>
            </a:avLst>
          </a:prstGeom>
          <a:solidFill>
            <a:srgbClr val="C03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10378440" y="5029200"/>
            <a:ext cx="914400" cy="1645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C0322B"/>
                </a:solidFill>
                <a:latin typeface="맑은 고딕"/>
                <a:ea typeface="맑은 고딕"/>
              </a:rPr>
              <a:t>버벅임 · 지연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411480" y="5907024"/>
            <a:ext cx="11384280" cy="475488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40080" y="5907024"/>
            <a:ext cx="10972800" cy="47548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FA9C4"/>
                </a:solidFill>
                <a:latin typeface="맑은 고딕"/>
                <a:ea typeface="맑은 고딕"/>
              </a:rPr>
              <a:t>결론  </a:t>
            </a: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</a:rPr>
              <a:t>리모컨·콘텐츠·공용·저사양이라는 </a:t>
            </a:r>
            <a:r>
              <a:rPr sz="1250" b="1" i="0">
                <a:solidFill>
                  <a:srgbClr val="4FA9C4"/>
                </a:solidFill>
                <a:latin typeface="맑은 고딕"/>
                <a:ea typeface="맑은 고딕"/>
              </a:rPr>
              <a:t>TV 고유의 4대 제약</a:t>
            </a: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</a:rPr>
              <a:t> — UI 재배치가 아니라 </a:t>
            </a:r>
            <a:r>
              <a:rPr sz="1250" b="1" i="0">
                <a:solidFill>
                  <a:srgbClr val="4FA9C4"/>
                </a:solidFill>
                <a:latin typeface="맑은 고딕"/>
                <a:ea typeface="맑은 고딕"/>
              </a:rPr>
              <a:t>인터랙션 패러다임 전환</a:t>
            </a: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</a:rPr>
              <a:t>이 필요하다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1480" y="6565392"/>
            <a:ext cx="1133856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F7F7F"/>
                </a:solidFill>
                <a:latin typeface="맑은 고딕"/>
                <a:ea typeface="맑은 고딕"/>
              </a:rPr>
              <a:t>출처: Khan et al., "Smart TV User Interfaces" (2022) — UI 불만족률 91%. 가상 키보드 입력 속도·디바이스 성능은 내부 추정(공개 벤치마크 부재).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777240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02020"/>
                </a:solidFill>
                <a:latin typeface="맑은 고딕"/>
                <a:ea typeface="맑은 고딕"/>
              </a:rPr>
              <a:t>과제 배경</a:t>
            </a:r>
            <a:r>
              <a:rPr sz="2200" b="1" i="0">
                <a:solidFill>
                  <a:srgbClr val="7F7F7F"/>
                </a:solidFill>
                <a:latin typeface="맑은 고딕"/>
                <a:ea typeface="맑은 고딕"/>
              </a:rPr>
              <a:t>  |  </a:t>
            </a:r>
            <a:r>
              <a:rPr sz="2200" b="1" i="0">
                <a:solidFill>
                  <a:srgbClr val="595959"/>
                </a:solidFill>
                <a:latin typeface="맑은 고딕"/>
                <a:ea typeface="맑은 고딕"/>
              </a:rPr>
              <a:t>관련 동향 — Web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84280" cy="4064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entagon 3"/>
          <p:cNvSpPr/>
          <p:nvPr/>
        </p:nvSpPr>
        <p:spPr>
          <a:xfrm>
            <a:off x="7244791" y="274320"/>
            <a:ext cx="1024128" cy="310896"/>
          </a:xfrm>
          <a:prstGeom prst="homePlate">
            <a:avLst>
              <a:gd name="adj" fmla="val 50000"/>
            </a:avLst>
          </a:prstGeom>
          <a:solidFill>
            <a:srgbClr val="4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" tIns="0" rIns="127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과제 소개</a:t>
            </a:r>
          </a:p>
        </p:txBody>
      </p:sp>
      <p:sp>
        <p:nvSpPr>
          <p:cNvPr id="5" name="Chevron 4"/>
          <p:cNvSpPr/>
          <p:nvPr/>
        </p:nvSpPr>
        <p:spPr>
          <a:xfrm>
            <a:off x="8122615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" tIns="0" rIns="127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요구사항 분석</a:t>
            </a:r>
          </a:p>
        </p:txBody>
      </p:sp>
      <p:sp>
        <p:nvSpPr>
          <p:cNvPr id="6" name="Chevron 5"/>
          <p:cNvSpPr/>
          <p:nvPr/>
        </p:nvSpPr>
        <p:spPr>
          <a:xfrm>
            <a:off x="9000439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" tIns="0" rIns="127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설계</a:t>
            </a:r>
          </a:p>
        </p:txBody>
      </p:sp>
      <p:sp>
        <p:nvSpPr>
          <p:cNvPr id="7" name="Chevron 6"/>
          <p:cNvSpPr/>
          <p:nvPr/>
        </p:nvSpPr>
        <p:spPr>
          <a:xfrm>
            <a:off x="9878263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" tIns="0" rIns="127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구현 및 검증</a:t>
            </a:r>
          </a:p>
        </p:txBody>
      </p:sp>
      <p:sp>
        <p:nvSpPr>
          <p:cNvPr id="8" name="Chevron 7"/>
          <p:cNvSpPr/>
          <p:nvPr/>
        </p:nvSpPr>
        <p:spPr>
          <a:xfrm>
            <a:off x="10756087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" tIns="0" rIns="127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결론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80160"/>
            <a:ext cx="3703320" cy="4617720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15875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078992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패러다임 전환 · 웹 생태계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42816" y="1280160"/>
            <a:ext cx="3703320" cy="4617720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15875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62856" y="1078992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제품 경쟁 구도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4152" y="1280160"/>
            <a:ext cx="3703320" cy="4617720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15875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394192" y="1078992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기술 성숙도 · 표준화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700784"/>
            <a:ext cx="324612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190500" indent="-1905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75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250" b="1" i="0">
                <a:solidFill>
                  <a:srgbClr val="202020"/>
                </a:solidFill>
                <a:latin typeface="맑은 고딕"/>
                <a:ea typeface="맑은 고딕"/>
              </a:rPr>
              <a:t>챗봇 → 자율 작업 Agent</a:t>
            </a:r>
          </a:p>
          <a:p>
            <a:pPr marL="355600" indent="-1651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50" b="1" i="0">
                <a:solidFill>
                  <a:srgbClr val="202020"/>
                </a:solidFill>
                <a:highlight>
                  <a:srgbClr val="C6EFCE"/>
                </a:highlight>
                <a:latin typeface="맑은 고딕"/>
                <a:ea typeface="맑은 고딕"/>
              </a:rPr>
              <a:t>의도 이해 + 브라우저 자율 조작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2267712"/>
            <a:ext cx="3246120" cy="2194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F3864"/>
                </a:solidFill>
                <a:latin typeface="맑은 고딕"/>
                <a:ea typeface="맑은 고딕"/>
              </a:rPr>
              <a:t>AI Agent 시장 (USD B)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457200" y="2487168"/>
          <a:ext cx="1783080" cy="9875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2285999" y="2578608"/>
            <a:ext cx="1645920" cy="868680"/>
          </a:xfrm>
          <a:prstGeom prst="roundRect">
            <a:avLst>
              <a:gd name="adj" fmla="val 10000"/>
            </a:avLst>
          </a:prstGeom>
          <a:solidFill>
            <a:srgbClr val="E9EFF8"/>
          </a:solidFill>
          <a:ln w="12700">
            <a:solidFill>
              <a:srgbClr val="B9C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85999" y="2587752"/>
            <a:ext cx="1645920" cy="8503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1E9E5A"/>
                </a:solidFill>
                <a:latin typeface="맑은 고딕"/>
                <a:ea typeface="맑은 고딕"/>
              </a:rPr>
              <a:t>CAGR 46.3%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595959"/>
                </a:solidFill>
                <a:latin typeface="맑은 고딕"/>
                <a:ea typeface="맑은 고딕"/>
              </a:rPr>
              <a:t>5년 새 약 6.7배 성장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" y="3566160"/>
            <a:ext cx="324612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F3864"/>
                </a:solidFill>
                <a:latin typeface="맑은 고딕"/>
                <a:ea typeface="맑은 고딕"/>
              </a:rPr>
              <a:t>웹 생태계 재편 — AI가 웹 소비를 바꾸는 3가지 지표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" y="3895344"/>
            <a:ext cx="786384" cy="475488"/>
          </a:xfrm>
          <a:prstGeom prst="roundRect">
            <a:avLst>
              <a:gd name="adj" fmla="val 18000"/>
            </a:avLst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" y="3886200"/>
            <a:ext cx="786384" cy="47548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</a:rPr>
              <a:t>13×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831336"/>
            <a:ext cx="2386584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02020"/>
                </a:solidFill>
                <a:latin typeface="맑은 고딕"/>
                <a:ea typeface="맑은 고딕"/>
              </a:rPr>
              <a:t>생성형 AI 경유 웹 트래픽 13배↑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95959"/>
                </a:solidFill>
                <a:latin typeface="맑은 고딕"/>
                <a:ea typeface="맑은 고딕"/>
              </a:rPr>
              <a:t>ChatGPT 등 생성형 AI 응답을 거쳐 웹사이트로 유입된 방문이 ’24.7 대비 ’25.5에 13배 이상 증가. AI가 검색을 대신해 '웹 발견의 입구'가 되는 중.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F7F7F"/>
                </a:solidFill>
                <a:latin typeface="맑은 고딕"/>
                <a:ea typeface="맑은 고딕"/>
              </a:rPr>
              <a:t>출처: </a:t>
            </a:r>
            <a:r>
              <a:rPr sz="700" b="0" i="0">
                <a:solidFill>
                  <a:srgbClr val="7F7F7F"/>
                </a:solidFill>
                <a:latin typeface="맑은 고딕"/>
                <a:ea typeface="맑은 고딕"/>
              </a:rPr>
              <a:t>Adobe Analytics, 2025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" y="4517136"/>
            <a:ext cx="786384" cy="475488"/>
          </a:xfrm>
          <a:prstGeom prst="roundRect">
            <a:avLst>
              <a:gd name="adj" fmla="val 18000"/>
            </a:avLst>
          </a:prstGeom>
          <a:solidFill>
            <a:srgbClr val="2E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" y="4507992"/>
            <a:ext cx="786384" cy="47548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</a:rPr>
              <a:t>$3~5T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453128"/>
            <a:ext cx="2386584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02020"/>
                </a:solidFill>
                <a:latin typeface="맑은 고딕"/>
                <a:ea typeface="맑은 고딕"/>
              </a:rPr>
              <a:t>에이전틱 커머스가 $3~5조 재배분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95959"/>
                </a:solidFill>
                <a:latin typeface="맑은 고딕"/>
                <a:ea typeface="맑은 고딕"/>
              </a:rPr>
              <a:t>AI 에이전트가 사용자 대신 탐색·구매를 수행하는 커머스가 2030년까지 글로벌 소매 지출 $3~5조의 흐름을 재편할 전망.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F7F7F"/>
                </a:solidFill>
                <a:latin typeface="맑은 고딕"/>
                <a:ea typeface="맑은 고딕"/>
              </a:rPr>
              <a:t>출처: </a:t>
            </a:r>
            <a:r>
              <a:rPr sz="700" b="0" i="0">
                <a:solidFill>
                  <a:srgbClr val="7F7F7F"/>
                </a:solidFill>
                <a:latin typeface="맑은 고딕"/>
                <a:ea typeface="맑은 고딕"/>
              </a:rPr>
              <a:t>McKinsey, 2025.10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" y="5138928"/>
            <a:ext cx="786384" cy="475488"/>
          </a:xfrm>
          <a:prstGeom prst="roundRect">
            <a:avLst>
              <a:gd name="adj" fmla="val 18000"/>
            </a:avLst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" y="5129784"/>
            <a:ext cx="786384" cy="47548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맑은 고딕"/>
                <a:ea typeface="맑은 고딕"/>
              </a:rPr>
              <a:t>4×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5074920"/>
            <a:ext cx="2386584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02020"/>
                </a:solidFill>
                <a:latin typeface="맑은 고딕"/>
                <a:ea typeface="맑은 고딕"/>
              </a:rPr>
              <a:t>AI 채팅 상호작용 시 구매 전환 4배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95959"/>
                </a:solidFill>
                <a:latin typeface="맑은 고딕"/>
                <a:ea typeface="맑은 고딕"/>
              </a:rPr>
              <a:t>AI 채팅과 상호작용한 쇼핑객의 구매 전환율 12.3% — 상호작용하지 않은 경우(3.1%) 대비 약 4배.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7F7F7F"/>
                </a:solidFill>
                <a:latin typeface="맑은 고딕"/>
                <a:ea typeface="맑은 고딕"/>
              </a:rPr>
              <a:t>출처: </a:t>
            </a:r>
            <a:r>
              <a:rPr sz="700" b="0" i="0">
                <a:solidFill>
                  <a:srgbClr val="7F7F7F"/>
                </a:solidFill>
                <a:latin typeface="맑은 고딕"/>
                <a:ea typeface="맑은 고딕"/>
              </a:rPr>
              <a:t>Envive.ai,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1700784"/>
            <a:ext cx="324612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190500" indent="-1905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75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250" b="1" i="0">
                <a:solidFill>
                  <a:srgbClr val="202020"/>
                </a:solidFill>
                <a:latin typeface="맑은 고딕"/>
                <a:ea typeface="맑은 고딕"/>
              </a:rPr>
              <a:t>쏟아지는 AI 브라우저</a:t>
            </a:r>
          </a:p>
          <a:p>
            <a:pPr marL="355600" indent="-1651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50" b="0" i="0">
                <a:solidFill>
                  <a:srgbClr val="202020"/>
                </a:solidFill>
                <a:latin typeface="맑은 고딕"/>
                <a:ea typeface="맑은 고딕"/>
              </a:rPr>
              <a:t>독립 제품 + 브라우저 통합 </a:t>
            </a:r>
            <a:r>
              <a:rPr sz="1050" b="1" i="0">
                <a:solidFill>
                  <a:srgbClr val="202020"/>
                </a:solidFill>
                <a:highlight>
                  <a:srgbClr val="C6EFCE"/>
                </a:highlight>
                <a:latin typeface="맑은 고딕"/>
                <a:ea typeface="맑은 고딕"/>
              </a:rPr>
              <a:t>두 갈래</a:t>
            </a:r>
          </a:p>
        </p:txBody>
      </p:sp>
      <p:sp>
        <p:nvSpPr>
          <p:cNvPr id="31" name="Oval 30"/>
          <p:cNvSpPr/>
          <p:nvPr/>
        </p:nvSpPr>
        <p:spPr>
          <a:xfrm>
            <a:off x="4498848" y="2450592"/>
            <a:ext cx="118872" cy="118872"/>
          </a:xfrm>
          <a:prstGeom prst="ellipse">
            <a:avLst/>
          </a:prstGeom>
          <a:solidFill>
            <a:srgbClr val="2E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54296" y="2368296"/>
            <a:ext cx="822960" cy="23774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맑은 고딕"/>
                <a:ea typeface="맑은 고딕"/>
              </a:rPr>
              <a:t>독립</a:t>
            </a:r>
          </a:p>
        </p:txBody>
      </p:sp>
      <p:sp>
        <p:nvSpPr>
          <p:cNvPr id="33" name="Oval 32"/>
          <p:cNvSpPr/>
          <p:nvPr/>
        </p:nvSpPr>
        <p:spPr>
          <a:xfrm>
            <a:off x="5202936" y="2450592"/>
            <a:ext cx="118872" cy="118872"/>
          </a:xfrm>
          <a:prstGeom prst="ellipse">
            <a:avLst/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58384" y="2368296"/>
            <a:ext cx="1371600" cy="23774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95959"/>
                </a:solidFill>
                <a:latin typeface="맑은 고딕"/>
                <a:ea typeface="맑은 고딕"/>
              </a:rPr>
              <a:t>브라우저 통합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96256" y="2907792"/>
            <a:ext cx="30480" cy="2743200"/>
          </a:xfrm>
          <a:prstGeom prst="rect">
            <a:avLst/>
          </a:prstGeom>
          <a:solidFill>
            <a:srgbClr val="D0D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038344" y="2834640"/>
            <a:ext cx="146304" cy="146304"/>
          </a:xfrm>
          <a:prstGeom prst="ellipse">
            <a:avLst/>
          </a:prstGeom>
          <a:solidFill>
            <a:srgbClr val="2E5B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62272" y="2770632"/>
            <a:ext cx="566928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5BA8"/>
                </a:solidFill>
                <a:latin typeface="맑은 고딕"/>
                <a:ea typeface="맑은 고딕"/>
              </a:rPr>
              <a:t>’25.06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57800" y="2724912"/>
            <a:ext cx="256032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020"/>
                </a:solidFill>
                <a:latin typeface="맑은 고딕"/>
                <a:ea typeface="맑은 고딕"/>
              </a:rPr>
              <a:t>Dia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F7F7F"/>
                </a:solidFill>
                <a:latin typeface="맑은 고딕"/>
                <a:ea typeface="맑은 고딕"/>
              </a:rPr>
              <a:t>Browser Co.</a:t>
            </a:r>
          </a:p>
        </p:txBody>
      </p:sp>
      <p:sp>
        <p:nvSpPr>
          <p:cNvPr id="39" name="Oval 38"/>
          <p:cNvSpPr/>
          <p:nvPr/>
        </p:nvSpPr>
        <p:spPr>
          <a:xfrm>
            <a:off x="5038344" y="3520440"/>
            <a:ext cx="146304" cy="146304"/>
          </a:xfrm>
          <a:prstGeom prst="ellipse">
            <a:avLst/>
          </a:prstGeom>
          <a:solidFill>
            <a:srgbClr val="2E5B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62272" y="3456432"/>
            <a:ext cx="566928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5BA8"/>
                </a:solidFill>
                <a:latin typeface="맑은 고딕"/>
                <a:ea typeface="맑은 고딕"/>
              </a:rPr>
              <a:t>’25.07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57800" y="3410712"/>
            <a:ext cx="256032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020"/>
                </a:solidFill>
                <a:latin typeface="맑은 고딕"/>
                <a:ea typeface="맑은 고딕"/>
              </a:rPr>
              <a:t>Comet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F7F7F"/>
                </a:solidFill>
                <a:latin typeface="맑은 고딕"/>
                <a:ea typeface="맑은 고딕"/>
              </a:rPr>
              <a:t>Perplexity</a:t>
            </a:r>
          </a:p>
        </p:txBody>
      </p:sp>
      <p:sp>
        <p:nvSpPr>
          <p:cNvPr id="42" name="Oval 41"/>
          <p:cNvSpPr/>
          <p:nvPr/>
        </p:nvSpPr>
        <p:spPr>
          <a:xfrm>
            <a:off x="5038344" y="4206240"/>
            <a:ext cx="146304" cy="146304"/>
          </a:xfrm>
          <a:prstGeom prst="ellipse">
            <a:avLst/>
          </a:prstGeom>
          <a:solidFill>
            <a:srgbClr val="2E5B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462272" y="4142232"/>
            <a:ext cx="566928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5BA8"/>
                </a:solidFill>
                <a:latin typeface="맑은 고딕"/>
                <a:ea typeface="맑은 고딕"/>
              </a:rPr>
              <a:t>’25.10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57800" y="4096512"/>
            <a:ext cx="256032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020"/>
                </a:solidFill>
                <a:latin typeface="맑은 고딕"/>
                <a:ea typeface="맑은 고딕"/>
              </a:rPr>
              <a:t>ChatGPT Atlas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F7F7F"/>
                </a:solidFill>
                <a:latin typeface="맑은 고딕"/>
                <a:ea typeface="맑은 고딕"/>
              </a:rPr>
              <a:t>OpenAI</a:t>
            </a:r>
          </a:p>
        </p:txBody>
      </p:sp>
      <p:sp>
        <p:nvSpPr>
          <p:cNvPr id="45" name="Oval 44"/>
          <p:cNvSpPr/>
          <p:nvPr/>
        </p:nvSpPr>
        <p:spPr>
          <a:xfrm>
            <a:off x="5038344" y="4892040"/>
            <a:ext cx="146304" cy="146304"/>
          </a:xfrm>
          <a:prstGeom prst="ellipse">
            <a:avLst/>
          </a:prstGeom>
          <a:solidFill>
            <a:srgbClr val="1E9E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62272" y="4828032"/>
            <a:ext cx="566928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E9E5A"/>
                </a:solidFill>
                <a:latin typeface="맑은 고딕"/>
                <a:ea typeface="맑은 고딕"/>
              </a:rPr>
              <a:t>’26.01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57800" y="4782312"/>
            <a:ext cx="256032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020"/>
                </a:solidFill>
                <a:latin typeface="맑은 고딕"/>
                <a:ea typeface="맑은 고딕"/>
              </a:rPr>
              <a:t>Chrome Auto Browse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F7F7F"/>
                </a:solidFill>
                <a:latin typeface="맑은 고딕"/>
                <a:ea typeface="맑은 고딕"/>
              </a:rPr>
              <a:t>Google</a:t>
            </a:r>
          </a:p>
        </p:txBody>
      </p:sp>
      <p:sp>
        <p:nvSpPr>
          <p:cNvPr id="48" name="Oval 47"/>
          <p:cNvSpPr/>
          <p:nvPr/>
        </p:nvSpPr>
        <p:spPr>
          <a:xfrm>
            <a:off x="5038344" y="5577840"/>
            <a:ext cx="146304" cy="146304"/>
          </a:xfrm>
          <a:prstGeom prst="ellipse">
            <a:avLst/>
          </a:prstGeom>
          <a:solidFill>
            <a:srgbClr val="2E5B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462272" y="5513832"/>
            <a:ext cx="566928" cy="2743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E5BA8"/>
                </a:solidFill>
                <a:latin typeface="맑은 고딕"/>
                <a:ea typeface="맑은 고딕"/>
              </a:rPr>
              <a:t>’26.02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57800" y="5468112"/>
            <a:ext cx="256032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020"/>
                </a:solidFill>
                <a:latin typeface="맑은 고딕"/>
                <a:ea typeface="맑은 고딕"/>
              </a:rPr>
              <a:t>Opera Neon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F7F7F"/>
                </a:solidFill>
                <a:latin typeface="맑은 고딕"/>
                <a:ea typeface="맑은 고딕"/>
              </a:rPr>
              <a:t>Opera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11896" y="1700784"/>
            <a:ext cx="324612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190500" indent="-1905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69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150" b="1" i="0">
                <a:solidFill>
                  <a:srgbClr val="202020"/>
                </a:solidFill>
                <a:latin typeface="맑은 고딕"/>
                <a:ea typeface="맑은 고딕"/>
              </a:rPr>
              <a:t>웹 자율수행 — 실용 수준 도달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11896" y="2212848"/>
            <a:ext cx="324612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F3864"/>
                </a:solidFill>
                <a:latin typeface="맑은 고딕"/>
                <a:ea typeface="맑은 고딕"/>
              </a:rPr>
              <a:t>WebVoyager 점수 (%)</a:t>
            </a:r>
          </a:p>
        </p:txBody>
      </p:sp>
      <p:graphicFrame>
        <p:nvGraphicFramePr>
          <p:cNvPr id="53" name="Chart 52"/>
          <p:cNvGraphicFramePr>
            <a:graphicFrameLocks noGrp="1"/>
          </p:cNvGraphicFramePr>
          <p:nvPr/>
        </p:nvGraphicFramePr>
        <p:xfrm>
          <a:off x="8119872" y="2450592"/>
          <a:ext cx="356616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4" name="TextBox 53"/>
          <p:cNvSpPr txBox="1"/>
          <p:nvPr/>
        </p:nvSpPr>
        <p:spPr>
          <a:xfrm>
            <a:off x="8311896" y="4498848"/>
            <a:ext cx="324612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F3864"/>
                </a:solidFill>
                <a:latin typeface="맑은 고딕"/>
                <a:ea typeface="맑은 고딕"/>
              </a:rPr>
              <a:t>웹 표준, 에이전트 대응 시작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311896" y="4791456"/>
            <a:ext cx="740664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311896" y="4791456"/>
            <a:ext cx="740664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F3864"/>
                </a:solidFill>
                <a:latin typeface="맑은 고딕"/>
                <a:ea typeface="맑은 고딕"/>
              </a:rPr>
              <a:t>WebMCP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144000" y="4791456"/>
            <a:ext cx="896112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144000" y="4791456"/>
            <a:ext cx="896112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F3864"/>
                </a:solidFill>
                <a:latin typeface="맑은 고딕"/>
                <a:ea typeface="맑은 고딕"/>
              </a:rPr>
              <a:t>ACP · AP2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131552" y="4791456"/>
            <a:ext cx="896112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131552" y="4791456"/>
            <a:ext cx="896112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F3864"/>
                </a:solidFill>
                <a:latin typeface="맑은 고딕"/>
                <a:ea typeface="맑은 고딕"/>
              </a:rPr>
              <a:t>Web Bot Auth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11896" y="5230368"/>
            <a:ext cx="32461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맑은 고딕"/>
                <a:ea typeface="맑은 고딕"/>
              </a:rPr>
              <a:t>도구 노출(W3C·Chrome) · 결제(OpenAI·Google) · 신원(IETF)</a:t>
            </a:r>
            <a:br/>
            <a:r>
              <a:rPr sz="900" b="0" i="0">
                <a:solidFill>
                  <a:srgbClr val="595959"/>
                </a:solidFill>
                <a:latin typeface="맑은 고딕"/>
                <a:ea typeface="맑은 고딕"/>
              </a:rPr>
              <a:t>‘긁어 읽는 웹’에서 </a:t>
            </a:r>
            <a:r>
              <a:rPr sz="900" b="1" i="0">
                <a:solidFill>
                  <a:srgbClr val="1F3864"/>
                </a:solidFill>
                <a:latin typeface="맑은 고딕"/>
                <a:ea typeface="맑은 고딕"/>
              </a:rPr>
              <a:t>에이전트 공식 인터페이스</a:t>
            </a:r>
            <a:r>
              <a:rPr sz="900" b="0" i="0">
                <a:solidFill>
                  <a:srgbClr val="595959"/>
                </a:solidFill>
                <a:latin typeface="맑은 고딕"/>
                <a:ea typeface="맑은 고딕"/>
              </a:rPr>
              <a:t>로 재편 시작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11480" y="6053328"/>
            <a:ext cx="11384280" cy="4572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40080" y="6053328"/>
            <a:ext cx="109728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FA9C4"/>
                </a:solidFill>
                <a:latin typeface="맑은 고딕"/>
                <a:ea typeface="맑은 고딕"/>
              </a:rPr>
              <a:t>결론  </a:t>
            </a: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</a:rPr>
              <a:t>기술은 '되는가'를 넘어 </a:t>
            </a:r>
            <a:r>
              <a:rPr sz="1250" b="1" i="0">
                <a:solidFill>
                  <a:srgbClr val="4FA9C4"/>
                </a:solidFill>
                <a:latin typeface="맑은 고딕"/>
                <a:ea typeface="맑은 고딕"/>
              </a:rPr>
              <a:t>실용 단계</a:t>
            </a: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</a:rPr>
              <a:t> — 그러나 모든 제품이 </a:t>
            </a:r>
            <a:r>
              <a:rPr sz="1250" b="1" i="0">
                <a:solidFill>
                  <a:srgbClr val="4FA9C4"/>
                </a:solidFill>
                <a:latin typeface="맑은 고딕"/>
                <a:ea typeface="맑은 고딕"/>
              </a:rPr>
              <a:t>PC·모바일 타겟, TV는 공백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1480" y="6565392"/>
            <a:ext cx="1133856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F7F7F"/>
                </a:solidFill>
                <a:latin typeface="맑은 고딕"/>
                <a:ea typeface="맑은 고딕"/>
              </a:rPr>
              <a:t>출처: MarketsandMarkets (시장); Steel.dev WebVoyager Leaderboard (2026.02); Adobe Analytics·McKinsey·Envive (웹 생태계 영향); W3C WebMCP(Chrome 오리진 트라이얼); OpenAI·Stripe ACP; Google AP2; IETF Web Bot Auth.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777240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02020"/>
                </a:solidFill>
                <a:latin typeface="맑은 고딕"/>
                <a:ea typeface="맑은 고딕"/>
              </a:rPr>
              <a:t>과제 필요성</a:t>
            </a:r>
            <a:r>
              <a:rPr sz="2200" b="1" i="0">
                <a:solidFill>
                  <a:srgbClr val="7F7F7F"/>
                </a:solidFill>
                <a:latin typeface="맑은 고딕"/>
                <a:ea typeface="맑은 고딕"/>
              </a:rPr>
              <a:t>  |  </a:t>
            </a:r>
            <a:r>
              <a:rPr sz="2200" b="1" i="0">
                <a:solidFill>
                  <a:srgbClr val="595959"/>
                </a:solidFill>
                <a:latin typeface="맑은 고딕"/>
                <a:ea typeface="맑은 고딕"/>
              </a:rPr>
              <a:t>왜 삼성이, 지금 해야 하는가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84280" cy="4064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entagon 3"/>
          <p:cNvSpPr/>
          <p:nvPr/>
        </p:nvSpPr>
        <p:spPr>
          <a:xfrm>
            <a:off x="7244791" y="274320"/>
            <a:ext cx="1024128" cy="310896"/>
          </a:xfrm>
          <a:prstGeom prst="homePlate">
            <a:avLst>
              <a:gd name="adj" fmla="val 50000"/>
            </a:avLst>
          </a:prstGeom>
          <a:solidFill>
            <a:srgbClr val="4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" tIns="0" rIns="127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과제 소개</a:t>
            </a:r>
          </a:p>
        </p:txBody>
      </p:sp>
      <p:sp>
        <p:nvSpPr>
          <p:cNvPr id="5" name="Chevron 4"/>
          <p:cNvSpPr/>
          <p:nvPr/>
        </p:nvSpPr>
        <p:spPr>
          <a:xfrm>
            <a:off x="8122615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" tIns="0" rIns="127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요구사항 분석</a:t>
            </a:r>
          </a:p>
        </p:txBody>
      </p:sp>
      <p:sp>
        <p:nvSpPr>
          <p:cNvPr id="6" name="Chevron 5"/>
          <p:cNvSpPr/>
          <p:nvPr/>
        </p:nvSpPr>
        <p:spPr>
          <a:xfrm>
            <a:off x="9000439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" tIns="0" rIns="127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설계</a:t>
            </a:r>
          </a:p>
        </p:txBody>
      </p:sp>
      <p:sp>
        <p:nvSpPr>
          <p:cNvPr id="7" name="Chevron 6"/>
          <p:cNvSpPr/>
          <p:nvPr/>
        </p:nvSpPr>
        <p:spPr>
          <a:xfrm>
            <a:off x="9878263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" tIns="0" rIns="127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구현 및 검증</a:t>
            </a:r>
          </a:p>
        </p:txBody>
      </p:sp>
      <p:sp>
        <p:nvSpPr>
          <p:cNvPr id="8" name="Chevron 7"/>
          <p:cNvSpPr/>
          <p:nvPr/>
        </p:nvSpPr>
        <p:spPr>
          <a:xfrm>
            <a:off x="10756087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" tIns="0" rIns="127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결론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80160"/>
            <a:ext cx="3703320" cy="4617720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15875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77240" y="1078992"/>
            <a:ext cx="2971800" cy="4572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HW 경쟁의 한계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42816" y="1280160"/>
            <a:ext cx="3703320" cy="4617720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15875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08576" y="1078992"/>
            <a:ext cx="2971800" cy="4572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오픈 웹 = TV의 미개척 자산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4152" y="1280160"/>
            <a:ext cx="3703320" cy="4617720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15875">
            <a:solidFill>
              <a:srgbClr val="D0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439912" y="1078992"/>
            <a:ext cx="2971800" cy="4572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비어 있는 TV 기회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719072"/>
            <a:ext cx="3264408" cy="1463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190500" indent="-190500"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75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250" b="1" i="0">
                <a:solidFill>
                  <a:srgbClr val="202020"/>
                </a:solidFill>
                <a:latin typeface="맑은 고딕"/>
                <a:ea typeface="맑은 고딕"/>
              </a:rPr>
              <a:t>HW 스펙 경쟁의 포화</a:t>
            </a:r>
          </a:p>
          <a:p>
            <a:pPr marL="355600" indent="-165100"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00" b="0" i="0">
                <a:solidFill>
                  <a:srgbClr val="202020"/>
                </a:solidFill>
                <a:latin typeface="맑은 고딕"/>
                <a:ea typeface="맑은 고딕"/>
              </a:rPr>
              <a:t>패널·화질·8K·밝기 경쟁이 </a:t>
            </a:r>
            <a:r>
              <a:rPr sz="1000" b="1" i="0">
                <a:solidFill>
                  <a:srgbClr val="202020"/>
                </a:solidFill>
                <a:highlight>
                  <a:srgbClr val="C6EFCE"/>
                </a:highlight>
                <a:latin typeface="맑은 고딕"/>
                <a:ea typeface="맑은 고딕"/>
              </a:rPr>
              <a:t>상향 평준화</a:t>
            </a:r>
          </a:p>
          <a:p>
            <a:pPr marL="355600" indent="-165100"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00" b="0" i="0">
                <a:solidFill>
                  <a:srgbClr val="202020"/>
                </a:solidFill>
                <a:latin typeface="맑은 고딕"/>
                <a:ea typeface="맑은 고딕"/>
              </a:rPr>
              <a:t>→ 체감 차별화 한계, 가격 경쟁으로 수렴</a:t>
            </a:r>
          </a:p>
          <a:p>
            <a:pPr marL="190500" indent="-190500"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75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250" b="1" i="0">
                <a:solidFill>
                  <a:srgbClr val="202020"/>
                </a:solidFill>
                <a:latin typeface="맑은 고딕"/>
                <a:ea typeface="맑은 고딕"/>
              </a:rPr>
              <a:t>SW·AI 경험으로 경쟁축 이동</a:t>
            </a:r>
          </a:p>
          <a:p>
            <a:pPr marL="355600" indent="-165100"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00" b="0" i="0">
                <a:solidFill>
                  <a:srgbClr val="202020"/>
                </a:solidFill>
                <a:latin typeface="맑은 고딕"/>
                <a:ea typeface="맑은 고딕"/>
              </a:rPr>
              <a:t>Android/Google TV가 </a:t>
            </a:r>
            <a:r>
              <a:rPr sz="1000" b="1" i="0">
                <a:solidFill>
                  <a:srgbClr val="202020"/>
                </a:solidFill>
                <a:highlight>
                  <a:srgbClr val="C6EFCE"/>
                </a:highlight>
                <a:latin typeface="맑은 고딕"/>
                <a:ea typeface="맑은 고딕"/>
              </a:rPr>
              <a:t>Gemini를 OS에 통합</a:t>
            </a:r>
          </a:p>
          <a:p>
            <a:pPr marL="355600" indent="-165100"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1000" b="0" i="0">
                <a:solidFill>
                  <a:srgbClr val="202020"/>
                </a:solidFill>
                <a:latin typeface="맑은 고딕"/>
                <a:ea typeface="맑은 고딕"/>
              </a:rPr>
              <a:t>→ AI 경험 격차 확대, Tizen은 </a:t>
            </a:r>
            <a:r>
              <a:rPr sz="1000" b="1" i="0">
                <a:solidFill>
                  <a:srgbClr val="C0322B"/>
                </a:solidFill>
                <a:latin typeface="맑은 고딕"/>
                <a:ea typeface="맑은 고딕"/>
              </a:rPr>
              <a:t>양쪽서 압박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3547872"/>
            <a:ext cx="3264408" cy="1371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</a:rPr>
              <a:t>하드웨어(패널·화질·해상도)로 벌 수 있는 차별화 마진이 줄면서, 플랫폼 경쟁력의 다음 축은 </a:t>
            </a:r>
            <a:r>
              <a:rPr sz="950" b="1" i="0">
                <a:solidFill>
                  <a:srgbClr val="1F3864"/>
                </a:solidFill>
                <a:latin typeface="맑은 고딕"/>
                <a:ea typeface="맑은 고딕"/>
              </a:rPr>
              <a:t>소프트웨어·서비스 경험</a:t>
            </a: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</a:rPr>
              <a:t>으로 이동하고 있다. 경쟁 OS가 AI를 빠르게 통합하는 상황에서, AI 기반 웹 경험은 Tizen이 확보해야 할 핵심 차별화 수단이다.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" y="4864608"/>
            <a:ext cx="3264408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30" b="0" i="1">
                <a:solidFill>
                  <a:srgbClr val="7F7F7F"/>
                </a:solidFill>
                <a:latin typeface="맑은 고딕"/>
                <a:ea typeface="맑은 고딕"/>
              </a:rPr>
              <a:t>출처: Google ‘Gemini for Google TV’(2026)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11496"/>
            <a:ext cx="3246120" cy="621792"/>
          </a:xfrm>
          <a:prstGeom prst="roundRect">
            <a:avLst>
              <a:gd name="adj" fmla="val 10000"/>
            </a:avLst>
          </a:prstGeom>
          <a:solidFill>
            <a:srgbClr val="E9EFF8"/>
          </a:solidFill>
          <a:ln w="15875">
            <a:solidFill>
              <a:srgbClr val="B9C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5111496"/>
            <a:ext cx="3026664" cy="6217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1">
                <a:solidFill>
                  <a:srgbClr val="1F3864"/>
                </a:solidFill>
                <a:latin typeface="맑은 고딕"/>
                <a:ea typeface="맑은 고딕"/>
              </a:rPr>
              <a:t>SW·서비스로 승부해야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1">
                <a:solidFill>
                  <a:srgbClr val="1F3864"/>
                </a:solidFill>
                <a:latin typeface="맑은 고딕"/>
                <a:ea typeface="맑은 고딕"/>
              </a:rPr>
              <a:t>HW 차별화 한계 → 경험 경쟁으로 전환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17136" y="1682496"/>
            <a:ext cx="3154680" cy="749808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17136" y="1700784"/>
            <a:ext cx="3154680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200개국 · 2억 대+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C9D6EC"/>
                </a:solidFill>
                <a:latin typeface="맑은 고딕"/>
                <a:ea typeface="맑은 고딕"/>
              </a:rPr>
              <a:t>Tizen 글로벌 설치 기반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2505456"/>
            <a:ext cx="324612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F3864"/>
                </a:solidFill>
                <a:latin typeface="맑은 고딕"/>
                <a:ea typeface="맑은 고딕"/>
              </a:rPr>
              <a:t>TV가 접근할 콘텐츠·커머스 유니버스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17136" y="2761488"/>
            <a:ext cx="990600" cy="658368"/>
          </a:xfrm>
          <a:prstGeom prst="roundRect">
            <a:avLst>
              <a:gd name="adj" fmla="val 10000"/>
            </a:avLst>
          </a:prstGeom>
          <a:solidFill>
            <a:srgbClr val="E9EFF8"/>
          </a:solidFill>
          <a:ln w="12700">
            <a:solidFill>
              <a:srgbClr val="B9C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17136" y="2770632"/>
            <a:ext cx="99060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1F3864"/>
                </a:solidFill>
                <a:latin typeface="맑은 고딕"/>
                <a:ea typeface="맑은 고딕"/>
              </a:rPr>
              <a:t>무한한 콘텐츠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0" i="0">
                <a:solidFill>
                  <a:srgbClr val="595959"/>
                </a:solidFill>
                <a:latin typeface="맑은 고딕"/>
                <a:ea typeface="맑은 고딕"/>
              </a:rPr>
              <a:t>(정보·뉴스·영상)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99176" y="2761488"/>
            <a:ext cx="990600" cy="658368"/>
          </a:xfrm>
          <a:prstGeom prst="roundRect">
            <a:avLst>
              <a:gd name="adj" fmla="val 10000"/>
            </a:avLst>
          </a:prstGeom>
          <a:solidFill>
            <a:srgbClr val="E9EFF8"/>
          </a:solidFill>
          <a:ln w="12700">
            <a:solidFill>
              <a:srgbClr val="B9C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99176" y="2770632"/>
            <a:ext cx="99060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1F3864"/>
                </a:solidFill>
                <a:latin typeface="맑은 고딕"/>
                <a:ea typeface="맑은 고딕"/>
              </a:rPr>
              <a:t>트랜잭션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0" i="0">
                <a:solidFill>
                  <a:srgbClr val="595959"/>
                </a:solidFill>
                <a:latin typeface="맑은 고딕"/>
                <a:ea typeface="맑은 고딕"/>
              </a:rPr>
              <a:t>(쇼핑·예약·결제)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81216" y="2761488"/>
            <a:ext cx="990600" cy="658368"/>
          </a:xfrm>
          <a:prstGeom prst="roundRect">
            <a:avLst>
              <a:gd name="adj" fmla="val 10000"/>
            </a:avLst>
          </a:prstGeom>
          <a:solidFill>
            <a:srgbClr val="E9EFF8"/>
          </a:solidFill>
          <a:ln w="12700">
            <a:solidFill>
              <a:srgbClr val="B9C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81216" y="2770632"/>
            <a:ext cx="99060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1F3864"/>
                </a:solidFill>
                <a:latin typeface="맑은 고딕"/>
                <a:ea typeface="맑은 고딕"/>
              </a:rPr>
              <a:t>앱 밖 영역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30" b="0" i="0">
                <a:solidFill>
                  <a:srgbClr val="595959"/>
                </a:solidFill>
                <a:latin typeface="맑은 고딕"/>
                <a:ea typeface="맑은 고딕"/>
              </a:rPr>
              <a:t>(전 사이트 커버)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8848" y="3511296"/>
            <a:ext cx="3246120" cy="7498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595959"/>
                </a:solidFill>
                <a:latin typeface="맑은 고딕"/>
                <a:ea typeface="맑은 고딕"/>
              </a:rPr>
              <a:t>앱(OTT 등)은 폐쇄적·파편적이지만, </a:t>
            </a:r>
            <a:r>
              <a:rPr sz="830" b="1" i="0">
                <a:solidFill>
                  <a:srgbClr val="1F3864"/>
                </a:solidFill>
                <a:latin typeface="맑은 고딕"/>
                <a:ea typeface="맑은 고딕"/>
              </a:rPr>
              <a:t>오픈 웹은 거의 모든 콘텐츠·쇼핑·서비스로 통하는 접점</a:t>
            </a:r>
            <a:r>
              <a:rPr sz="830" b="0" i="0">
                <a:solidFill>
                  <a:srgbClr val="595959"/>
                </a:solidFill>
                <a:latin typeface="맑은 고딕"/>
                <a:ea typeface="맑은 고딕"/>
              </a:rPr>
              <a:t>. AI Web Agent가 TV에서 이 웹을 ‘열어’ 미개척 자산을 활성화한다.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98848" y="4297680"/>
            <a:ext cx="3191256" cy="365760"/>
          </a:xfrm>
          <a:prstGeom prst="roundRect">
            <a:avLst>
              <a:gd name="adj" fmla="val 20000"/>
            </a:avLst>
          </a:prstGeom>
          <a:solidFill>
            <a:srgbClr val="EEF2F8"/>
          </a:solidFill>
          <a:ln w="12700">
            <a:solidFill>
              <a:srgbClr val="B9C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98848" y="4297680"/>
            <a:ext cx="3191256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202020"/>
                </a:solidFill>
                <a:latin typeface="맑은 고딕"/>
                <a:ea typeface="맑은 고딕"/>
              </a:rPr>
              <a:t>Smart TV 플랫폼 시장 </a:t>
            </a:r>
            <a:r>
              <a:rPr sz="900" b="1" i="0">
                <a:solidFill>
                  <a:srgbClr val="1F3864"/>
                </a:solidFill>
                <a:latin typeface="맑은 고딕"/>
                <a:ea typeface="맑은 고딕"/>
              </a:rPr>
              <a:t>$449.7B(’24) → $966.9B(’33)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8848" y="4809744"/>
            <a:ext cx="3246120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30" b="0" i="1">
                <a:solidFill>
                  <a:srgbClr val="7F7F7F"/>
                </a:solidFill>
                <a:latin typeface="맑은 고딕"/>
                <a:ea typeface="맑은 고딕"/>
              </a:rPr>
              <a:t>출처: Samsung Global Newsroom; ElectroIQ Smart TV Statistics(2026)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71416" y="5111496"/>
            <a:ext cx="3246120" cy="621792"/>
          </a:xfrm>
          <a:prstGeom prst="roundRect">
            <a:avLst>
              <a:gd name="adj" fmla="val 10000"/>
            </a:avLst>
          </a:prstGeom>
          <a:solidFill>
            <a:srgbClr val="E9EFF8"/>
          </a:solidFill>
          <a:ln w="15875">
            <a:solidFill>
              <a:srgbClr val="B9C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81144" y="5111496"/>
            <a:ext cx="3026664" cy="6217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1">
                <a:solidFill>
                  <a:srgbClr val="1F3864"/>
                </a:solidFill>
                <a:latin typeface="맑은 고딕"/>
                <a:ea typeface="맑은 고딕"/>
              </a:rPr>
              <a:t>오픈 웹 = 가장 큰 콘텐츠·커머스 접점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1">
                <a:solidFill>
                  <a:srgbClr val="1F3864"/>
                </a:solidFill>
                <a:latin typeface="맑은 고딕"/>
                <a:ea typeface="맑은 고딕"/>
              </a:rPr>
              <a:t>TV에선 닫혀 있다(Slide 1) → 에이전트가 연다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1896" y="1700784"/>
            <a:ext cx="3264408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190500" indent="-1905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750" b="1" i="0">
                <a:solidFill>
                  <a:srgbClr val="1F3864"/>
                </a:solidFill>
                <a:latin typeface="맑은 고딕"/>
                <a:ea typeface="맑은 고딕"/>
              </a:rPr>
              <a:t>■ </a:t>
            </a:r>
            <a:r>
              <a:rPr sz="1250" b="1" i="0">
                <a:solidFill>
                  <a:srgbClr val="202020"/>
                </a:solidFill>
                <a:latin typeface="맑은 고딕"/>
                <a:ea typeface="맑은 고딕"/>
              </a:rPr>
              <a:t>TV의 AI, ‘답변’까지만 왔다</a:t>
            </a:r>
          </a:p>
          <a:p>
            <a:pPr marL="355600" indent="-1651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950" b="0" i="0">
                <a:solidFill>
                  <a:srgbClr val="202020"/>
                </a:solidFill>
                <a:latin typeface="맑은 고딕"/>
                <a:ea typeface="맑은 고딕"/>
              </a:rPr>
              <a:t>Gemini·Copilot 모두 </a:t>
            </a:r>
            <a:r>
              <a:rPr sz="950" b="1" i="0">
                <a:solidFill>
                  <a:srgbClr val="C0322B"/>
                </a:solidFill>
                <a:latin typeface="맑은 고딕"/>
                <a:ea typeface="맑은 고딕"/>
              </a:rPr>
              <a:t>아직 어시스턴트 단계</a:t>
            </a:r>
          </a:p>
          <a:p>
            <a:pPr marL="355600" indent="-165100"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</a:rPr>
              <a:t>– </a:t>
            </a:r>
            <a:r>
              <a:rPr sz="950" b="0" i="0">
                <a:solidFill>
                  <a:srgbClr val="202020"/>
                </a:solidFill>
                <a:latin typeface="맑은 고딕"/>
                <a:ea typeface="맑은 고딕"/>
              </a:rPr>
              <a:t>웹 조작·태스크 수행 에이전트 전무 = </a:t>
            </a:r>
            <a:r>
              <a:rPr sz="950" b="1" i="0">
                <a:solidFill>
                  <a:srgbClr val="202020"/>
                </a:solidFill>
                <a:highlight>
                  <a:srgbClr val="C6EFCE"/>
                </a:highlight>
                <a:latin typeface="맑은 고딕"/>
                <a:ea typeface="맑은 고딕"/>
              </a:rPr>
              <a:t>블루오션</a:t>
            </a:r>
          </a:p>
        </p:txBody>
      </p:sp>
      <p:sp>
        <p:nvSpPr>
          <p:cNvPr id="200" name="Stage 1 Voice"/>
          <p:cNvSpPr/>
          <p:nvPr/>
        </p:nvSpPr>
        <p:spPr>
          <a:xfrm>
            <a:off x="8311896" y="2600000"/>
            <a:ext cx="3264408" cy="3400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 w="12700">
            <a:solidFill>
              <a:srgbClr val="8C8C8C"/>
            </a:solidFill>
          </a:ln>
          <a:effectLst/>
        </p:spPr>
        <p:txBody>
          <a:bodyPr wrap="square" lIns="91440" tIns="12700" rIns="91440" bIns="1270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04040"/>
                </a:solidFill>
                <a:latin typeface="맑은 고딕"/>
                <a:ea typeface="맑은 고딕"/>
              </a:rPr>
              <a:t>① 음성 명령·검색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595959"/>
                </a:solidFill>
                <a:latin typeface="맑은 고딕"/>
                <a:ea typeface="맑은 고딕"/>
              </a:rPr>
              <a:t>기존 TV 음성 어시스턴트 (Bixby·Alexa 등)</a:t>
            </a:r>
          </a:p>
        </p:txBody>
      </p:sp>
      <p:sp>
        <p:nvSpPr>
          <p:cNvPr id="201" name="Stage Arrow 1"/>
          <p:cNvSpPr/>
          <p:nvPr/>
        </p:nvSpPr>
        <p:spPr>
          <a:xfrm>
            <a:off x="9852660" y="2940000"/>
            <a:ext cx="182880" cy="80000"/>
          </a:xfrm>
          <a:prstGeom prst="downArrow">
            <a:avLst/>
          </a:prstGeom>
          <a:solidFill>
            <a:srgbClr val="8C8C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Stage 2 Answer"/>
          <p:cNvSpPr/>
          <p:nvPr/>
        </p:nvSpPr>
        <p:spPr>
          <a:xfrm>
            <a:off x="8311896" y="3020000"/>
            <a:ext cx="3264408" cy="34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txBody>
          <a:bodyPr wrap="square" lIns="91440" tIns="12700" rIns="91440" bIns="1270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02020"/>
                </a:solidFill>
                <a:latin typeface="맑은 고딕"/>
                <a:ea typeface="맑은 고딕"/>
              </a:rPr>
              <a:t>② 웹 지식으로 답변·추천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595959"/>
                </a:solidFill>
                <a:latin typeface="맑은 고딕"/>
                <a:ea typeface="맑은 고딕"/>
              </a:rPr>
              <a:t>Gemini for TV · Copilot(webOS) — </a:t>
            </a:r>
            <a:r>
              <a:rPr sz="800" b="1" i="0">
                <a:solidFill>
                  <a:srgbClr val="1F3864"/>
                </a:solidFill>
                <a:latin typeface="맑은 고딕"/>
                <a:ea typeface="맑은 고딕"/>
              </a:rPr>
              <a:t>경쟁 TV AI 현위치</a:t>
            </a:r>
          </a:p>
        </p:txBody>
      </p:sp>
      <p:sp>
        <p:nvSpPr>
          <p:cNvPr id="203" name="Stage Arrow 2"/>
          <p:cNvSpPr/>
          <p:nvPr/>
        </p:nvSpPr>
        <p:spPr>
          <a:xfrm>
            <a:off x="9852660" y="3360000"/>
            <a:ext cx="182880" cy="80000"/>
          </a:xfrm>
          <a:prstGeom prst="downArrow">
            <a:avLst/>
          </a:prstGeom>
          <a:solidFill>
            <a:srgbClr val="8C8C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Stage 3 Act"/>
          <p:cNvSpPr/>
          <p:nvPr/>
        </p:nvSpPr>
        <p:spPr>
          <a:xfrm>
            <a:off x="8311896" y="3440000"/>
            <a:ext cx="3264408" cy="5000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>
            <a:noFill/>
          </a:ln>
          <a:effectLst/>
        </p:spPr>
        <p:txBody>
          <a:bodyPr wrap="square" lIns="91440" tIns="12700" rIns="91440" bIns="1270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③ 웹 자율 조작 · 태스크 완수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D9E2F3"/>
                </a:solidFill>
                <a:latin typeface="맑은 고딕"/>
                <a:ea typeface="맑은 고딕"/>
              </a:rPr>
              <a:t>Chrome Auto Browse·Atlas 등 — 전부 PC 전용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C6EFCE"/>
                </a:solidFill>
                <a:latin typeface="맑은 고딕"/>
                <a:ea typeface="맑은 고딕"/>
              </a:rPr>
              <a:t>→ TV는 공백 = 본 과제가 선점 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11896" y="4041648"/>
            <a:ext cx="3264408" cy="6583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595959"/>
                </a:solidFill>
                <a:latin typeface="맑은 고딕"/>
                <a:ea typeface="맑은 고딕"/>
              </a:rPr>
              <a:t>구글은 TV OS와 에이전틱 브라우저(Auto Browse)를 둘 다 보유 — ③의 TV 진입은 시간문제. </a:t>
            </a:r>
            <a:r>
              <a:rPr sz="830" b="1" i="0">
                <a:solidFill>
                  <a:srgbClr val="1F3864"/>
                </a:solidFill>
                <a:latin typeface="맑은 고딕"/>
                <a:ea typeface="맑은 고딕"/>
              </a:rPr>
              <a:t>지금이 선점 적기</a:t>
            </a:r>
            <a:r>
              <a:rPr sz="830" b="0" i="0">
                <a:solidFill>
                  <a:srgbClr val="595959"/>
                </a:solidFill>
                <a:latin typeface="맑은 고딕"/>
                <a:ea typeface="맑은 고딕"/>
              </a:rPr>
              <a:t>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11896" y="4809744"/>
            <a:ext cx="3264408" cy="2011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30" b="0" i="1">
                <a:solidFill>
                  <a:srgbClr val="7F7F7F"/>
                </a:solidFill>
                <a:latin typeface="맑은 고딕"/>
                <a:ea typeface="맑은 고딕"/>
              </a:rPr>
              <a:t>출처: Google TV Help·Chrome Help(2026); Tom’s Hardware(2026)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02752" y="5111496"/>
            <a:ext cx="3246120" cy="621792"/>
          </a:xfrm>
          <a:prstGeom prst="roundRect">
            <a:avLst>
              <a:gd name="adj" fmla="val 10000"/>
            </a:avLst>
          </a:prstGeom>
          <a:solidFill>
            <a:srgbClr val="E9EFF8"/>
          </a:solidFill>
          <a:ln w="15875">
            <a:solidFill>
              <a:srgbClr val="B9C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12480" y="5111496"/>
            <a:ext cx="3026664" cy="6217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1">
                <a:solidFill>
                  <a:srgbClr val="1F3864"/>
                </a:solidFill>
                <a:latin typeface="맑은 고딕"/>
                <a:ea typeface="맑은 고딕"/>
              </a:rPr>
              <a:t>First-mover 선점 기회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1">
                <a:solidFill>
                  <a:srgbClr val="1F3864"/>
                </a:solidFill>
                <a:latin typeface="맑은 고딕"/>
                <a:ea typeface="맑은 고딕"/>
              </a:rPr>
              <a:t>2억 대 기반 삼성이 선점 시 표준 효과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1480" y="6053328"/>
            <a:ext cx="11384280" cy="4572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6053328"/>
            <a:ext cx="109728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FA9C4"/>
                </a:solidFill>
                <a:latin typeface="맑은 고딕"/>
                <a:ea typeface="맑은 고딕"/>
              </a:rPr>
              <a:t>결론  </a:t>
            </a: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</a:rPr>
              <a:t>2억 대 자산 </a:t>
            </a:r>
            <a:r>
              <a:rPr sz="1250" b="1" i="0">
                <a:solidFill>
                  <a:srgbClr val="4FA9C4"/>
                </a:solidFill>
                <a:latin typeface="맑은 고딕"/>
                <a:ea typeface="맑은 고딕"/>
              </a:rPr>
              <a:t>방어</a:t>
            </a: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</a:rPr>
              <a:t> × 비어 있는 TV </a:t>
            </a:r>
            <a:r>
              <a:rPr sz="1250" b="1" i="0">
                <a:solidFill>
                  <a:srgbClr val="4FA9C4"/>
                </a:solidFill>
                <a:latin typeface="맑은 고딕"/>
                <a:ea typeface="맑은 고딕"/>
              </a:rPr>
              <a:t>선점</a:t>
            </a:r>
            <a:r>
              <a:rPr sz="1250" b="0" i="0">
                <a:solidFill>
                  <a:srgbClr val="FFFFFF"/>
                </a:solidFill>
                <a:latin typeface="맑은 고딕"/>
                <a:ea typeface="맑은 고딕"/>
              </a:rPr>
              <a:t> → Tizen TV용 On-Device AI Web Agent를 지금 설계한다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565392"/>
            <a:ext cx="1133856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F7F7F"/>
                </a:solidFill>
                <a:latin typeface="맑은 고딕"/>
                <a:ea typeface="맑은 고딕"/>
              </a:rPr>
              <a:t>출처: Samsung Global Newsroom (Tizen 2억 대+); ElectroIQ Smart TV Statistics (2026); Google TV·Chrome Help(2026); Tom’s Hardware(2026).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777240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02020"/>
                </a:solidFill>
                <a:latin typeface="맑은 고딕"/>
                <a:ea typeface="맑은 고딕"/>
              </a:rPr>
              <a:t>과제 개요</a:t>
            </a:r>
            <a:r>
              <a:rPr sz="2200" b="1" i="0">
                <a:solidFill>
                  <a:srgbClr val="7F7F7F"/>
                </a:solidFill>
                <a:latin typeface="맑은 고딕"/>
                <a:ea typeface="맑은 고딕"/>
              </a:rPr>
              <a:t>  |  </a:t>
            </a:r>
            <a:r>
              <a:rPr sz="2200" b="1" i="0">
                <a:solidFill>
                  <a:srgbClr val="595959"/>
                </a:solidFill>
                <a:latin typeface="맑은 고딕"/>
                <a:ea typeface="맑은 고딕"/>
              </a:rP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1384280" cy="4064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entagon 3"/>
          <p:cNvSpPr/>
          <p:nvPr/>
        </p:nvSpPr>
        <p:spPr>
          <a:xfrm>
            <a:off x="7244791" y="274320"/>
            <a:ext cx="1024128" cy="310896"/>
          </a:xfrm>
          <a:prstGeom prst="homePlate">
            <a:avLst>
              <a:gd name="adj" fmla="val 50000"/>
            </a:avLst>
          </a:prstGeom>
          <a:solidFill>
            <a:srgbClr val="4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" tIns="0" rIns="127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과제 소개</a:t>
            </a:r>
          </a:p>
        </p:txBody>
      </p:sp>
      <p:sp>
        <p:nvSpPr>
          <p:cNvPr id="5" name="Chevron 4"/>
          <p:cNvSpPr/>
          <p:nvPr/>
        </p:nvSpPr>
        <p:spPr>
          <a:xfrm>
            <a:off x="8122615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" tIns="0" rIns="127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요구사항 분석</a:t>
            </a:r>
          </a:p>
        </p:txBody>
      </p:sp>
      <p:sp>
        <p:nvSpPr>
          <p:cNvPr id="6" name="Chevron 5"/>
          <p:cNvSpPr/>
          <p:nvPr/>
        </p:nvSpPr>
        <p:spPr>
          <a:xfrm>
            <a:off x="9000439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" tIns="0" rIns="127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설계</a:t>
            </a:r>
          </a:p>
        </p:txBody>
      </p:sp>
      <p:sp>
        <p:nvSpPr>
          <p:cNvPr id="7" name="Chevron 6"/>
          <p:cNvSpPr/>
          <p:nvPr/>
        </p:nvSpPr>
        <p:spPr>
          <a:xfrm>
            <a:off x="9878263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" tIns="0" rIns="127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구현 및 검증</a:t>
            </a:r>
          </a:p>
        </p:txBody>
      </p:sp>
      <p:sp>
        <p:nvSpPr>
          <p:cNvPr id="8" name="Chevron 7"/>
          <p:cNvSpPr/>
          <p:nvPr/>
        </p:nvSpPr>
        <p:spPr>
          <a:xfrm>
            <a:off x="10756087" y="274320"/>
            <a:ext cx="1024128" cy="310896"/>
          </a:xfrm>
          <a:prstGeom prst="chevron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" tIns="0" rIns="1270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결론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097766"/>
              </p:ext>
            </p:extLst>
          </p:nvPr>
        </p:nvGraphicFramePr>
        <p:xfrm>
          <a:off x="640080" y="1417320"/>
          <a:ext cx="10908792" cy="444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2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과제명</a:t>
                      </a:r>
                    </a:p>
                  </a:txBody>
                  <a:tcPr marL="1524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50" b="1" i="0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</a:rPr>
                        <a:t>Tizen TV AI Web Agent (AI Browser)</a:t>
                      </a:r>
                    </a:p>
                  </a:txBody>
                  <a:tcPr marL="1524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과제 유형</a:t>
                      </a:r>
                    </a:p>
                  </a:txBody>
                  <a:tcPr marL="1524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1" i="0" dirty="0" err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신규</a:t>
                      </a:r>
                      <a:r>
                        <a:rPr sz="115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50" b="1" i="0" dirty="0" err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플랫폼</a:t>
                      </a:r>
                      <a:r>
                        <a:rPr sz="115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50" b="1" i="0" dirty="0" err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기능</a:t>
                      </a:r>
                      <a:r>
                        <a:rPr sz="115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50" b="1" i="0" dirty="0" err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설계</a:t>
                      </a:r>
                      <a:r>
                        <a:rPr sz="115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 · </a:t>
                      </a:r>
                      <a:r>
                        <a:rPr sz="1150" b="1" i="0" dirty="0" err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아키텍처</a:t>
                      </a:r>
                      <a:r>
                        <a:rPr sz="115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50" b="1" i="0" dirty="0" err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설계</a:t>
                      </a:r>
                      <a:r>
                        <a:rPr sz="115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50" b="1" i="0" dirty="0" err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문서화</a:t>
                      </a:r>
                      <a:r>
                        <a:rPr sz="115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(ADS)</a:t>
                      </a:r>
                    </a:p>
                  </a:txBody>
                  <a:tcPr marL="1524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대상 플랫폼</a:t>
                      </a:r>
                    </a:p>
                  </a:txBody>
                  <a:tcPr marL="1524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Samsung Tizen TV</a:t>
                      </a:r>
                      <a:endParaRPr sz="1050" b="0" i="0" dirty="0">
                        <a:solidFill>
                          <a:srgbClr val="595959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524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과제 목표</a:t>
                      </a:r>
                    </a:p>
                  </a:txBody>
                  <a:tcPr marL="1524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On-Device </a:t>
                      </a:r>
                      <a:r>
                        <a:rPr sz="1200" b="1" i="0" dirty="0" err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하네스</a:t>
                      </a:r>
                      <a:r>
                        <a:rPr sz="120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200" b="1" i="0" dirty="0" err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기반</a:t>
                      </a:r>
                      <a:r>
                        <a:rPr sz="120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 AI Web Agent </a:t>
                      </a:r>
                      <a:r>
                        <a:rPr sz="1200" b="1" i="0" dirty="0" err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설계</a:t>
                      </a:r>
                      <a:endParaRPr sz="950" b="1" i="0" dirty="0">
                        <a:solidFill>
                          <a:srgbClr val="595959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marL="171450" indent="-17145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sz="1100" b="1" i="0" dirty="0" err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음성·자연어로</a:t>
                      </a:r>
                      <a:r>
                        <a:rPr sz="110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위임하면</a:t>
                      </a:r>
                      <a:r>
                        <a:rPr sz="110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02020"/>
                          </a:solidFill>
                          <a:highlight>
                            <a:srgbClr val="C6EFCE"/>
                          </a:highlight>
                          <a:latin typeface="맑은 고딕"/>
                          <a:ea typeface="맑은 고딕"/>
                        </a:rPr>
                        <a:t>에이전트가</a:t>
                      </a:r>
                      <a:r>
                        <a:rPr sz="1100" b="1" i="0" dirty="0">
                          <a:solidFill>
                            <a:srgbClr val="202020"/>
                          </a:solidFill>
                          <a:highlight>
                            <a:srgbClr val="C6EFCE"/>
                          </a:highlight>
                          <a:latin typeface="맑은 고딕"/>
                          <a:ea typeface="맑은 고딕"/>
                        </a:rPr>
                        <a:t> 웹 </a:t>
                      </a:r>
                      <a:r>
                        <a:rPr sz="1100" b="1" i="0" dirty="0" err="1">
                          <a:solidFill>
                            <a:srgbClr val="202020"/>
                          </a:solidFill>
                          <a:highlight>
                            <a:srgbClr val="C6EFCE"/>
                          </a:highlight>
                          <a:latin typeface="맑은 고딕"/>
                          <a:ea typeface="맑은 고딕"/>
                        </a:rPr>
                        <a:t>브라우저를</a:t>
                      </a:r>
                      <a:r>
                        <a:rPr sz="1100" b="1" i="0" dirty="0">
                          <a:solidFill>
                            <a:srgbClr val="202020"/>
                          </a:solidFill>
                          <a:highlight>
                            <a:srgbClr val="C6EFCE"/>
                          </a:highlight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02020"/>
                          </a:solidFill>
                          <a:highlight>
                            <a:srgbClr val="C6EFCE"/>
                          </a:highlight>
                          <a:latin typeface="맑은 고딕"/>
                          <a:ea typeface="맑은 고딕"/>
                        </a:rPr>
                        <a:t>자율</a:t>
                      </a:r>
                      <a:r>
                        <a:rPr sz="1100" b="1" i="0" dirty="0">
                          <a:solidFill>
                            <a:srgbClr val="202020"/>
                          </a:solidFill>
                          <a:highlight>
                            <a:srgbClr val="C6EFCE"/>
                          </a:highlight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02020"/>
                          </a:solidFill>
                          <a:highlight>
                            <a:srgbClr val="C6EFCE"/>
                          </a:highlight>
                          <a:latin typeface="맑은 고딕"/>
                          <a:ea typeface="맑은 고딕"/>
                        </a:rPr>
                        <a:t>조작</a:t>
                      </a:r>
                      <a:r>
                        <a:rPr sz="1100" b="1" i="0" dirty="0" err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해</a:t>
                      </a:r>
                      <a:r>
                        <a:rPr sz="110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태스크</a:t>
                      </a:r>
                      <a:r>
                        <a:rPr sz="110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00" b="1" i="0" dirty="0" err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완료</a:t>
                      </a:r>
                      <a:endParaRPr lang="en-US" sz="1100" b="1" i="0" dirty="0">
                        <a:solidFill>
                          <a:srgbClr val="20202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marL="171450" indent="-17145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Background</a:t>
                      </a:r>
                      <a:r>
                        <a:rPr lang="ko-KR" altLang="en-US" sz="110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에서 태스크 처리를 위한 </a:t>
                      </a:r>
                      <a:r>
                        <a:rPr lang="en-US" altLang="ko-KR" sz="110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Headless </a:t>
                      </a:r>
                      <a:r>
                        <a:rPr lang="ko-KR" altLang="en-US" sz="110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브라우저 지원</a:t>
                      </a:r>
                      <a:endParaRPr lang="en-US" altLang="ko-KR" sz="1100" b="1" i="0" dirty="0">
                        <a:solidFill>
                          <a:srgbClr val="20202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marL="171450" indent="-171450"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AIOS </a:t>
                      </a:r>
                      <a:r>
                        <a:rPr lang="ko-KR" altLang="en-US" sz="110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다른 </a:t>
                      </a:r>
                      <a:r>
                        <a:rPr lang="en-US" altLang="ko-KR" sz="110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Agentic </a:t>
                      </a:r>
                      <a:r>
                        <a:rPr lang="ko-KR" altLang="en-US" sz="110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모듈들과 상호작용할 수 있는 인터페이스 지원</a:t>
                      </a:r>
                      <a:endParaRPr sz="1100" b="1" i="0" dirty="0">
                        <a:solidFill>
                          <a:srgbClr val="20202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524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5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핵심</a:t>
                      </a:r>
                      <a:r>
                        <a:rPr sz="125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25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산출물</a:t>
                      </a:r>
                      <a:endParaRPr sz="125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524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US" sz="120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Web Agent daemon / Headless</a:t>
                      </a:r>
                      <a:r>
                        <a:rPr lang="ko-KR" altLang="en-US" sz="120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 브라우저</a:t>
                      </a:r>
                      <a:endParaRPr lang="en-US" sz="1200" b="1" i="0" dirty="0">
                        <a:solidFill>
                          <a:srgbClr val="20202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dirty="0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Architecture Design Specification (ADS)</a:t>
                      </a:r>
                      <a:endParaRPr sz="1000" b="1" i="0" dirty="0">
                        <a:solidFill>
                          <a:srgbClr val="595959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524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참여 인력</a:t>
                      </a:r>
                    </a:p>
                  </a:txBody>
                  <a:tcPr marL="1524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US" sz="1100" b="1" i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SR : x</a:t>
                      </a:r>
                      <a:r>
                        <a:rPr lang="ko-KR" altLang="en-US" sz="1100" b="1" i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명 </a:t>
                      </a:r>
                      <a:r>
                        <a:rPr lang="en-US" altLang="ko-KR" sz="1100" b="1" i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&lt;</a:t>
                      </a:r>
                      <a:r>
                        <a:rPr lang="ko-KR" altLang="en-US" sz="1100" b="1" i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설계 </a:t>
                      </a:r>
                      <a:r>
                        <a:rPr lang="en-US" altLang="ko-KR" sz="1100" b="1" i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/ </a:t>
                      </a:r>
                      <a:r>
                        <a:rPr lang="ko-KR" altLang="en-US" sz="1100" b="1" i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구현</a:t>
                      </a:r>
                      <a:r>
                        <a:rPr lang="en-US" altLang="ko-KR" sz="1100" b="1" i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&gt;</a:t>
                      </a:r>
                    </a:p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US" sz="1100" b="1" i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VD</a:t>
                      </a:r>
                      <a:r>
                        <a:rPr lang="ko-KR" altLang="en-US" sz="1100" b="1" i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altLang="ko-KR" sz="1100" b="1" i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:</a:t>
                      </a:r>
                      <a:r>
                        <a:rPr lang="ko-KR" altLang="en-US" sz="1100" b="1" i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altLang="ko-KR" sz="1100" b="1" i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x</a:t>
                      </a:r>
                      <a:r>
                        <a:rPr lang="ko-KR" altLang="en-US" sz="1100" b="1" i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명 </a:t>
                      </a:r>
                      <a:r>
                        <a:rPr lang="en-US" altLang="ko-KR" sz="1100" b="1" i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&lt;</a:t>
                      </a:r>
                      <a:r>
                        <a:rPr lang="ko-KR" altLang="en-US" sz="1100" b="1" i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설계 리뷰</a:t>
                      </a:r>
                      <a:r>
                        <a:rPr lang="en-US" altLang="ko-KR" sz="1100" b="1" i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&gt;</a:t>
                      </a:r>
                      <a:endParaRPr sz="1100" b="1" i="1" dirty="0">
                        <a:solidFill>
                          <a:srgbClr val="7F7F7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524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R&amp;R · 역할</a:t>
                      </a:r>
                    </a:p>
                  </a:txBody>
                  <a:tcPr marL="1524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US" sz="1100" b="1" i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S/W </a:t>
                      </a:r>
                      <a:r>
                        <a:rPr lang="ko-KR" altLang="en-US" sz="1100" b="1" i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설계 및 </a:t>
                      </a:r>
                      <a:r>
                        <a:rPr lang="en-US" altLang="ko-KR" sz="1100" b="1" i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TL</a:t>
                      </a:r>
                      <a:endParaRPr sz="1100" b="1" i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524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일정</a:t>
                      </a:r>
                    </a:p>
                  </a:txBody>
                  <a:tcPr marL="1524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US" altLang="ko-KR" sz="1100" b="1" i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`26.01 ~ `26.12</a:t>
                      </a:r>
                    </a:p>
                  </a:txBody>
                  <a:tcPr marL="152400" marR="1016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5961888"/>
            <a:ext cx="10908792" cy="4572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6089178"/>
            <a:ext cx="10469880" cy="2026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dirty="0">
                <a:solidFill>
                  <a:srgbClr val="4FA9C4"/>
                </a:solidFill>
                <a:latin typeface="맑은 고딕"/>
                <a:ea typeface="맑은 고딕"/>
              </a:rPr>
              <a:t>한 줄 </a:t>
            </a:r>
            <a:r>
              <a:rPr sz="1100" b="1" i="0" dirty="0" err="1">
                <a:solidFill>
                  <a:srgbClr val="4FA9C4"/>
                </a:solidFill>
                <a:latin typeface="맑은 고딕"/>
                <a:ea typeface="맑은 고딕"/>
              </a:rPr>
              <a:t>정의</a:t>
            </a:r>
            <a:r>
              <a:rPr sz="1100" b="1" i="0" dirty="0">
                <a:solidFill>
                  <a:srgbClr val="4FA9C4"/>
                </a:solidFill>
                <a:latin typeface="맑은 고딕"/>
                <a:ea typeface="맑은 고딕"/>
              </a:rPr>
              <a:t>  </a:t>
            </a:r>
            <a:r>
              <a:rPr lang="ko-KR" altLang="en-US" sz="1150" b="0" i="0" dirty="0">
                <a:solidFill>
                  <a:srgbClr val="FFFFFF"/>
                </a:solidFill>
                <a:latin typeface="맑은 고딕"/>
                <a:ea typeface="맑은 고딕"/>
              </a:rPr>
              <a:t> 사용자의 자연어 의도를 이해하고 웹 브라우저를 자율 조작해 태스크를 완료하는 </a:t>
            </a:r>
            <a:r>
              <a:rPr lang="en-US" altLang="ko-KR" sz="1150" b="0" i="0" dirty="0">
                <a:solidFill>
                  <a:srgbClr val="FFFFFF"/>
                </a:solidFill>
                <a:latin typeface="맑은 고딕"/>
                <a:ea typeface="맑은 고딕"/>
              </a:rPr>
              <a:t>On-Device </a:t>
            </a:r>
            <a:r>
              <a:rPr lang="ko-KR" altLang="en-US" sz="1150" b="0" i="0" dirty="0" err="1">
                <a:solidFill>
                  <a:srgbClr val="FFFFFF"/>
                </a:solidFill>
                <a:latin typeface="맑은 고딕"/>
                <a:ea typeface="맑은 고딕"/>
              </a:rPr>
              <a:t>하네스</a:t>
            </a:r>
            <a:r>
              <a:rPr lang="ko-KR" altLang="en-US" sz="1150" b="0" i="0" dirty="0">
                <a:solidFill>
                  <a:srgbClr val="FFFFFF"/>
                </a:solidFill>
                <a:latin typeface="맑은 고딕"/>
                <a:ea typeface="맑은 고딕"/>
              </a:rPr>
              <a:t> 기반 </a:t>
            </a:r>
            <a:r>
              <a:rPr lang="en-US" altLang="ko-KR" sz="1150" b="0" i="0" dirty="0">
                <a:solidFill>
                  <a:srgbClr val="FFFFFF"/>
                </a:solidFill>
                <a:latin typeface="맑은 고딕"/>
                <a:ea typeface="맑은 고딕"/>
              </a:rPr>
              <a:t>AI Web Agent</a:t>
            </a:r>
            <a:endParaRPr sz="1150" b="0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grpSp>
        <p:nvGrpSpPr>
          <p:cNvPr id="31" name="과제목표_도해">
            <a:extLst>
              <a:ext uri="{FF2B5EF4-FFF2-40B4-BE49-F238E27FC236}">
                <a16:creationId xmlns:a16="http://schemas.microsoft.com/office/drawing/2014/main" id="{A1352BB0-EB57-2E54-DF29-C4D61C9C02DC}"/>
              </a:ext>
            </a:extLst>
          </p:cNvPr>
          <p:cNvGrpSpPr/>
          <p:nvPr/>
        </p:nvGrpSpPr>
        <p:grpSpPr>
          <a:xfrm>
            <a:off x="8255000" y="1570101"/>
            <a:ext cx="2870200" cy="4167898"/>
            <a:chOff x="8255000" y="1570101"/>
            <a:chExt cx="2870200" cy="4167898"/>
          </a:xfrm>
        </p:grpSpPr>
        <p:sp>
          <p:nvSpPr>
            <p:cNvPr id="12" name="FIG_C1">
              <a:extLst>
                <a:ext uri="{FF2B5EF4-FFF2-40B4-BE49-F238E27FC236}">
                  <a16:creationId xmlns:a16="http://schemas.microsoft.com/office/drawing/2014/main" id="{AF21EAAC-9D21-E6CA-5D38-1DD3E967BE3B}"/>
                </a:ext>
              </a:extLst>
            </p:cNvPr>
            <p:cNvSpPr/>
            <p:nvPr/>
          </p:nvSpPr>
          <p:spPr>
            <a:xfrm>
              <a:off x="8632825" y="1570101"/>
              <a:ext cx="2446020" cy="1195832"/>
            </a:xfrm>
            <a:prstGeom prst="roundRect">
              <a:avLst>
                <a:gd name="adj" fmla="val 9000"/>
              </a:avLst>
            </a:prstGeom>
            <a:solidFill>
              <a:srgbClr val="1F3864"/>
            </a:solidFill>
            <a:ln w="9525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accent1">
                      <a:shade val="95000"/>
                      <a:satMod val="105000"/>
                    </a:schemeClr>
                  </a:solidFill>
                  <a:prstDash val="soli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a14:hiddenEffects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FIG_C2">
              <a:extLst>
                <a:ext uri="{FF2B5EF4-FFF2-40B4-BE49-F238E27FC236}">
                  <a16:creationId xmlns:a16="http://schemas.microsoft.com/office/drawing/2014/main" id="{A2D1E68F-444A-D231-985B-E5A4B650D5FA}"/>
                </a:ext>
              </a:extLst>
            </p:cNvPr>
            <p:cNvSpPr/>
            <p:nvPr/>
          </p:nvSpPr>
          <p:spPr>
            <a:xfrm>
              <a:off x="8632825" y="2901823"/>
              <a:ext cx="2446020" cy="1168654"/>
            </a:xfrm>
            <a:prstGeom prst="roundRect">
              <a:avLst>
                <a:gd name="adj" fmla="val 9000"/>
              </a:avLst>
            </a:prstGeom>
            <a:solidFill>
              <a:srgbClr val="F7F9FC"/>
            </a:solidFill>
            <a:ln w="12700">
              <a:solidFill>
                <a:srgbClr val="C7D0DE"/>
              </a:solidFill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a14:hiddenEffects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FIG_C3">
              <a:extLst>
                <a:ext uri="{FF2B5EF4-FFF2-40B4-BE49-F238E27FC236}">
                  <a16:creationId xmlns:a16="http://schemas.microsoft.com/office/drawing/2014/main" id="{11E5D045-6A51-C888-50E9-CB99DD14C892}"/>
                </a:ext>
              </a:extLst>
            </p:cNvPr>
            <p:cNvSpPr/>
            <p:nvPr/>
          </p:nvSpPr>
          <p:spPr>
            <a:xfrm>
              <a:off x="8632825" y="4206367"/>
              <a:ext cx="2446020" cy="1168654"/>
            </a:xfrm>
            <a:prstGeom prst="roundRect">
              <a:avLst>
                <a:gd name="adj" fmla="val 9000"/>
              </a:avLst>
            </a:prstGeom>
            <a:solidFill>
              <a:srgbClr val="F7F9FC"/>
            </a:solidFill>
            <a:ln w="12700">
              <a:solidFill>
                <a:srgbClr val="C7D0DE"/>
              </a:solidFill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a14:hiddenEffects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FIG_B1">
              <a:extLst>
                <a:ext uri="{FF2B5EF4-FFF2-40B4-BE49-F238E27FC236}">
                  <a16:creationId xmlns:a16="http://schemas.microsoft.com/office/drawing/2014/main" id="{4B9BC34B-F75B-3FB2-1C93-922315063EC0}"/>
                </a:ext>
              </a:extLst>
            </p:cNvPr>
            <p:cNvSpPr/>
            <p:nvPr/>
          </p:nvSpPr>
          <p:spPr>
            <a:xfrm>
              <a:off x="8699500" y="1638300"/>
              <a:ext cx="190500" cy="190500"/>
            </a:xfrm>
            <a:prstGeom prst="ellipse">
              <a:avLst/>
            </a:prstGeom>
            <a:solidFill>
              <a:srgbClr val="1F3864"/>
            </a:solidFill>
            <a:ln w="15875">
              <a:solidFill>
                <a:srgbClr val="FFFFFF"/>
              </a:solidFill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a14:hiddenEffects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b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lang="ko-KR" altLang="en-US" sz="9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" name="FIG_B2">
              <a:extLst>
                <a:ext uri="{FF2B5EF4-FFF2-40B4-BE49-F238E27FC236}">
                  <a16:creationId xmlns:a16="http://schemas.microsoft.com/office/drawing/2014/main" id="{CE33D33F-923C-9893-411E-8D2F61258169}"/>
                </a:ext>
              </a:extLst>
            </p:cNvPr>
            <p:cNvSpPr/>
            <p:nvPr/>
          </p:nvSpPr>
          <p:spPr>
            <a:xfrm>
              <a:off x="8699500" y="2971800"/>
              <a:ext cx="190500" cy="190500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1F3864"/>
              </a:solidFill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a14:hiddenEffects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b="1">
                  <a:solidFill>
                    <a:srgbClr val="1F3864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lang="ko-KR" altLang="en-US" sz="900" b="1">
                <a:solidFill>
                  <a:srgbClr val="1F3864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" name="FIG_B3">
              <a:extLst>
                <a:ext uri="{FF2B5EF4-FFF2-40B4-BE49-F238E27FC236}">
                  <a16:creationId xmlns:a16="http://schemas.microsoft.com/office/drawing/2014/main" id="{9E132B10-FC87-DFD1-3F1A-D64015479C2C}"/>
                </a:ext>
              </a:extLst>
            </p:cNvPr>
            <p:cNvSpPr/>
            <p:nvPr/>
          </p:nvSpPr>
          <p:spPr>
            <a:xfrm>
              <a:off x="8699500" y="4279900"/>
              <a:ext cx="190500" cy="190500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1F3864"/>
              </a:solidFill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</a14:hiddenEffects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b="1">
                  <a:solidFill>
                    <a:srgbClr val="1F3864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</a:t>
              </a:r>
              <a:endParaRPr lang="ko-KR" altLang="en-US" sz="900" b="1">
                <a:solidFill>
                  <a:srgbClr val="1F3864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9" name="FIG_I1">
              <a:extLst>
                <a:ext uri="{FF2B5EF4-FFF2-40B4-BE49-F238E27FC236}">
                  <a16:creationId xmlns:a16="http://schemas.microsoft.com/office/drawing/2014/main" id="{3625113D-CD82-BEAA-8E7E-79522954B6D2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74100" y="1905000"/>
              <a:ext cx="736600" cy="615950"/>
            </a:xfrm>
            <a:prstGeom prst="rect">
              <a:avLst/>
            </a:prstGeom>
          </p:spPr>
        </p:pic>
        <p:pic>
          <p:nvPicPr>
            <p:cNvPr id="21" name="FIG_I2">
              <a:extLst>
                <a:ext uri="{FF2B5EF4-FFF2-40B4-BE49-F238E27FC236}">
                  <a16:creationId xmlns:a16="http://schemas.microsoft.com/office/drawing/2014/main" id="{3FA9B4FF-66A7-38D6-6ABC-3D05934630F8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12200" y="3238500"/>
              <a:ext cx="635000" cy="533400"/>
            </a:xfrm>
            <a:prstGeom prst="rect">
              <a:avLst/>
            </a:prstGeom>
          </p:spPr>
        </p:pic>
        <p:pic>
          <p:nvPicPr>
            <p:cNvPr id="23" name="FIG_I3">
              <a:extLst>
                <a:ext uri="{FF2B5EF4-FFF2-40B4-BE49-F238E27FC236}">
                  <a16:creationId xmlns:a16="http://schemas.microsoft.com/office/drawing/2014/main" id="{7EF0DECC-A34B-EC72-17DE-C9C764DD152A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12200" y="4521200"/>
              <a:ext cx="635000" cy="584200"/>
            </a:xfrm>
            <a:prstGeom prst="rect">
              <a:avLst/>
            </a:prstGeom>
          </p:spPr>
        </p:pic>
        <p:sp>
          <p:nvSpPr>
            <p:cNvPr id="24" name="FIG_T1">
              <a:extLst>
                <a:ext uri="{FF2B5EF4-FFF2-40B4-BE49-F238E27FC236}">
                  <a16:creationId xmlns:a16="http://schemas.microsoft.com/office/drawing/2014/main" id="{87AA5730-CBA4-F1F9-1B3E-CCE7FDB1E2C7}"/>
                </a:ext>
              </a:extLst>
            </p:cNvPr>
            <p:cNvSpPr txBox="1"/>
            <p:nvPr/>
          </p:nvSpPr>
          <p:spPr>
            <a:xfrm>
              <a:off x="9423400" y="1930400"/>
              <a:ext cx="16256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ko-KR" altLang="en-US" sz="1000" b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웹 브라우저 자율 조작</a:t>
              </a:r>
            </a:p>
          </p:txBody>
        </p:sp>
        <p:sp>
          <p:nvSpPr>
            <p:cNvPr id="25" name="FIG_S1">
              <a:extLst>
                <a:ext uri="{FF2B5EF4-FFF2-40B4-BE49-F238E27FC236}">
                  <a16:creationId xmlns:a16="http://schemas.microsoft.com/office/drawing/2014/main" id="{7A6798ED-2F09-7770-1518-20837C011A77}"/>
                </a:ext>
              </a:extLst>
            </p:cNvPr>
            <p:cNvSpPr txBox="1"/>
            <p:nvPr/>
          </p:nvSpPr>
          <p:spPr>
            <a:xfrm>
              <a:off x="9448800" y="2184400"/>
              <a:ext cx="16002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ko-KR" altLang="en-US" sz="800">
                  <a:solidFill>
                    <a:srgbClr val="C5D2E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음성</a:t>
              </a:r>
              <a:r>
                <a:rPr lang="en-US" altLang="ko-KR" sz="800">
                  <a:solidFill>
                    <a:srgbClr val="C5D2E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·</a:t>
              </a:r>
              <a:r>
                <a:rPr lang="ko-KR" altLang="en-US" sz="800">
                  <a:solidFill>
                    <a:srgbClr val="C5D2E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자연어로 위임하면</a:t>
              </a:r>
            </a:p>
            <a:p>
              <a:r>
                <a:rPr lang="ko-KR" altLang="en-US" sz="800">
                  <a:solidFill>
                    <a:srgbClr val="C5D2E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에이전트가 태스크까지 완료</a:t>
              </a:r>
            </a:p>
          </p:txBody>
        </p:sp>
        <p:sp>
          <p:nvSpPr>
            <p:cNvPr id="26" name="FIG_T2">
              <a:extLst>
                <a:ext uri="{FF2B5EF4-FFF2-40B4-BE49-F238E27FC236}">
                  <a16:creationId xmlns:a16="http://schemas.microsoft.com/office/drawing/2014/main" id="{1D010E7C-C8D6-EDAE-ECA1-440C896D9700}"/>
                </a:ext>
              </a:extLst>
            </p:cNvPr>
            <p:cNvSpPr txBox="1"/>
            <p:nvPr/>
          </p:nvSpPr>
          <p:spPr>
            <a:xfrm>
              <a:off x="9423400" y="3175000"/>
              <a:ext cx="16256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altLang="ko-KR" sz="1000" b="1" dirty="0">
                  <a:solidFill>
                    <a:srgbClr val="1F3864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Headless </a:t>
              </a:r>
              <a:r>
                <a:rPr lang="ko-KR" altLang="en-US" sz="1000" b="1" dirty="0">
                  <a:solidFill>
                    <a:srgbClr val="1F3864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브라우저 지원</a:t>
              </a:r>
            </a:p>
          </p:txBody>
        </p:sp>
        <p:sp>
          <p:nvSpPr>
            <p:cNvPr id="27" name="FIG_S2">
              <a:extLst>
                <a:ext uri="{FF2B5EF4-FFF2-40B4-BE49-F238E27FC236}">
                  <a16:creationId xmlns:a16="http://schemas.microsoft.com/office/drawing/2014/main" id="{E1636720-A294-CE7F-2408-17B9B424D8C2}"/>
                </a:ext>
              </a:extLst>
            </p:cNvPr>
            <p:cNvSpPr txBox="1"/>
            <p:nvPr/>
          </p:nvSpPr>
          <p:spPr>
            <a:xfrm>
              <a:off x="9448800" y="3429000"/>
              <a:ext cx="16002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altLang="ko-KR" sz="800" dirty="0">
                  <a:solidFill>
                    <a:srgbClr val="6B7A9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Background</a:t>
              </a:r>
              <a:r>
                <a:rPr lang="ko-KR" altLang="en-US" sz="800" dirty="0">
                  <a:solidFill>
                    <a:srgbClr val="6B7A9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에서</a:t>
              </a:r>
            </a:p>
            <a:p>
              <a:r>
                <a:rPr lang="ko-KR" altLang="en-US" sz="800" dirty="0">
                  <a:solidFill>
                    <a:srgbClr val="6B7A9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태스크 처리 수행</a:t>
              </a:r>
            </a:p>
          </p:txBody>
        </p:sp>
        <p:sp>
          <p:nvSpPr>
            <p:cNvPr id="28" name="FIG_T3">
              <a:extLst>
                <a:ext uri="{FF2B5EF4-FFF2-40B4-BE49-F238E27FC236}">
                  <a16:creationId xmlns:a16="http://schemas.microsoft.com/office/drawing/2014/main" id="{4DE41EC7-3381-F303-E7E2-B18AF3A09230}"/>
                </a:ext>
              </a:extLst>
            </p:cNvPr>
            <p:cNvSpPr txBox="1"/>
            <p:nvPr/>
          </p:nvSpPr>
          <p:spPr>
            <a:xfrm>
              <a:off x="9423400" y="4483100"/>
              <a:ext cx="16256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altLang="ko-KR" sz="1000" b="1">
                  <a:solidFill>
                    <a:srgbClr val="1F3864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Agentic </a:t>
              </a:r>
              <a:r>
                <a:rPr lang="ko-KR" altLang="en-US" sz="1000" b="1">
                  <a:solidFill>
                    <a:srgbClr val="1F3864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모듈 인터페이스</a:t>
              </a:r>
            </a:p>
          </p:txBody>
        </p:sp>
        <p:sp>
          <p:nvSpPr>
            <p:cNvPr id="29" name="FIG_S3">
              <a:extLst>
                <a:ext uri="{FF2B5EF4-FFF2-40B4-BE49-F238E27FC236}">
                  <a16:creationId xmlns:a16="http://schemas.microsoft.com/office/drawing/2014/main" id="{E299BAC5-E0CF-F394-BEBB-49D420A7B3FF}"/>
                </a:ext>
              </a:extLst>
            </p:cNvPr>
            <p:cNvSpPr txBox="1"/>
            <p:nvPr/>
          </p:nvSpPr>
          <p:spPr>
            <a:xfrm>
              <a:off x="9448800" y="4737100"/>
              <a:ext cx="16002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r>
                <a:rPr lang="en-US" altLang="ko-KR" sz="800">
                  <a:solidFill>
                    <a:srgbClr val="6B7A9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AIOS </a:t>
              </a:r>
              <a:r>
                <a:rPr lang="ko-KR" altLang="en-US" sz="800">
                  <a:solidFill>
                    <a:srgbClr val="6B7A9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다른 에이전트</a:t>
              </a:r>
            </a:p>
            <a:p>
              <a:r>
                <a:rPr lang="ko-KR" altLang="en-US" sz="800">
                  <a:solidFill>
                    <a:srgbClr val="6B7A9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모듈과 상호작용</a:t>
              </a:r>
            </a:p>
          </p:txBody>
        </p:sp>
        <p:sp>
          <p:nvSpPr>
            <p:cNvPr id="30" name="FIG_CAP">
              <a:extLst>
                <a:ext uri="{FF2B5EF4-FFF2-40B4-BE49-F238E27FC236}">
                  <a16:creationId xmlns:a16="http://schemas.microsoft.com/office/drawing/2014/main" id="{2437C02E-4392-94F8-2E47-3988E83EADB5}"/>
                </a:ext>
              </a:extLst>
            </p:cNvPr>
            <p:cNvSpPr txBox="1"/>
            <p:nvPr/>
          </p:nvSpPr>
          <p:spPr>
            <a:xfrm>
              <a:off x="8255000" y="5461000"/>
              <a:ext cx="28702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en-US" altLang="ko-KR" sz="900" b="1">
                  <a:solidFill>
                    <a:srgbClr val="1F3864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On-Device </a:t>
              </a:r>
              <a:r>
                <a:rPr lang="ko-KR" altLang="en-US" sz="900" b="1">
                  <a:solidFill>
                    <a:srgbClr val="1F3864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하네스 기반 </a:t>
              </a:r>
              <a:r>
                <a:rPr lang="en-US" altLang="ko-KR" sz="900" b="1">
                  <a:solidFill>
                    <a:srgbClr val="1F3864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AI Web Agent </a:t>
              </a:r>
              <a:r>
                <a:rPr lang="ko-KR" altLang="en-US" sz="900" b="1">
                  <a:solidFill>
                    <a:srgbClr val="1F3864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설계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1140</Words>
  <Application>Microsoft Office PowerPoint</Application>
  <PresentationFormat>와이드스크린</PresentationFormat>
  <Paragraphs>211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Sunwoo Nam</cp:lastModifiedBy>
  <cp:revision>3</cp:revision>
  <dcterms:created xsi:type="dcterms:W3CDTF">2013-01-27T09:14:16Z</dcterms:created>
  <dcterms:modified xsi:type="dcterms:W3CDTF">2026-06-30T15:37:46Z</dcterms:modified>
  <cp:category/>
</cp:coreProperties>
</file>
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9326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맑은 고딕"/>
                <a:ea typeface="맑은 고딕"/>
              </a:rPr>
              <a:t>Tizen TV AI Web Agent — System Context (C4 L1, 스코프 경계)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19" y="548640"/>
            <a:ext cx="7680960" cy="5166360"/>
          </a:xfrm>
          <a:prstGeom prst="rect">
            <a:avLst/>
          </a:prstGeom>
          <a:noFill/>
          <a:ln w="15875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5760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맑은 고딕"/>
                <a:ea typeface="맑은 고딕"/>
              </a:rPr>
              <a:t>Tizen TV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868680"/>
            <a:ext cx="16459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</a:rPr>
              <a:t>Bixby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음성 진입점 · 발화 전사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(out-of-scope)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868680"/>
            <a:ext cx="21031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</a:rPr>
              <a:t>argot (Main Agent)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질의 라우팅 · 결과 표시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(out-of-scope — 호출 계약만 소관)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868680"/>
            <a:ext cx="21031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</a:rPr>
              <a:t>GenUI Renderer (entry app)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카드 · UI 렌더링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(out-of-scope — GNUI 계약만)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286000"/>
            <a:ext cx="4297680" cy="16916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 i="0">
                <a:solidFill>
                  <a:srgbClr val="000000"/>
                </a:solidFill>
                <a:latin typeface="맑은 고딕"/>
                <a:ea typeface="맑은 고딕"/>
              </a:rPr>
              <a:t>AI Web Agent (본 시스템)</a:t>
            </a:r>
          </a:p>
          <a:p>
            <a:pPr algn="ctr"/>
            <a:r>
              <a:rPr sz="950" b="0" i="0">
                <a:solidFill>
                  <a:srgbClr val="000000"/>
                </a:solidFill>
                <a:latin typeface="맑은 고딕"/>
                <a:ea typeface="맑은 고딕"/>
              </a:rPr>
              <a:t>On-Device 에이전트 하네스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의도 해석 · Quick Action 라우팅 · 에이전트 루프(계획·실행)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브라우저 제어(CDP) · 콘텐츠 파이프라인(DOM→모델 입력)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HITL 게이트 · 체크포인트·재개 · PII 마스킹·보존 제어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트레이스·토큰 계측 · 표준 Skill 인터페이스 제공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4617720"/>
            <a:ext cx="26974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맑은 고딕"/>
                <a:ea typeface="맑은 고딕"/>
              </a:rPr>
              <a:t>Chromium Web Engine / Web Runtime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CDP · Browser Session 공급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(웹 엔진 팀 소유, 3.2.3 — TC-001)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617720"/>
            <a:ext cx="205740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맑은 고딕"/>
                <a:ea typeface="맑은 고딕"/>
              </a:rPr>
              <a:t>Tizen 플랫폼 서비스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생명주기 이벤트(슬립·복귀)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자원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4617720"/>
            <a:ext cx="20116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i="0">
                <a:solidFill>
                  <a:srgbClr val="000000"/>
                </a:solidFill>
                <a:latin typeface="맑은 고딕"/>
                <a:ea typeface="맑은 고딕"/>
              </a:rPr>
              <a:t>자격증명 저장소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플랫폼/브라우저 보관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(저장·암호화는 범위 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868680"/>
            <a:ext cx="2148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</a:rPr>
              <a:t>외부 에이전트 플랫폼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MCP 클라이언트 등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(잠재 호출자 — TC-006, 3.6 제약)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2468880"/>
            <a:ext cx="2148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</a:rPr>
              <a:t>Cloud LLM API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추론(reasoning) 수행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(3.6 제약 — 공급사는 범주 취급)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21240" y="3977639"/>
            <a:ext cx="2148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  <a:ea typeface="맑은 고딕"/>
              </a:rPr>
              <a:t>제3자 웹 서비스</a:t>
            </a:r>
          </a:p>
          <a:p>
            <a:pPr algn="ctr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이커머스 · 예약 · OTT · 포털</a:t>
            </a:r>
          </a:p>
          <a:p>
            <a:pPr algn="ctr"/>
            <a:r>
              <a:rPr sz="800" b="0" i="1">
                <a:solidFill>
                  <a:srgbClr val="666666"/>
                </a:solidFill>
                <a:latin typeface="맑은 고딕"/>
                <a:ea typeface="맑은 고딕"/>
              </a:rPr>
              <a:t>(3.6 제약 — 접근 정책 소유)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맑은 고딕"/>
                <a:ea typeface="맑은 고딕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97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맑은 고딕"/>
                <a:ea typeface="맑은 고딕"/>
              </a:rPr>
              <a:t>사용자</a:t>
            </a:r>
          </a:p>
          <a:p>
            <a:pPr algn="ctr"/>
            <a:r>
              <a:rPr sz="850" b="0" i="0">
                <a:solidFill>
                  <a:srgbClr val="666666"/>
                </a:solidFill>
                <a:latin typeface="맑은 고딕"/>
                <a:ea typeface="맑은 고딕"/>
              </a:rPr>
              <a:t>(일반·고령, 3.3)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맑은 고딕"/>
                <a:ea typeface="맑은 고딕"/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54406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맑은 고딕"/>
                <a:ea typeface="맑은 고딕"/>
              </a:rPr>
              <a:t>SW 개발팀 · 운영자</a:t>
            </a:r>
          </a:p>
          <a:p>
            <a:pPr algn="ctr"/>
            <a:r>
              <a:rPr sz="850" b="0" i="0">
                <a:solidFill>
                  <a:srgbClr val="666666"/>
                </a:solidFill>
                <a:latin typeface="맑은 고딕"/>
                <a:ea typeface="맑은 고딕"/>
              </a:rPr>
              <a:t>(3.2.4 / 3.2.7)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325880" y="1371600"/>
            <a:ext cx="777240" cy="9601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0" y="1252728"/>
            <a:ext cx="6858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1645920"/>
            <a:ext cx="0" cy="6400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806440" y="1645920"/>
            <a:ext cx="0" cy="6400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86600" y="1645920"/>
            <a:ext cx="640079" cy="6400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2788920"/>
            <a:ext cx="2057400" cy="1371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589520" y="475488"/>
            <a:ext cx="0" cy="393192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05840" y="475488"/>
            <a:ext cx="6583680" cy="0"/>
          </a:xfrm>
          <a:prstGeom prst="line">
            <a:avLst/>
          </a:prstGeom>
          <a:ln w="1587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" y="475488"/>
            <a:ext cx="0" cy="1700784"/>
          </a:xfrm>
          <a:prstGeom prst="line">
            <a:avLst/>
          </a:prstGeom>
          <a:ln w="15875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703320" y="3977639"/>
            <a:ext cx="320040" cy="640081"/>
          </a:xfrm>
          <a:prstGeom prst="line">
            <a:avLst/>
          </a:prstGeom>
          <a:ln w="1587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3977639"/>
            <a:ext cx="0" cy="640081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23760" y="3977639"/>
            <a:ext cx="1005840" cy="640081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18120" y="2926080"/>
            <a:ext cx="2103120" cy="0"/>
          </a:xfrm>
          <a:prstGeom prst="line">
            <a:avLst/>
          </a:prstGeom>
          <a:ln w="1587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474720" y="5504688"/>
            <a:ext cx="0" cy="6217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74720" y="6126480"/>
            <a:ext cx="61722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646920" y="4617720"/>
            <a:ext cx="0" cy="150876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46920" y="4617720"/>
            <a:ext cx="2743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18120" y="3520440"/>
            <a:ext cx="2103120" cy="640080"/>
          </a:xfrm>
          <a:prstGeom prst="line">
            <a:avLst/>
          </a:prstGeom>
          <a:ln w="15875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818120" y="1280160"/>
            <a:ext cx="2103120" cy="1207008"/>
          </a:xfrm>
          <a:prstGeom prst="line">
            <a:avLst/>
          </a:prstGeom>
          <a:ln w="15875">
            <a:solidFill>
              <a:srgbClr val="00000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05840" y="3703320"/>
            <a:ext cx="0" cy="118872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5840" y="3703320"/>
            <a:ext cx="2514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07008" y="1627632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음성 발화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969264"/>
            <a:ext cx="822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발화 전사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1755648"/>
            <a:ext cx="12984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Sub-Agent/Skill 호출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(TC-005·FR-025)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1755648"/>
            <a:ext cx="1234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구조화 결과 반환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(FR-027)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19385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GenUI 계약 — 콘텐츠·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진행 상황 전달 (GNUI)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248716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리모컨 입력 · HITL 응답·취소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39" y="455187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화면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12848" y="4114800"/>
            <a:ext cx="1691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CDP 명령 / DOM·접근성 트리 (TC-001)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8192" y="416052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생명주기 이벤트 (FR-023)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4041648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자격증명 사용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(FR-012 · NFR-018)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2542032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추론 요청/응답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(TC-002 · PII 마스킹 NFR-018)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614476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HTTP(S) 페이지 로드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3675887"/>
            <a:ext cx="1691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Agent-ID 식별 · 접근 정책 준수 (FR-028/029)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1481328"/>
            <a:ext cx="16916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표준 인터페이스 호출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(잠재 — TC-006)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3383280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트레이스·토큰 계측 조회 (FR-030/031)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21240" y="5212080"/>
            <a:ext cx="21488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스코프 범례</a:t>
            </a:r>
          </a:p>
          <a:p>
            <a:pPr algn="l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굵은 실선: In-Scope (본 시스템)</a:t>
            </a:r>
          </a:p>
          <a:p>
            <a:pPr algn="l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점선 상자: out-of-scope (계약·제약으로만)</a:t>
            </a:r>
          </a:p>
          <a:p>
            <a:pPr algn="l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회색 상자: 플랫폼 공급 요소</a:t>
            </a:r>
          </a:p>
          <a:p>
            <a:pPr algn="l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- -▷ : 정책·잠재 상호작용</a:t>
            </a:r>
          </a:p>
          <a:p>
            <a:pPr algn="l"/>
            <a:r>
              <a:rPr sz="750" b="0" i="0">
                <a:solidFill>
                  <a:srgbClr val="666666"/>
                </a:solidFill>
                <a:latin typeface="맑은 고딕"/>
                <a:ea typeface="맑은 고딕"/>
              </a:rPr>
              <a:t>범위 제외: GWP, 모델 추상화 계층, 자격증명 저장·암호화, GenUI 렌더링 엔진, Bixby·argot 설계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56539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0">
                <a:solidFill>
                  <a:srgbClr val="666666"/>
                </a:solidFill>
                <a:latin typeface="맑은 고딕"/>
                <a:ea typeface="맑은 고딕"/>
              </a:rPr>
              <a:t>근거: diagrams/05-context-diagram.drawio · docs/02-project-overview.md (시스템 컨텍스트)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410</Words>
  <Application>Microsoft Office PowerPoint</Application>
  <PresentationFormat>와이드스크린</PresentationFormat>
  <Paragraphs>69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Sunwoo Nam</cp:lastModifiedBy>
  <cp:revision>2</cp:revision>
  <dcterms:created xsi:type="dcterms:W3CDTF">2013-01-27T09:14:16Z</dcterms:created>
  <dcterms:modified xsi:type="dcterms:W3CDTF">2026-07-12T16:30:55Z</dcterms:modified>
  <cp:category/>
</cp:coreProperties>
</file>
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52" d="100"/>
          <a:sy n="152" d="100"/>
        </p:scale>
        <p:origin x="604" y="10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spPr>
            <a:solidFill>
              <a:srgbClr val="7F7F7F"/>
            </a:solidFill>
          </c:spPr>
          <c:invertIfNegative val="1"/>
          <c:dPt>
            <c:idx val="0"/>
            <c:invertIfNegative val="1"/>
            <c:bubble3D val="0"/>
            <c:extLst>
              <c:ext xmlns:c16="http://schemas.microsoft.com/office/drawing/2014/chart" uri="{C3380CC4-5D6E-409C-BE32-E72D297353CC}">
                <c16:uniqueId val="{00000001-61D4-4955-9A7E-8BD4C3764BD6}"/>
              </c:ext>
            </c:extLst>
          </c:dPt>
          <c:dPt>
            <c:idx val="1"/>
            <c:invertIfNegative val="1"/>
            <c:bubble3D val="0"/>
            <c:spPr>
              <a:solidFill>
                <a:srgbClr val="1F3864"/>
              </a:solidFill>
            </c:spPr>
            <c:extLst>
              <c:ext xmlns:c16="http://schemas.microsoft.com/office/drawing/2014/chart" uri="{C3380CC4-5D6E-409C-BE32-E72D297353CC}">
                <c16:uniqueId val="{00000003-61D4-4955-9A7E-8BD4C3764BD6}"/>
              </c:ext>
            </c:extLst>
          </c:dPt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1">
                    <a:solidFill>
                      <a:srgbClr val="1F3864"/>
                    </a:solidFill>
                    <a:latin typeface="맑은 고딕"/>
                  </a:defRPr>
                </a:pPr>
                <a:endParaRPr lang="ko-K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2025</c:v>
                </c:pt>
                <c:pt idx="1">
                  <c:v>2030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7.84</c:v>
                </c:pt>
                <c:pt idx="1">
                  <c:v>52.62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4-61D4-4955-9A7E-8BD4C3764BD6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>
            <a:solidFill>
              <a:srgbClr val="BBBBBB"/>
            </a:solidFill>
          </a:ln>
        </c:spPr>
        <c:txPr>
          <a:bodyPr/>
          <a:lstStyle/>
          <a:p>
            <a:pPr>
              <a:defRPr sz="900">
                <a:latin typeface="맑은 고딕"/>
              </a:defRPr>
            </a:pPr>
            <a:endParaRPr lang="ko-K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spPr>
            <a:solidFill>
              <a:srgbClr val="7F7F7F"/>
            </a:solidFill>
          </c:spPr>
          <c:invertIfNegative val="1"/>
          <c:dPt>
            <c:idx val="0"/>
            <c:invertIfNegative val="1"/>
            <c:bubble3D val="0"/>
            <c:extLst>
              <c:ext xmlns:c16="http://schemas.microsoft.com/office/drawing/2014/chart" uri="{C3380CC4-5D6E-409C-BE32-E72D297353CC}">
                <c16:uniqueId val="{00000001-D37C-46BB-B8DA-F2A14EB1E5F8}"/>
              </c:ext>
            </c:extLst>
          </c:dPt>
          <c:dPt>
            <c:idx val="1"/>
            <c:invertIfNegative val="1"/>
            <c:bubble3D val="0"/>
            <c:extLst>
              <c:ext xmlns:c16="http://schemas.microsoft.com/office/drawing/2014/chart" uri="{C3380CC4-5D6E-409C-BE32-E72D297353CC}">
                <c16:uniqueId val="{00000003-D37C-46BB-B8DA-F2A14EB1E5F8}"/>
              </c:ext>
            </c:extLst>
          </c:dPt>
          <c:dPt>
            <c:idx val="2"/>
            <c:invertIfNegative val="1"/>
            <c:bubble3D val="0"/>
            <c:spPr>
              <a:solidFill>
                <a:srgbClr val="2E5BA8"/>
              </a:solidFill>
            </c:spPr>
            <c:extLst>
              <c:ext xmlns:c16="http://schemas.microsoft.com/office/drawing/2014/chart" uri="{C3380CC4-5D6E-409C-BE32-E72D297353CC}">
                <c16:uniqueId val="{00000005-D37C-46BB-B8DA-F2A14EB1E5F8}"/>
              </c:ext>
            </c:extLst>
          </c:dPt>
          <c:dPt>
            <c:idx val="3"/>
            <c:invertIfNegative val="1"/>
            <c:bubble3D val="0"/>
            <c:spPr>
              <a:solidFill>
                <a:srgbClr val="2E5BA8"/>
              </a:solidFill>
            </c:spPr>
            <c:extLst>
              <c:ext xmlns:c16="http://schemas.microsoft.com/office/drawing/2014/chart" uri="{C3380CC4-5D6E-409C-BE32-E72D297353CC}">
                <c16:uniqueId val="{00000007-D37C-46BB-B8DA-F2A14EB1E5F8}"/>
              </c:ext>
            </c:extLst>
          </c:dPt>
          <c:dPt>
            <c:idx val="4"/>
            <c:invertIfNegative val="1"/>
            <c:bubble3D val="0"/>
            <c:spPr>
              <a:solidFill>
                <a:srgbClr val="1E9E5A"/>
              </a:solidFill>
            </c:spPr>
            <c:extLst>
              <c:ext xmlns:c16="http://schemas.microsoft.com/office/drawing/2014/chart" uri="{C3380CC4-5D6E-409C-BE32-E72D297353CC}">
                <c16:uniqueId val="{00000009-D37C-46BB-B8DA-F2A14EB1E5F8}"/>
              </c:ext>
            </c:extLst>
          </c:dPt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1">
                    <a:solidFill>
                      <a:srgbClr val="202020"/>
                    </a:solidFill>
                    <a:latin typeface="맑은 고딕"/>
                  </a:defRPr>
                </a:pPr>
                <a:endParaRPr lang="ko-K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Mariner</c:v>
                </c:pt>
                <c:pt idx="1">
                  <c:v>OpenAI CUA</c:v>
                </c:pt>
                <c:pt idx="2">
                  <c:v>Browser Use</c:v>
                </c:pt>
                <c:pt idx="3">
                  <c:v>Magnitude</c:v>
                </c:pt>
                <c:pt idx="4">
                  <c:v>Surfer 2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83.5</c:v>
                </c:pt>
                <c:pt idx="1">
                  <c:v>87</c:v>
                </c:pt>
                <c:pt idx="2">
                  <c:v>89.1</c:v>
                </c:pt>
                <c:pt idx="3">
                  <c:v>93.9</c:v>
                </c:pt>
                <c:pt idx="4">
                  <c:v>97.1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A-D37C-46BB-B8DA-F2A14EB1E5F8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numFmt formatCode="General" sourceLinked="0"/>
        <c:majorTickMark val="none"/>
        <c:minorTickMark val="none"/>
        <c:tickLblPos val="nextTo"/>
        <c:spPr>
          <a:ln>
            <a:solidFill>
              <a:srgbClr val="BBBBBB"/>
            </a:solidFill>
          </a:ln>
        </c:spPr>
        <c:txPr>
          <a:bodyPr/>
          <a:lstStyle/>
          <a:p>
            <a:pPr>
              <a:defRPr sz="900">
                <a:latin typeface="맑은 고딕"/>
              </a:defRPr>
            </a:pPr>
            <a:endParaRPr lang="ko-K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182880"/>
            <a:ext cx="7772400" cy="56692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202020"/>
                </a:solidFill>
                <a:latin typeface="맑은 고딕"/>
                <a:ea typeface="맑은 고딕"/>
              </a:rPr>
              <a:t>과제 배경</a:t>
            </a:r>
            <a:r>
              <a:rPr sz="2200" b="1" i="0">
                <a:solidFill>
                  <a:srgbClr val="7F7F7F"/>
                </a:solidFill>
                <a:latin typeface="맑은 고딕"/>
                <a:ea typeface="맑은 고딕"/>
              </a:rPr>
              <a:t>  |  </a:t>
            </a:r>
            <a:r>
              <a:rPr sz="2200" b="1" i="0">
                <a:solidFill>
                  <a:srgbClr val="595959"/>
                </a:solidFill>
                <a:latin typeface="맑은 고딕"/>
                <a:ea typeface="맑은 고딕"/>
              </a:rPr>
              <a:t>TV 웹 브라우저, 왜 외면받는가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822960"/>
            <a:ext cx="11384280" cy="40640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Pentagon 3"/>
          <p:cNvSpPr/>
          <p:nvPr/>
        </p:nvSpPr>
        <p:spPr>
          <a:xfrm>
            <a:off x="7244791" y="274320"/>
            <a:ext cx="1024128" cy="310896"/>
          </a:xfrm>
          <a:prstGeom prst="homePlate">
            <a:avLst>
              <a:gd name="adj" fmla="val 50000"/>
            </a:avLst>
          </a:prstGeom>
          <a:solidFill>
            <a:srgbClr val="4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2700" tIns="0" rIns="12700" bIns="0" rtlCol="0" anchor="ctr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  <a:ea typeface="맑은 고딕"/>
              </a:rPr>
              <a:t>과제 소개</a:t>
            </a:r>
          </a:p>
        </p:txBody>
      </p:sp>
      <p:sp>
        <p:nvSpPr>
          <p:cNvPr id="5" name="Chevron 4"/>
          <p:cNvSpPr/>
          <p:nvPr/>
        </p:nvSpPr>
        <p:spPr>
          <a:xfrm>
            <a:off x="8122615" y="274320"/>
            <a:ext cx="1024128" cy="310896"/>
          </a:xfrm>
          <a:prstGeom prst="chevron">
            <a:avLst>
              <a:gd name="adj" fmla="val 50000"/>
            </a:avLst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2700" tIns="0" rIns="12700" bIns="0" rtlCol="0" anchor="ctr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  <a:ea typeface="맑은 고딕"/>
              </a:rPr>
              <a:t>요구사항 분석</a:t>
            </a:r>
          </a:p>
        </p:txBody>
      </p:sp>
      <p:sp>
        <p:nvSpPr>
          <p:cNvPr id="6" name="Chevron 5"/>
          <p:cNvSpPr/>
          <p:nvPr/>
        </p:nvSpPr>
        <p:spPr>
          <a:xfrm>
            <a:off x="9000439" y="274320"/>
            <a:ext cx="1024128" cy="310896"/>
          </a:xfrm>
          <a:prstGeom prst="chevron">
            <a:avLst>
              <a:gd name="adj" fmla="val 50000"/>
            </a:avLst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2700" tIns="0" rIns="12700" bIns="0" rtlCol="0" anchor="ctr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  <a:ea typeface="맑은 고딕"/>
              </a:rPr>
              <a:t>설계</a:t>
            </a:r>
          </a:p>
        </p:txBody>
      </p:sp>
      <p:sp>
        <p:nvSpPr>
          <p:cNvPr id="7" name="Chevron 6"/>
          <p:cNvSpPr/>
          <p:nvPr/>
        </p:nvSpPr>
        <p:spPr>
          <a:xfrm>
            <a:off x="9878263" y="274320"/>
            <a:ext cx="1024128" cy="310896"/>
          </a:xfrm>
          <a:prstGeom prst="chevron">
            <a:avLst>
              <a:gd name="adj" fmla="val 50000"/>
            </a:avLst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2700" tIns="0" rIns="12700" bIns="0" rtlCol="0" anchor="ctr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  <a:ea typeface="맑은 고딕"/>
              </a:rPr>
              <a:t>구현 및 검증</a:t>
            </a:r>
          </a:p>
        </p:txBody>
      </p:sp>
      <p:sp>
        <p:nvSpPr>
          <p:cNvPr id="8" name="Chevron 7"/>
          <p:cNvSpPr/>
          <p:nvPr/>
        </p:nvSpPr>
        <p:spPr>
          <a:xfrm>
            <a:off x="10756087" y="274320"/>
            <a:ext cx="1024128" cy="310896"/>
          </a:xfrm>
          <a:prstGeom prst="chevron">
            <a:avLst>
              <a:gd name="adj" fmla="val 50000"/>
            </a:avLst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2700" tIns="0" rIns="12700" bIns="0" rtlCol="0" anchor="ctr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  <a:ea typeface="맑은 고딕"/>
              </a:rPr>
              <a:t>결론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389888"/>
            <a:ext cx="5559552" cy="1993392"/>
          </a:xfrm>
          <a:prstGeom prst="roundRect">
            <a:avLst>
              <a:gd name="adj" fmla="val 3000"/>
            </a:avLst>
          </a:prstGeom>
          <a:solidFill>
            <a:srgbClr val="FBFCFD"/>
          </a:solidFill>
          <a:ln w="15875">
            <a:solidFill>
              <a:srgbClr val="D0D5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1051560" y="1207008"/>
            <a:ext cx="4279392" cy="420624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</a:rPr>
              <a:t>리모컨 입력의 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" y="1773936"/>
            <a:ext cx="2971800" cy="15544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marL="190500" indent="-190500" algn="l">
              <a:lnSpc>
                <a:spcPct val="103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750" b="1" i="0">
                <a:solidFill>
                  <a:srgbClr val="1F3864"/>
                </a:solidFill>
                <a:latin typeface="맑은 고딕"/>
                <a:ea typeface="맑은 고딕"/>
              </a:rPr>
              <a:t>■ </a:t>
            </a:r>
            <a:r>
              <a:rPr sz="1250" b="1" i="0">
                <a:solidFill>
                  <a:srgbClr val="202020"/>
                </a:solidFill>
                <a:latin typeface="맑은 고딕"/>
                <a:ea typeface="맑은 고딕"/>
              </a:rPr>
              <a:t>리모컨 포인팅의 비효율</a:t>
            </a:r>
          </a:p>
          <a:p>
            <a:pPr marL="355600" indent="-165100" algn="l">
              <a:lnSpc>
                <a:spcPct val="103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050" b="0" i="0">
                <a:solidFill>
                  <a:srgbClr val="595959"/>
                </a:solidFill>
                <a:latin typeface="맑은 고딕"/>
                <a:ea typeface="맑은 고딕"/>
              </a:rPr>
              <a:t>– </a:t>
            </a:r>
            <a:r>
              <a:rPr sz="1050" b="0" i="0">
                <a:solidFill>
                  <a:srgbClr val="202020"/>
                </a:solidFill>
                <a:latin typeface="맑은 고딕"/>
                <a:ea typeface="맑은 고딕"/>
              </a:rPr>
              <a:t>커서 탐색 느림 · </a:t>
            </a:r>
            <a:r>
              <a:rPr sz="1050" b="1" i="0">
                <a:solidFill>
                  <a:srgbClr val="C0322B"/>
                </a:solidFill>
                <a:latin typeface="맑은 고딕"/>
                <a:ea typeface="맑은 고딕"/>
              </a:rPr>
              <a:t>91% UI 불만족</a:t>
            </a:r>
          </a:p>
          <a:p>
            <a:pPr marL="190500" indent="-190500" algn="l">
              <a:lnSpc>
                <a:spcPct val="103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750" b="1" i="0">
                <a:solidFill>
                  <a:srgbClr val="1F3864"/>
                </a:solidFill>
                <a:latin typeface="맑은 고딕"/>
                <a:ea typeface="맑은 고딕"/>
              </a:rPr>
              <a:t>■ </a:t>
            </a:r>
            <a:r>
              <a:rPr sz="1250" b="1" i="0">
                <a:solidFill>
                  <a:srgbClr val="202020"/>
                </a:solidFill>
                <a:latin typeface="맑은 고딕"/>
                <a:ea typeface="맑은 고딕"/>
              </a:rPr>
              <a:t>텍스트 입력 = 최대 장벽</a:t>
            </a:r>
          </a:p>
          <a:p>
            <a:pPr marL="355600" indent="-165100" algn="l">
              <a:lnSpc>
                <a:spcPct val="103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050" b="0" i="0">
                <a:solidFill>
                  <a:srgbClr val="595959"/>
                </a:solidFill>
                <a:latin typeface="맑은 고딕"/>
                <a:ea typeface="맑은 고딕"/>
              </a:rPr>
              <a:t>– </a:t>
            </a:r>
            <a:r>
              <a:rPr sz="1050" b="0" i="0">
                <a:solidFill>
                  <a:srgbClr val="202020"/>
                </a:solidFill>
                <a:latin typeface="맑은 고딕"/>
                <a:ea typeface="맑은 고딕"/>
              </a:rPr>
              <a:t>가상 키보드 </a:t>
            </a:r>
            <a:r>
              <a:rPr sz="1050" b="1" i="0">
                <a:solidFill>
                  <a:srgbClr val="202020"/>
                </a:solidFill>
                <a:highlight>
                  <a:srgbClr val="C6EFCE"/>
                </a:highlight>
                <a:latin typeface="맑은 고딕"/>
                <a:ea typeface="맑은 고딕"/>
              </a:rPr>
              <a:t>~5 WPM</a:t>
            </a:r>
            <a:r>
              <a:rPr sz="1050" b="0" i="0">
                <a:solidFill>
                  <a:srgbClr val="202020"/>
                </a:solidFill>
                <a:latin typeface="맑은 고딕"/>
                <a:ea typeface="맑은 고딕"/>
              </a:rPr>
              <a:t> → 검색·로그인 봉쇄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813048" y="1920240"/>
            <a:ext cx="1737360" cy="182880"/>
          </a:xfrm>
          <a:prstGeom prst="rect">
            <a:avLst/>
          </a:prstGeom>
          <a:solidFill>
            <a:srgbClr val="EFF1F4"/>
          </a:solidFill>
          <a:ln w="9525">
            <a:solidFill>
              <a:srgbClr val="C8C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867912" y="1920240"/>
            <a:ext cx="1645920" cy="1828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00" b="0" i="0">
                <a:solidFill>
                  <a:srgbClr val="7F7F7F"/>
                </a:solidFill>
                <a:latin typeface="맑은 고딕"/>
                <a:ea typeface="맑은 고딕"/>
              </a:rPr>
              <a:t>검색어 입력…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813048" y="2176272"/>
            <a:ext cx="137160" cy="150876"/>
          </a:xfrm>
          <a:prstGeom prst="roundRect">
            <a:avLst>
              <a:gd name="adj" fmla="val 20000"/>
            </a:avLst>
          </a:prstGeom>
          <a:solidFill>
            <a:srgbClr val="F6F7F9"/>
          </a:solidFill>
          <a:ln w="5080">
            <a:solidFill>
              <a:srgbClr val="D5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813048" y="2165300"/>
            <a:ext cx="137160" cy="15087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550" b="0" i="0">
                <a:solidFill>
                  <a:srgbClr val="595959"/>
                </a:solidFill>
                <a:latin typeface="맑은 고딕"/>
                <a:ea typeface="맑은 고딕"/>
              </a:rPr>
              <a:t>Q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968496" y="2176272"/>
            <a:ext cx="137160" cy="150876"/>
          </a:xfrm>
          <a:prstGeom prst="roundRect">
            <a:avLst>
              <a:gd name="adj" fmla="val 20000"/>
            </a:avLst>
          </a:prstGeom>
          <a:solidFill>
            <a:srgbClr val="F6F7F9"/>
          </a:solidFill>
          <a:ln w="5080">
            <a:solidFill>
              <a:srgbClr val="D5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968496" y="2165300"/>
            <a:ext cx="137160" cy="15087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550" b="0" i="0">
                <a:solidFill>
                  <a:srgbClr val="595959"/>
                </a:solidFill>
                <a:latin typeface="맑은 고딕"/>
                <a:ea typeface="맑은 고딕"/>
              </a:rPr>
              <a:t>W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23944" y="2176272"/>
            <a:ext cx="137160" cy="150876"/>
          </a:xfrm>
          <a:prstGeom prst="roundRect">
            <a:avLst>
              <a:gd name="adj" fmla="val 20000"/>
            </a:avLst>
          </a:prstGeom>
          <a:solidFill>
            <a:srgbClr val="F6F7F9"/>
          </a:solidFill>
          <a:ln w="5080">
            <a:solidFill>
              <a:srgbClr val="D5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123944" y="2165300"/>
            <a:ext cx="137160" cy="15087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550" b="0" i="0">
                <a:solidFill>
                  <a:srgbClr val="595959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79392" y="2176272"/>
            <a:ext cx="137160" cy="150876"/>
          </a:xfrm>
          <a:prstGeom prst="roundRect">
            <a:avLst>
              <a:gd name="adj" fmla="val 20000"/>
            </a:avLst>
          </a:prstGeom>
          <a:solidFill>
            <a:srgbClr val="F6F7F9"/>
          </a:solidFill>
          <a:ln w="5080">
            <a:solidFill>
              <a:srgbClr val="D5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279392" y="2165300"/>
            <a:ext cx="137160" cy="15087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550" b="0" i="0">
                <a:solidFill>
                  <a:srgbClr val="595959"/>
                </a:solidFill>
                <a:latin typeface="맑은 고딕"/>
                <a:ea typeface="맑은 고딕"/>
              </a:rPr>
              <a:t>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34840" y="2176272"/>
            <a:ext cx="137160" cy="150876"/>
          </a:xfrm>
          <a:prstGeom prst="roundRect">
            <a:avLst>
              <a:gd name="adj" fmla="val 20000"/>
            </a:avLst>
          </a:prstGeom>
          <a:solidFill>
            <a:srgbClr val="F6F7F9"/>
          </a:solidFill>
          <a:ln w="5080">
            <a:solidFill>
              <a:srgbClr val="D5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434840" y="2165300"/>
            <a:ext cx="137160" cy="15087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550" b="0" i="0">
                <a:solidFill>
                  <a:srgbClr val="595959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90288" y="2176272"/>
            <a:ext cx="137160" cy="150876"/>
          </a:xfrm>
          <a:prstGeom prst="roundRect">
            <a:avLst>
              <a:gd name="adj" fmla="val 20000"/>
            </a:avLst>
          </a:prstGeom>
          <a:solidFill>
            <a:srgbClr val="F6F7F9"/>
          </a:solidFill>
          <a:ln w="5080">
            <a:solidFill>
              <a:srgbClr val="D5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590288" y="2165300"/>
            <a:ext cx="137160" cy="15087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550" b="0" i="0">
                <a:solidFill>
                  <a:srgbClr val="595959"/>
                </a:solidFill>
                <a:latin typeface="맑은 고딕"/>
                <a:ea typeface="맑은 고딕"/>
              </a:rPr>
              <a:t>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745736" y="2176272"/>
            <a:ext cx="137160" cy="150876"/>
          </a:xfrm>
          <a:prstGeom prst="roundRect">
            <a:avLst>
              <a:gd name="adj" fmla="val 20000"/>
            </a:avLst>
          </a:prstGeom>
          <a:solidFill>
            <a:srgbClr val="F6F7F9"/>
          </a:solidFill>
          <a:ln w="5080">
            <a:solidFill>
              <a:srgbClr val="D5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745736" y="2165300"/>
            <a:ext cx="137160" cy="15087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550" b="0" i="0">
                <a:solidFill>
                  <a:srgbClr val="595959"/>
                </a:solidFill>
                <a:latin typeface="맑은 고딕"/>
                <a:ea typeface="맑은 고딕"/>
              </a:rPr>
              <a:t>U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901184" y="2176272"/>
            <a:ext cx="137160" cy="150876"/>
          </a:xfrm>
          <a:prstGeom prst="roundRect">
            <a:avLst>
              <a:gd name="adj" fmla="val 20000"/>
            </a:avLst>
          </a:prstGeom>
          <a:solidFill>
            <a:srgbClr val="F6F7F9"/>
          </a:solidFill>
          <a:ln w="5080">
            <a:solidFill>
              <a:srgbClr val="D5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901184" y="2165300"/>
            <a:ext cx="137160" cy="15087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550" b="0" i="0">
                <a:solidFill>
                  <a:srgbClr val="595959"/>
                </a:solidFill>
                <a:latin typeface="맑은 고딕"/>
                <a:ea typeface="맑은 고딕"/>
              </a:rPr>
              <a:t>I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56632" y="2176272"/>
            <a:ext cx="137160" cy="150876"/>
          </a:xfrm>
          <a:prstGeom prst="roundRect">
            <a:avLst>
              <a:gd name="adj" fmla="val 20000"/>
            </a:avLst>
          </a:prstGeom>
          <a:solidFill>
            <a:srgbClr val="F6F7F9"/>
          </a:solidFill>
          <a:ln w="5080">
            <a:solidFill>
              <a:srgbClr val="D5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056632" y="2165300"/>
            <a:ext cx="137160" cy="15087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550" b="0" i="0">
                <a:solidFill>
                  <a:srgbClr val="595959"/>
                </a:solidFill>
                <a:latin typeface="맑은 고딕"/>
                <a:ea typeface="맑은 고딕"/>
              </a:rPr>
              <a:t>O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212080" y="2176272"/>
            <a:ext cx="137160" cy="150876"/>
          </a:xfrm>
          <a:prstGeom prst="roundRect">
            <a:avLst>
              <a:gd name="adj" fmla="val 20000"/>
            </a:avLst>
          </a:prstGeom>
          <a:solidFill>
            <a:srgbClr val="F6F7F9"/>
          </a:solidFill>
          <a:ln w="5080">
            <a:solidFill>
              <a:srgbClr val="D5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212080" y="2165300"/>
            <a:ext cx="137160" cy="15087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550" b="0" i="0">
                <a:solidFill>
                  <a:srgbClr val="595959"/>
                </a:solidFill>
                <a:latin typeface="맑은 고딕"/>
                <a:ea typeface="맑은 고딕"/>
              </a:rPr>
              <a:t>P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877056" y="2345436"/>
            <a:ext cx="137160" cy="150876"/>
          </a:xfrm>
          <a:prstGeom prst="roundRect">
            <a:avLst>
              <a:gd name="adj" fmla="val 20000"/>
            </a:avLst>
          </a:prstGeom>
          <a:solidFill>
            <a:srgbClr val="F6F7F9"/>
          </a:solidFill>
          <a:ln w="5080">
            <a:solidFill>
              <a:srgbClr val="D5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3877056" y="2334464"/>
            <a:ext cx="137160" cy="15087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550" b="0" i="0">
                <a:solidFill>
                  <a:srgbClr val="595959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032504" y="2345436"/>
            <a:ext cx="137160" cy="150876"/>
          </a:xfrm>
          <a:prstGeom prst="roundRect">
            <a:avLst>
              <a:gd name="adj" fmla="val 20000"/>
            </a:avLst>
          </a:prstGeom>
          <a:solidFill>
            <a:srgbClr val="F6F7F9"/>
          </a:solidFill>
          <a:ln w="5080">
            <a:solidFill>
              <a:srgbClr val="D5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032504" y="2334464"/>
            <a:ext cx="137160" cy="15087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550" b="0" i="0">
                <a:solidFill>
                  <a:srgbClr val="595959"/>
                </a:solidFill>
                <a:latin typeface="맑은 고딕"/>
                <a:ea typeface="맑은 고딕"/>
              </a:rPr>
              <a:t>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187952" y="2345436"/>
            <a:ext cx="137160" cy="150876"/>
          </a:xfrm>
          <a:prstGeom prst="roundRect">
            <a:avLst>
              <a:gd name="adj" fmla="val 20000"/>
            </a:avLst>
          </a:prstGeom>
          <a:solidFill>
            <a:srgbClr val="F6F7F9"/>
          </a:solidFill>
          <a:ln w="5080">
            <a:solidFill>
              <a:srgbClr val="D5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4187952" y="2334464"/>
            <a:ext cx="137160" cy="15087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550" b="0" i="0">
                <a:solidFill>
                  <a:srgbClr val="595959"/>
                </a:solidFill>
                <a:latin typeface="맑은 고딕"/>
                <a:ea typeface="맑은 고딕"/>
              </a:rPr>
              <a:t>D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343400" y="2345436"/>
            <a:ext cx="137160" cy="150876"/>
          </a:xfrm>
          <a:prstGeom prst="roundRect">
            <a:avLst>
              <a:gd name="adj" fmla="val 20000"/>
            </a:avLst>
          </a:prstGeom>
          <a:solidFill>
            <a:srgbClr val="F6F7F9"/>
          </a:solidFill>
          <a:ln w="5080">
            <a:solidFill>
              <a:srgbClr val="D5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4343400" y="2334464"/>
            <a:ext cx="137160" cy="15087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550" b="0" i="0">
                <a:solidFill>
                  <a:srgbClr val="595959"/>
                </a:solidFill>
                <a:latin typeface="맑은 고딕"/>
                <a:ea typeface="맑은 고딕"/>
              </a:rPr>
              <a:t>F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498848" y="2345436"/>
            <a:ext cx="137160" cy="150876"/>
          </a:xfrm>
          <a:prstGeom prst="roundRect">
            <a:avLst>
              <a:gd name="adj" fmla="val 20000"/>
            </a:avLst>
          </a:prstGeom>
          <a:solidFill>
            <a:srgbClr val="DBEAFB"/>
          </a:solidFill>
          <a:ln w="17780">
            <a:solidFill>
              <a:srgbClr val="2E5B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4498848" y="2334464"/>
            <a:ext cx="137160" cy="15087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550" b="1" i="0">
                <a:solidFill>
                  <a:srgbClr val="2E5BA8"/>
                </a:solidFill>
                <a:latin typeface="맑은 고딕"/>
                <a:ea typeface="맑은 고딕"/>
              </a:rPr>
              <a:t>G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654296" y="2345436"/>
            <a:ext cx="137160" cy="150876"/>
          </a:xfrm>
          <a:prstGeom prst="roundRect">
            <a:avLst>
              <a:gd name="adj" fmla="val 20000"/>
            </a:avLst>
          </a:prstGeom>
          <a:solidFill>
            <a:srgbClr val="F6F7F9"/>
          </a:solidFill>
          <a:ln w="5080">
            <a:solidFill>
              <a:srgbClr val="D5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4654296" y="2334464"/>
            <a:ext cx="137160" cy="15087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550" b="0" i="0">
                <a:solidFill>
                  <a:srgbClr val="595959"/>
                </a:solidFill>
                <a:latin typeface="맑은 고딕"/>
                <a:ea typeface="맑은 고딕"/>
              </a:rPr>
              <a:t>H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809744" y="2345436"/>
            <a:ext cx="137160" cy="150876"/>
          </a:xfrm>
          <a:prstGeom prst="roundRect">
            <a:avLst>
              <a:gd name="adj" fmla="val 20000"/>
            </a:avLst>
          </a:prstGeom>
          <a:solidFill>
            <a:srgbClr val="F6F7F9"/>
          </a:solidFill>
          <a:ln w="5080">
            <a:solidFill>
              <a:srgbClr val="D5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4809744" y="2334464"/>
            <a:ext cx="137160" cy="15087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550" b="0" i="0">
                <a:solidFill>
                  <a:srgbClr val="595959"/>
                </a:solidFill>
                <a:latin typeface="맑은 고딕"/>
                <a:ea typeface="맑은 고딕"/>
              </a:rPr>
              <a:t>J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965192" y="2345436"/>
            <a:ext cx="137160" cy="150876"/>
          </a:xfrm>
          <a:prstGeom prst="roundRect">
            <a:avLst>
              <a:gd name="adj" fmla="val 20000"/>
            </a:avLst>
          </a:prstGeom>
          <a:solidFill>
            <a:srgbClr val="F6F7F9"/>
          </a:solidFill>
          <a:ln w="5080">
            <a:solidFill>
              <a:srgbClr val="D5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4965192" y="2334464"/>
            <a:ext cx="137160" cy="15087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550" b="0" i="0">
                <a:solidFill>
                  <a:srgbClr val="595959"/>
                </a:solidFill>
                <a:latin typeface="맑은 고딕"/>
                <a:ea typeface="맑은 고딕"/>
              </a:rPr>
              <a:t>K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120640" y="2345436"/>
            <a:ext cx="137160" cy="150876"/>
          </a:xfrm>
          <a:prstGeom prst="roundRect">
            <a:avLst>
              <a:gd name="adj" fmla="val 20000"/>
            </a:avLst>
          </a:prstGeom>
          <a:solidFill>
            <a:srgbClr val="F6F7F9"/>
          </a:solidFill>
          <a:ln w="5080">
            <a:solidFill>
              <a:srgbClr val="D5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5120640" y="2334464"/>
            <a:ext cx="137160" cy="15087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550" b="0" i="0">
                <a:solidFill>
                  <a:srgbClr val="595959"/>
                </a:solidFill>
                <a:latin typeface="맑은 고딕"/>
                <a:ea typeface="맑은 고딕"/>
              </a:rPr>
              <a:t>L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3941064" y="2514600"/>
            <a:ext cx="137160" cy="150876"/>
          </a:xfrm>
          <a:prstGeom prst="roundRect">
            <a:avLst>
              <a:gd name="adj" fmla="val 20000"/>
            </a:avLst>
          </a:prstGeom>
          <a:solidFill>
            <a:srgbClr val="F6F7F9"/>
          </a:solidFill>
          <a:ln w="5080">
            <a:solidFill>
              <a:srgbClr val="D5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3941064" y="2503628"/>
            <a:ext cx="137160" cy="15087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550" b="0" i="0">
                <a:solidFill>
                  <a:srgbClr val="595959"/>
                </a:solidFill>
                <a:latin typeface="맑은 고딕"/>
                <a:ea typeface="맑은 고딕"/>
              </a:rPr>
              <a:t>Z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096512" y="2514600"/>
            <a:ext cx="137160" cy="150876"/>
          </a:xfrm>
          <a:prstGeom prst="roundRect">
            <a:avLst>
              <a:gd name="adj" fmla="val 20000"/>
            </a:avLst>
          </a:prstGeom>
          <a:solidFill>
            <a:srgbClr val="F6F7F9"/>
          </a:solidFill>
          <a:ln w="5080">
            <a:solidFill>
              <a:srgbClr val="D5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4096512" y="2503628"/>
            <a:ext cx="137160" cy="15087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550" b="0" i="0">
                <a:solidFill>
                  <a:srgbClr val="595959"/>
                </a:solidFill>
                <a:latin typeface="맑은 고딕"/>
                <a:ea typeface="맑은 고딕"/>
              </a:rPr>
              <a:t>X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251960" y="2514600"/>
            <a:ext cx="137160" cy="150876"/>
          </a:xfrm>
          <a:prstGeom prst="roundRect">
            <a:avLst>
              <a:gd name="adj" fmla="val 20000"/>
            </a:avLst>
          </a:prstGeom>
          <a:solidFill>
            <a:srgbClr val="F6F7F9"/>
          </a:solidFill>
          <a:ln w="5080">
            <a:solidFill>
              <a:srgbClr val="D5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4251960" y="2503628"/>
            <a:ext cx="137160" cy="15087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550" b="0" i="0">
                <a:solidFill>
                  <a:srgbClr val="595959"/>
                </a:solidFill>
                <a:latin typeface="맑은 고딕"/>
                <a:ea typeface="맑은 고딕"/>
              </a:rPr>
              <a:t>C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407408" y="2514600"/>
            <a:ext cx="137160" cy="150876"/>
          </a:xfrm>
          <a:prstGeom prst="roundRect">
            <a:avLst>
              <a:gd name="adj" fmla="val 20000"/>
            </a:avLst>
          </a:prstGeom>
          <a:solidFill>
            <a:srgbClr val="F6F7F9"/>
          </a:solidFill>
          <a:ln w="5080">
            <a:solidFill>
              <a:srgbClr val="D5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4407408" y="2503628"/>
            <a:ext cx="137160" cy="15087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550" b="0" i="0">
                <a:solidFill>
                  <a:srgbClr val="595959"/>
                </a:solidFill>
                <a:latin typeface="맑은 고딕"/>
                <a:ea typeface="맑은 고딕"/>
              </a:rPr>
              <a:t>V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562856" y="2514600"/>
            <a:ext cx="137160" cy="150876"/>
          </a:xfrm>
          <a:prstGeom prst="roundRect">
            <a:avLst>
              <a:gd name="adj" fmla="val 20000"/>
            </a:avLst>
          </a:prstGeom>
          <a:solidFill>
            <a:srgbClr val="F6F7F9"/>
          </a:solidFill>
          <a:ln w="5080">
            <a:solidFill>
              <a:srgbClr val="D5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4562856" y="2503628"/>
            <a:ext cx="137160" cy="15087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550" b="0" i="0">
                <a:solidFill>
                  <a:srgbClr val="595959"/>
                </a:solidFill>
                <a:latin typeface="맑은 고딕"/>
                <a:ea typeface="맑은 고딕"/>
              </a:rPr>
              <a:t>B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718304" y="2514600"/>
            <a:ext cx="137160" cy="150876"/>
          </a:xfrm>
          <a:prstGeom prst="roundRect">
            <a:avLst>
              <a:gd name="adj" fmla="val 20000"/>
            </a:avLst>
          </a:prstGeom>
          <a:solidFill>
            <a:srgbClr val="F6F7F9"/>
          </a:solidFill>
          <a:ln w="5080">
            <a:solidFill>
              <a:srgbClr val="D5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4718304" y="2503628"/>
            <a:ext cx="137160" cy="15087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550" b="0" i="0">
                <a:solidFill>
                  <a:srgbClr val="595959"/>
                </a:solidFill>
                <a:latin typeface="맑은 고딕"/>
                <a:ea typeface="맑은 고딕"/>
              </a:rPr>
              <a:t>N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4873752" y="2514600"/>
            <a:ext cx="137160" cy="150876"/>
          </a:xfrm>
          <a:prstGeom prst="roundRect">
            <a:avLst>
              <a:gd name="adj" fmla="val 20000"/>
            </a:avLst>
          </a:prstGeom>
          <a:solidFill>
            <a:srgbClr val="F6F7F9"/>
          </a:solidFill>
          <a:ln w="5080">
            <a:solidFill>
              <a:srgbClr val="D5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4873752" y="2503628"/>
            <a:ext cx="137160" cy="15087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550" b="0" i="0">
                <a:solidFill>
                  <a:srgbClr val="595959"/>
                </a:solidFill>
                <a:latin typeface="맑은 고딕"/>
                <a:ea typeface="맑은 고딕"/>
              </a:rPr>
              <a:t>M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5330952" y="2176272"/>
            <a:ext cx="274320" cy="566928"/>
          </a:xfrm>
          <a:prstGeom prst="roundRect">
            <a:avLst>
              <a:gd name="adj" fmla="val 35000"/>
            </a:avLst>
          </a:prstGeom>
          <a:solidFill>
            <a:srgbClr val="3C4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Oval 66"/>
          <p:cNvSpPr/>
          <p:nvPr/>
        </p:nvSpPr>
        <p:spPr>
          <a:xfrm>
            <a:off x="5376672" y="2249424"/>
            <a:ext cx="182880" cy="182880"/>
          </a:xfrm>
          <a:prstGeom prst="ellipse">
            <a:avLst/>
          </a:prstGeom>
          <a:solidFill>
            <a:srgbClr val="9AA0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Rounded Rectangle 67"/>
          <p:cNvSpPr/>
          <p:nvPr/>
        </p:nvSpPr>
        <p:spPr>
          <a:xfrm>
            <a:off x="6199632" y="1389888"/>
            <a:ext cx="5577840" cy="1993392"/>
          </a:xfrm>
          <a:prstGeom prst="roundRect">
            <a:avLst>
              <a:gd name="adj" fmla="val 3000"/>
            </a:avLst>
          </a:prstGeom>
          <a:solidFill>
            <a:srgbClr val="FBFCFD"/>
          </a:solidFill>
          <a:ln w="15875">
            <a:solidFill>
              <a:srgbClr val="D0D5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Rounded Rectangle 68"/>
          <p:cNvSpPr/>
          <p:nvPr/>
        </p:nvSpPr>
        <p:spPr>
          <a:xfrm>
            <a:off x="6839712" y="1207008"/>
            <a:ext cx="4297680" cy="420624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</a:rPr>
              <a:t>콘텐츠 부적합 · 인지 과부하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437376" y="1773936"/>
            <a:ext cx="2971800" cy="15544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marL="190500" indent="-190500" algn="l">
              <a:lnSpc>
                <a:spcPct val="103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750" b="1" i="0">
                <a:solidFill>
                  <a:srgbClr val="1F3864"/>
                </a:solidFill>
                <a:latin typeface="맑은 고딕"/>
                <a:ea typeface="맑은 고딕"/>
              </a:rPr>
              <a:t>■ </a:t>
            </a:r>
            <a:r>
              <a:rPr sz="1250" b="1" i="0">
                <a:solidFill>
                  <a:srgbClr val="202020"/>
                </a:solidFill>
                <a:latin typeface="맑은 고딕"/>
                <a:ea typeface="맑은 고딕"/>
              </a:rPr>
              <a:t>웹 콘텐츠 호환성 부재</a:t>
            </a:r>
          </a:p>
          <a:p>
            <a:pPr marL="355600" indent="-165100" algn="l">
              <a:lnSpc>
                <a:spcPct val="103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050" b="0" i="0">
                <a:solidFill>
                  <a:srgbClr val="595959"/>
                </a:solidFill>
                <a:latin typeface="맑은 고딕"/>
                <a:ea typeface="맑은 고딕"/>
              </a:rPr>
              <a:t>– </a:t>
            </a:r>
            <a:r>
              <a:rPr sz="1050" b="0" i="0">
                <a:solidFill>
                  <a:srgbClr val="202020"/>
                </a:solidFill>
                <a:latin typeface="맑은 고딕"/>
                <a:ea typeface="맑은 고딕"/>
              </a:rPr>
              <a:t>대부분 </a:t>
            </a:r>
            <a:r>
              <a:rPr sz="1050" b="1" i="0">
                <a:solidFill>
                  <a:srgbClr val="202020"/>
                </a:solidFill>
                <a:highlight>
                  <a:srgbClr val="C6EFCE"/>
                </a:highlight>
                <a:latin typeface="맑은 고딕"/>
                <a:ea typeface="맑은 고딕"/>
              </a:rPr>
              <a:t>PC·모바일 최적화</a:t>
            </a:r>
            <a:r>
              <a:rPr sz="1050" b="0" i="0">
                <a:solidFill>
                  <a:srgbClr val="202020"/>
                </a:solidFill>
                <a:latin typeface="맑은 고딕"/>
                <a:ea typeface="맑은 고딕"/>
              </a:rPr>
              <a:t> → 10-feet UI 부적합</a:t>
            </a:r>
          </a:p>
          <a:p>
            <a:pPr marL="190500" indent="-190500" algn="l">
              <a:lnSpc>
                <a:spcPct val="103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750" b="1" i="0">
                <a:solidFill>
                  <a:srgbClr val="1F3864"/>
                </a:solidFill>
                <a:latin typeface="맑은 고딕"/>
                <a:ea typeface="맑은 고딕"/>
              </a:rPr>
              <a:t>■ </a:t>
            </a:r>
            <a:r>
              <a:rPr sz="1250" b="1" i="0">
                <a:solidFill>
                  <a:srgbClr val="202020"/>
                </a:solidFill>
                <a:latin typeface="맑은 고딕"/>
                <a:ea typeface="맑은 고딕"/>
              </a:rPr>
              <a:t>인지 과부하 (Overload)</a:t>
            </a:r>
          </a:p>
          <a:p>
            <a:pPr marL="355600" indent="-165100" algn="l">
              <a:lnSpc>
                <a:spcPct val="103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050" b="0" i="0">
                <a:solidFill>
                  <a:srgbClr val="595959"/>
                </a:solidFill>
                <a:latin typeface="맑은 고딕"/>
                <a:ea typeface="맑은 고딕"/>
              </a:rPr>
              <a:t>– </a:t>
            </a:r>
            <a:r>
              <a:rPr sz="1050" b="0" i="0">
                <a:solidFill>
                  <a:srgbClr val="202020"/>
                </a:solidFill>
                <a:latin typeface="맑은 고딕"/>
                <a:ea typeface="맑은 고딕"/>
              </a:rPr>
              <a:t>정보·링크 과밀 → </a:t>
            </a:r>
            <a:r>
              <a:rPr sz="1050" b="1" i="0">
                <a:solidFill>
                  <a:srgbClr val="202020"/>
                </a:solidFill>
                <a:highlight>
                  <a:srgbClr val="C6EFCE"/>
                </a:highlight>
                <a:latin typeface="맑은 고딕"/>
                <a:ea typeface="맑은 고딕"/>
              </a:rPr>
              <a:t>고령층</a:t>
            </a:r>
            <a:r>
              <a:rPr sz="1050" b="0" i="0">
                <a:solidFill>
                  <a:srgbClr val="202020"/>
                </a:solidFill>
                <a:latin typeface="맑은 고딕"/>
                <a:ea typeface="맑은 고딕"/>
              </a:rPr>
              <a:t> 조작 곤란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9509760" y="1865376"/>
            <a:ext cx="192024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0D5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Rectangle 71"/>
          <p:cNvSpPr/>
          <p:nvPr/>
        </p:nvSpPr>
        <p:spPr>
          <a:xfrm>
            <a:off x="9601200" y="1938528"/>
            <a:ext cx="1737360" cy="100584"/>
          </a:xfrm>
          <a:prstGeom prst="rect">
            <a:avLst/>
          </a:prstGeom>
          <a:solidFill>
            <a:srgbClr val="335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Rectangle 72"/>
          <p:cNvSpPr/>
          <p:nvPr/>
        </p:nvSpPr>
        <p:spPr>
          <a:xfrm>
            <a:off x="9619488" y="2112264"/>
            <a:ext cx="868680" cy="41148"/>
          </a:xfrm>
          <a:prstGeom prst="rect">
            <a:avLst/>
          </a:prstGeom>
          <a:solidFill>
            <a:srgbClr val="CFD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Rectangle 73"/>
          <p:cNvSpPr/>
          <p:nvPr/>
        </p:nvSpPr>
        <p:spPr>
          <a:xfrm>
            <a:off x="9619488" y="2217420"/>
            <a:ext cx="1051560" cy="41148"/>
          </a:xfrm>
          <a:prstGeom prst="rect">
            <a:avLst/>
          </a:prstGeom>
          <a:solidFill>
            <a:srgbClr val="CFD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Rectangle 74"/>
          <p:cNvSpPr/>
          <p:nvPr/>
        </p:nvSpPr>
        <p:spPr>
          <a:xfrm>
            <a:off x="9619488" y="2322576"/>
            <a:ext cx="1051560" cy="41148"/>
          </a:xfrm>
          <a:prstGeom prst="rect">
            <a:avLst/>
          </a:prstGeom>
          <a:solidFill>
            <a:srgbClr val="CFD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Rectangle 75"/>
          <p:cNvSpPr/>
          <p:nvPr/>
        </p:nvSpPr>
        <p:spPr>
          <a:xfrm>
            <a:off x="9619488" y="2427732"/>
            <a:ext cx="868680" cy="41148"/>
          </a:xfrm>
          <a:prstGeom prst="rect">
            <a:avLst/>
          </a:prstGeom>
          <a:solidFill>
            <a:srgbClr val="CFD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Rectangle 76"/>
          <p:cNvSpPr/>
          <p:nvPr/>
        </p:nvSpPr>
        <p:spPr>
          <a:xfrm>
            <a:off x="9619488" y="2532888"/>
            <a:ext cx="1051560" cy="41148"/>
          </a:xfrm>
          <a:prstGeom prst="rect">
            <a:avLst/>
          </a:prstGeom>
          <a:solidFill>
            <a:srgbClr val="CFD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Rectangle 77"/>
          <p:cNvSpPr/>
          <p:nvPr/>
        </p:nvSpPr>
        <p:spPr>
          <a:xfrm>
            <a:off x="9619488" y="2638044"/>
            <a:ext cx="1051560" cy="41148"/>
          </a:xfrm>
          <a:prstGeom prst="rect">
            <a:avLst/>
          </a:prstGeom>
          <a:solidFill>
            <a:srgbClr val="CFD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Rectangle 78"/>
          <p:cNvSpPr/>
          <p:nvPr/>
        </p:nvSpPr>
        <p:spPr>
          <a:xfrm>
            <a:off x="10789920" y="2139696"/>
            <a:ext cx="530352" cy="219456"/>
          </a:xfrm>
          <a:prstGeom prst="rect">
            <a:avLst/>
          </a:prstGeom>
          <a:solidFill>
            <a:srgbClr val="E6E9EE"/>
          </a:solidFill>
          <a:ln w="6350">
            <a:solidFill>
              <a:srgbClr val="CF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Rectangle 79"/>
          <p:cNvSpPr/>
          <p:nvPr/>
        </p:nvSpPr>
        <p:spPr>
          <a:xfrm>
            <a:off x="10789920" y="2414016"/>
            <a:ext cx="530352" cy="219456"/>
          </a:xfrm>
          <a:prstGeom prst="rect">
            <a:avLst/>
          </a:prstGeom>
          <a:solidFill>
            <a:srgbClr val="E6E9EE"/>
          </a:solidFill>
          <a:ln w="6350">
            <a:solidFill>
              <a:srgbClr val="CF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Rectangle 80"/>
          <p:cNvSpPr/>
          <p:nvPr/>
        </p:nvSpPr>
        <p:spPr>
          <a:xfrm>
            <a:off x="10789920" y="2688336"/>
            <a:ext cx="530352" cy="219456"/>
          </a:xfrm>
          <a:prstGeom prst="rect">
            <a:avLst/>
          </a:prstGeom>
          <a:solidFill>
            <a:srgbClr val="E6E9EE"/>
          </a:solidFill>
          <a:ln w="6350">
            <a:solidFill>
              <a:srgbClr val="CF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Oval 81"/>
          <p:cNvSpPr/>
          <p:nvPr/>
        </p:nvSpPr>
        <p:spPr>
          <a:xfrm>
            <a:off x="10424160" y="2596896"/>
            <a:ext cx="347472" cy="347472"/>
          </a:xfrm>
          <a:prstGeom prst="ellipse">
            <a:avLst/>
          </a:prstGeom>
          <a:noFill/>
          <a:ln w="28575">
            <a:solidFill>
              <a:srgbClr val="C032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Rectangle 82"/>
          <p:cNvSpPr/>
          <p:nvPr/>
        </p:nvSpPr>
        <p:spPr>
          <a:xfrm rot="2700000">
            <a:off x="10716768" y="2916936"/>
            <a:ext cx="164592" cy="45720"/>
          </a:xfrm>
          <a:prstGeom prst="rect">
            <a:avLst/>
          </a:prstGeom>
          <a:solidFill>
            <a:srgbClr val="C03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Rounded Rectangle 83"/>
          <p:cNvSpPr/>
          <p:nvPr/>
        </p:nvSpPr>
        <p:spPr>
          <a:xfrm>
            <a:off x="411480" y="3730752"/>
            <a:ext cx="5559552" cy="1993392"/>
          </a:xfrm>
          <a:prstGeom prst="roundRect">
            <a:avLst>
              <a:gd name="adj" fmla="val 3000"/>
            </a:avLst>
          </a:prstGeom>
          <a:solidFill>
            <a:srgbClr val="FBFCFD"/>
          </a:solidFill>
          <a:ln w="15875">
            <a:solidFill>
              <a:srgbClr val="D0D5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Rounded Rectangle 84"/>
          <p:cNvSpPr/>
          <p:nvPr/>
        </p:nvSpPr>
        <p:spPr>
          <a:xfrm>
            <a:off x="1051560" y="3547872"/>
            <a:ext cx="4279392" cy="420624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</a:rPr>
              <a:t>공용 기기 · 프라이버시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49224" y="4114800"/>
            <a:ext cx="2971800" cy="15544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marL="190500" indent="-190500" algn="l">
              <a:lnSpc>
                <a:spcPct val="103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750" b="1" i="0">
                <a:solidFill>
                  <a:srgbClr val="1F3864"/>
                </a:solidFill>
                <a:latin typeface="맑은 고딕"/>
                <a:ea typeface="맑은 고딕"/>
              </a:rPr>
              <a:t>■ </a:t>
            </a:r>
            <a:r>
              <a:rPr sz="1250" b="1" i="0">
                <a:solidFill>
                  <a:srgbClr val="202020"/>
                </a:solidFill>
                <a:latin typeface="맑은 고딕"/>
                <a:ea typeface="맑은 고딕"/>
              </a:rPr>
              <a:t>거실 공용 기기 특성</a:t>
            </a:r>
          </a:p>
          <a:p>
            <a:pPr marL="355600" indent="-165100" algn="l">
              <a:lnSpc>
                <a:spcPct val="103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050" b="0" i="0">
                <a:solidFill>
                  <a:srgbClr val="595959"/>
                </a:solidFill>
                <a:latin typeface="맑은 고딕"/>
                <a:ea typeface="맑은 고딕"/>
              </a:rPr>
              <a:t>– </a:t>
            </a:r>
            <a:r>
              <a:rPr sz="1050" b="0" i="0">
                <a:solidFill>
                  <a:srgbClr val="202020"/>
                </a:solidFill>
                <a:latin typeface="맑은 고딕"/>
                <a:ea typeface="맑은 고딕"/>
              </a:rPr>
              <a:t>가족 공유 → </a:t>
            </a:r>
            <a:r>
              <a:rPr sz="1050" b="1" i="0">
                <a:solidFill>
                  <a:srgbClr val="202020"/>
                </a:solidFill>
                <a:highlight>
                  <a:srgbClr val="C6EFCE"/>
                </a:highlight>
                <a:latin typeface="맑은 고딕"/>
                <a:ea typeface="맑은 고딕"/>
              </a:rPr>
              <a:t>개인 로그인 꺼림</a:t>
            </a:r>
          </a:p>
          <a:p>
            <a:pPr marL="190500" indent="-190500" algn="l">
              <a:lnSpc>
                <a:spcPct val="103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750" b="1" i="0">
                <a:solidFill>
                  <a:srgbClr val="1F3864"/>
                </a:solidFill>
                <a:latin typeface="맑은 고딕"/>
                <a:ea typeface="맑은 고딕"/>
              </a:rPr>
              <a:t>■ </a:t>
            </a:r>
            <a:r>
              <a:rPr sz="1250" b="1" i="0">
                <a:solidFill>
                  <a:srgbClr val="202020"/>
                </a:solidFill>
                <a:latin typeface="맑은 고딕"/>
                <a:ea typeface="맑은 고딕"/>
              </a:rPr>
              <a:t>민감정보 입력 회피</a:t>
            </a:r>
          </a:p>
          <a:p>
            <a:pPr marL="355600" indent="-165100" algn="l">
              <a:lnSpc>
                <a:spcPct val="103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050" b="0" i="0">
                <a:solidFill>
                  <a:srgbClr val="595959"/>
                </a:solidFill>
                <a:latin typeface="맑은 고딕"/>
                <a:ea typeface="맑은 고딕"/>
              </a:rPr>
              <a:t>– </a:t>
            </a:r>
            <a:r>
              <a:rPr sz="1050" b="0" i="0">
                <a:solidFill>
                  <a:srgbClr val="202020"/>
                </a:solidFill>
                <a:latin typeface="맑은 고딕"/>
                <a:ea typeface="맑은 고딕"/>
              </a:rPr>
              <a:t>계정·결제·주소 입력을 </a:t>
            </a:r>
            <a:r>
              <a:rPr sz="1050" b="1" i="0">
                <a:solidFill>
                  <a:srgbClr val="C0322B"/>
                </a:solidFill>
                <a:latin typeface="맑은 고딕"/>
                <a:ea typeface="맑은 고딕"/>
              </a:rPr>
              <a:t>행동 자체 회피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3950208" y="4261104"/>
            <a:ext cx="1463040" cy="850392"/>
          </a:xfrm>
          <a:prstGeom prst="roundRect">
            <a:avLst>
              <a:gd name="adj" fmla="val 8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Rectangle 87"/>
          <p:cNvSpPr/>
          <p:nvPr/>
        </p:nvSpPr>
        <p:spPr>
          <a:xfrm>
            <a:off x="4014216" y="4315968"/>
            <a:ext cx="1335024" cy="722376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Rectangle 88"/>
          <p:cNvSpPr/>
          <p:nvPr/>
        </p:nvSpPr>
        <p:spPr>
          <a:xfrm>
            <a:off x="4462272" y="5129784"/>
            <a:ext cx="438912" cy="45720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Oval 89"/>
          <p:cNvSpPr/>
          <p:nvPr/>
        </p:nvSpPr>
        <p:spPr>
          <a:xfrm>
            <a:off x="4178808" y="4443984"/>
            <a:ext cx="182880" cy="182880"/>
          </a:xfrm>
          <a:prstGeom prst="ellipse">
            <a:avLst/>
          </a:prstGeom>
          <a:solidFill>
            <a:srgbClr val="4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Rounded Rectangle 90"/>
          <p:cNvSpPr/>
          <p:nvPr/>
        </p:nvSpPr>
        <p:spPr>
          <a:xfrm>
            <a:off x="4142232" y="4645152"/>
            <a:ext cx="256032" cy="164592"/>
          </a:xfrm>
          <a:prstGeom prst="roundRect">
            <a:avLst>
              <a:gd name="adj" fmla="val 50000"/>
            </a:avLst>
          </a:prstGeom>
          <a:solidFill>
            <a:srgbClr val="4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Oval 91"/>
          <p:cNvSpPr/>
          <p:nvPr/>
        </p:nvSpPr>
        <p:spPr>
          <a:xfrm>
            <a:off x="4636008" y="4443984"/>
            <a:ext cx="182880" cy="182880"/>
          </a:xfrm>
          <a:prstGeom prst="ellipse">
            <a:avLst/>
          </a:prstGeom>
          <a:solidFill>
            <a:srgbClr val="E0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Rounded Rectangle 92"/>
          <p:cNvSpPr/>
          <p:nvPr/>
        </p:nvSpPr>
        <p:spPr>
          <a:xfrm>
            <a:off x="4599432" y="4645152"/>
            <a:ext cx="256032" cy="164592"/>
          </a:xfrm>
          <a:prstGeom prst="roundRect">
            <a:avLst>
              <a:gd name="adj" fmla="val 50000"/>
            </a:avLst>
          </a:prstGeom>
          <a:solidFill>
            <a:srgbClr val="E0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Oval 93"/>
          <p:cNvSpPr/>
          <p:nvPr/>
        </p:nvSpPr>
        <p:spPr>
          <a:xfrm>
            <a:off x="5093208" y="4443984"/>
            <a:ext cx="182880" cy="182880"/>
          </a:xfrm>
          <a:prstGeom prst="ellipse">
            <a:avLst/>
          </a:prstGeom>
          <a:solidFill>
            <a:srgbClr val="1E9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Rounded Rectangle 94"/>
          <p:cNvSpPr/>
          <p:nvPr/>
        </p:nvSpPr>
        <p:spPr>
          <a:xfrm>
            <a:off x="5056632" y="4645152"/>
            <a:ext cx="256032" cy="164592"/>
          </a:xfrm>
          <a:prstGeom prst="roundRect">
            <a:avLst>
              <a:gd name="adj" fmla="val 50000"/>
            </a:avLst>
          </a:prstGeom>
          <a:solidFill>
            <a:srgbClr val="1E9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Oval 95"/>
          <p:cNvSpPr/>
          <p:nvPr/>
        </p:nvSpPr>
        <p:spPr>
          <a:xfrm>
            <a:off x="5239512" y="4261104"/>
            <a:ext cx="146304" cy="146304"/>
          </a:xfrm>
          <a:prstGeom prst="ellipse">
            <a:avLst/>
          </a:prstGeom>
          <a:noFill/>
          <a:ln w="31750">
            <a:solidFill>
              <a:srgbClr val="C032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Rounded Rectangle 96"/>
          <p:cNvSpPr/>
          <p:nvPr/>
        </p:nvSpPr>
        <p:spPr>
          <a:xfrm>
            <a:off x="5184648" y="4352544"/>
            <a:ext cx="256032" cy="201168"/>
          </a:xfrm>
          <a:prstGeom prst="roundRect">
            <a:avLst>
              <a:gd name="adj" fmla="val 20000"/>
            </a:avLst>
          </a:prstGeom>
          <a:solidFill>
            <a:srgbClr val="C03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Oval 97"/>
          <p:cNvSpPr/>
          <p:nvPr/>
        </p:nvSpPr>
        <p:spPr>
          <a:xfrm>
            <a:off x="5285232" y="4407408"/>
            <a:ext cx="54864" cy="548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Rounded Rectangle 98"/>
          <p:cNvSpPr/>
          <p:nvPr/>
        </p:nvSpPr>
        <p:spPr>
          <a:xfrm>
            <a:off x="6199632" y="3730752"/>
            <a:ext cx="5577840" cy="1993392"/>
          </a:xfrm>
          <a:prstGeom prst="roundRect">
            <a:avLst>
              <a:gd name="adj" fmla="val 3000"/>
            </a:avLst>
          </a:prstGeom>
          <a:solidFill>
            <a:srgbClr val="FBFCFD"/>
          </a:solidFill>
          <a:ln w="15875">
            <a:solidFill>
              <a:srgbClr val="D0D5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Rounded Rectangle 99"/>
          <p:cNvSpPr/>
          <p:nvPr/>
        </p:nvSpPr>
        <p:spPr>
          <a:xfrm>
            <a:off x="6839712" y="3547872"/>
            <a:ext cx="4297680" cy="420624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</a:rPr>
              <a:t>디바이스 성능 한계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437376" y="4114800"/>
            <a:ext cx="2971800" cy="15544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marL="190500" indent="-190500" algn="l">
              <a:lnSpc>
                <a:spcPct val="103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750" b="1" i="0">
                <a:solidFill>
                  <a:srgbClr val="1F3864"/>
                </a:solidFill>
                <a:latin typeface="맑은 고딕"/>
                <a:ea typeface="맑은 고딕"/>
              </a:rPr>
              <a:t>■ </a:t>
            </a:r>
            <a:r>
              <a:rPr sz="1250" b="1" i="0">
                <a:solidFill>
                  <a:srgbClr val="202020"/>
                </a:solidFill>
                <a:latin typeface="맑은 고딕"/>
                <a:ea typeface="맑은 고딕"/>
              </a:rPr>
              <a:t>저사양 SoC · 제한 메모리</a:t>
            </a:r>
          </a:p>
          <a:p>
            <a:pPr marL="355600" indent="-165100" algn="l">
              <a:lnSpc>
                <a:spcPct val="103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050" b="0" i="0">
                <a:solidFill>
                  <a:srgbClr val="595959"/>
                </a:solidFill>
                <a:latin typeface="맑은 고딕"/>
                <a:ea typeface="맑은 고딕"/>
              </a:rPr>
              <a:t>– </a:t>
            </a:r>
            <a:r>
              <a:rPr sz="1050" b="0" i="0">
                <a:solidFill>
                  <a:srgbClr val="202020"/>
                </a:solidFill>
                <a:latin typeface="맑은 고딕"/>
                <a:ea typeface="맑은 고딕"/>
              </a:rPr>
              <a:t>무거운 현대 웹 </a:t>
            </a:r>
            <a:r>
              <a:rPr sz="1050" b="1" i="0">
                <a:solidFill>
                  <a:srgbClr val="202020"/>
                </a:solidFill>
                <a:highlight>
                  <a:srgbClr val="C6EFCE"/>
                </a:highlight>
                <a:latin typeface="맑은 고딕"/>
                <a:ea typeface="맑은 고딕"/>
              </a:rPr>
              <a:t>렌더링 버벅임</a:t>
            </a:r>
          </a:p>
          <a:p>
            <a:pPr marL="190500" indent="-190500" algn="l">
              <a:lnSpc>
                <a:spcPct val="103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750" b="1" i="0">
                <a:solidFill>
                  <a:srgbClr val="1F3864"/>
                </a:solidFill>
                <a:latin typeface="맑은 고딕"/>
                <a:ea typeface="맑은 고딕"/>
              </a:rPr>
              <a:t>■ </a:t>
            </a:r>
            <a:r>
              <a:rPr sz="1250" b="1" i="0">
                <a:solidFill>
                  <a:srgbClr val="202020"/>
                </a:solidFill>
                <a:latin typeface="맑은 고딕"/>
                <a:ea typeface="맑은 고딕"/>
              </a:rPr>
              <a:t>체감 품질 저하</a:t>
            </a:r>
          </a:p>
          <a:p>
            <a:pPr marL="355600" indent="-165100" algn="l">
              <a:lnSpc>
                <a:spcPct val="103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050" b="0" i="0">
                <a:solidFill>
                  <a:srgbClr val="595959"/>
                </a:solidFill>
                <a:latin typeface="맑은 고딕"/>
                <a:ea typeface="맑은 고딕"/>
              </a:rPr>
              <a:t>– </a:t>
            </a:r>
            <a:r>
              <a:rPr sz="1050" b="0" i="0">
                <a:solidFill>
                  <a:srgbClr val="202020"/>
                </a:solidFill>
                <a:latin typeface="맑은 고딕"/>
                <a:ea typeface="맑은 고딕"/>
              </a:rPr>
              <a:t>로딩 지연·스크롤 끊김 → </a:t>
            </a:r>
            <a:r>
              <a:rPr sz="1050" b="1" i="0">
                <a:solidFill>
                  <a:srgbClr val="C0322B"/>
                </a:solidFill>
                <a:latin typeface="맑은 고딕"/>
                <a:ea typeface="맑은 고딕"/>
              </a:rPr>
              <a:t>이탈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9619488" y="4462272"/>
            <a:ext cx="603504" cy="603504"/>
          </a:xfrm>
          <a:prstGeom prst="roundRect">
            <a:avLst>
              <a:gd name="adj" fmla="val 8000"/>
            </a:avLst>
          </a:prstGeom>
          <a:solidFill>
            <a:srgbClr val="3C4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Rectangle 102"/>
          <p:cNvSpPr/>
          <p:nvPr/>
        </p:nvSpPr>
        <p:spPr>
          <a:xfrm>
            <a:off x="9729216" y="4389120"/>
            <a:ext cx="45720" cy="91440"/>
          </a:xfrm>
          <a:prstGeom prst="rect">
            <a:avLst/>
          </a:prstGeom>
          <a:solidFill>
            <a:srgbClr val="9AA0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Rectangle 103"/>
          <p:cNvSpPr/>
          <p:nvPr/>
        </p:nvSpPr>
        <p:spPr>
          <a:xfrm>
            <a:off x="9729216" y="5047488"/>
            <a:ext cx="45720" cy="91440"/>
          </a:xfrm>
          <a:prstGeom prst="rect">
            <a:avLst/>
          </a:prstGeom>
          <a:solidFill>
            <a:srgbClr val="9AA0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Rectangle 104"/>
          <p:cNvSpPr/>
          <p:nvPr/>
        </p:nvSpPr>
        <p:spPr>
          <a:xfrm>
            <a:off x="9866376" y="4389120"/>
            <a:ext cx="45720" cy="91440"/>
          </a:xfrm>
          <a:prstGeom prst="rect">
            <a:avLst/>
          </a:prstGeom>
          <a:solidFill>
            <a:srgbClr val="9AA0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Rectangle 105"/>
          <p:cNvSpPr/>
          <p:nvPr/>
        </p:nvSpPr>
        <p:spPr>
          <a:xfrm>
            <a:off x="9866376" y="5047488"/>
            <a:ext cx="45720" cy="91440"/>
          </a:xfrm>
          <a:prstGeom prst="rect">
            <a:avLst/>
          </a:prstGeom>
          <a:solidFill>
            <a:srgbClr val="9AA0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Rectangle 106"/>
          <p:cNvSpPr/>
          <p:nvPr/>
        </p:nvSpPr>
        <p:spPr>
          <a:xfrm>
            <a:off x="10003536" y="4389120"/>
            <a:ext cx="45720" cy="91440"/>
          </a:xfrm>
          <a:prstGeom prst="rect">
            <a:avLst/>
          </a:prstGeom>
          <a:solidFill>
            <a:srgbClr val="9AA0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8" name="Rectangle 107"/>
          <p:cNvSpPr/>
          <p:nvPr/>
        </p:nvSpPr>
        <p:spPr>
          <a:xfrm>
            <a:off x="10003536" y="5047488"/>
            <a:ext cx="45720" cy="91440"/>
          </a:xfrm>
          <a:prstGeom prst="rect">
            <a:avLst/>
          </a:prstGeom>
          <a:solidFill>
            <a:srgbClr val="9AA0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Rectangle 108"/>
          <p:cNvSpPr/>
          <p:nvPr/>
        </p:nvSpPr>
        <p:spPr>
          <a:xfrm>
            <a:off x="10140696" y="4389120"/>
            <a:ext cx="45720" cy="91440"/>
          </a:xfrm>
          <a:prstGeom prst="rect">
            <a:avLst/>
          </a:prstGeom>
          <a:solidFill>
            <a:srgbClr val="9AA0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Rectangle 109"/>
          <p:cNvSpPr/>
          <p:nvPr/>
        </p:nvSpPr>
        <p:spPr>
          <a:xfrm>
            <a:off x="10140696" y="5047488"/>
            <a:ext cx="45720" cy="91440"/>
          </a:xfrm>
          <a:prstGeom prst="rect">
            <a:avLst/>
          </a:prstGeom>
          <a:solidFill>
            <a:srgbClr val="9AA0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TextBox 110"/>
          <p:cNvSpPr txBox="1"/>
          <p:nvPr/>
        </p:nvSpPr>
        <p:spPr>
          <a:xfrm>
            <a:off x="9619488" y="4462272"/>
            <a:ext cx="603504" cy="603504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맑은 고딕"/>
                <a:ea typeface="맑은 고딕"/>
              </a:rPr>
              <a:t>SoC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0378440" y="4443984"/>
            <a:ext cx="914400" cy="14630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 i="0">
                <a:solidFill>
                  <a:srgbClr val="595959"/>
                </a:solidFill>
                <a:latin typeface="맑은 고딕"/>
                <a:ea typeface="맑은 고딕"/>
              </a:rPr>
              <a:t>필요 리소스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10378440" y="4590288"/>
            <a:ext cx="914400" cy="118872"/>
          </a:xfrm>
          <a:prstGeom prst="roundRect">
            <a:avLst>
              <a:gd name="adj" fmla="val 45000"/>
            </a:avLst>
          </a:prstGeom>
          <a:solidFill>
            <a:srgbClr val="C9C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TextBox 113"/>
          <p:cNvSpPr txBox="1"/>
          <p:nvPr/>
        </p:nvSpPr>
        <p:spPr>
          <a:xfrm>
            <a:off x="10378440" y="4736592"/>
            <a:ext cx="914400" cy="14630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 i="0">
                <a:solidFill>
                  <a:srgbClr val="595959"/>
                </a:solidFill>
                <a:latin typeface="맑은 고딕"/>
                <a:ea typeface="맑은 고딕"/>
              </a:rPr>
              <a:t>실제 처리량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10378440" y="4882896"/>
            <a:ext cx="384048" cy="118872"/>
          </a:xfrm>
          <a:prstGeom prst="roundRect">
            <a:avLst>
              <a:gd name="adj" fmla="val 45000"/>
            </a:avLst>
          </a:prstGeom>
          <a:solidFill>
            <a:srgbClr val="C03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6" name="TextBox 115"/>
          <p:cNvSpPr txBox="1"/>
          <p:nvPr/>
        </p:nvSpPr>
        <p:spPr>
          <a:xfrm>
            <a:off x="10378440" y="5029200"/>
            <a:ext cx="914400" cy="16459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1" i="0">
                <a:solidFill>
                  <a:srgbClr val="C0322B"/>
                </a:solidFill>
                <a:latin typeface="맑은 고딕"/>
                <a:ea typeface="맑은 고딕"/>
              </a:rPr>
              <a:t>버벅임 · 지연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411480" y="5907024"/>
            <a:ext cx="11384280" cy="475488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8" name="TextBox 117"/>
          <p:cNvSpPr txBox="1"/>
          <p:nvPr/>
        </p:nvSpPr>
        <p:spPr>
          <a:xfrm>
            <a:off x="640080" y="5907024"/>
            <a:ext cx="10972800" cy="47548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4FA9C4"/>
                </a:solidFill>
                <a:latin typeface="맑은 고딕"/>
                <a:ea typeface="맑은 고딕"/>
              </a:rPr>
              <a:t>결론  </a:t>
            </a:r>
            <a:r>
              <a:rPr sz="1250" b="0" i="0">
                <a:solidFill>
                  <a:srgbClr val="FFFFFF"/>
                </a:solidFill>
                <a:latin typeface="맑은 고딕"/>
                <a:ea typeface="맑은 고딕"/>
              </a:rPr>
              <a:t>리모컨·공용·저사양이라는 </a:t>
            </a:r>
            <a:r>
              <a:rPr sz="1250" b="1" i="0">
                <a:solidFill>
                  <a:srgbClr val="4FA9C4"/>
                </a:solidFill>
                <a:latin typeface="맑은 고딕"/>
                <a:ea typeface="맑은 고딕"/>
              </a:rPr>
              <a:t>TV 고유의 4대 제약</a:t>
            </a:r>
            <a:r>
              <a:rPr sz="1250" b="0" i="0">
                <a:solidFill>
                  <a:srgbClr val="FFFFFF"/>
                </a:solidFill>
                <a:latin typeface="맑은 고딕"/>
                <a:ea typeface="맑은 고딕"/>
              </a:rPr>
              <a:t> — UI 재배치가 아니라 </a:t>
            </a:r>
            <a:r>
              <a:rPr sz="1250" b="1" i="0">
                <a:solidFill>
                  <a:srgbClr val="4FA9C4"/>
                </a:solidFill>
                <a:latin typeface="맑은 고딕"/>
                <a:ea typeface="맑은 고딕"/>
              </a:rPr>
              <a:t>인터랙션 패러다임 전환</a:t>
            </a:r>
            <a:r>
              <a:rPr sz="1250" b="0" i="0">
                <a:solidFill>
                  <a:srgbClr val="FFFFFF"/>
                </a:solidFill>
                <a:latin typeface="맑은 고딕"/>
                <a:ea typeface="맑은 고딕"/>
              </a:rPr>
              <a:t>이 필요하다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11480" y="6565392"/>
            <a:ext cx="11338560" cy="25603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F7F7F"/>
                </a:solidFill>
                <a:latin typeface="맑은 고딕"/>
                <a:ea typeface="맑은 고딕"/>
              </a:rPr>
              <a:t>출처: Khan et al., "Smart TV User Interfaces" (2022) — UI 불만족률 91%. 가상 키보드 입력 속도·디바이스 성능은 내부 추정(공개 벤치마크 부재).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182880"/>
            <a:ext cx="7772400" cy="56692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202020"/>
                </a:solidFill>
                <a:latin typeface="맑은 고딕"/>
                <a:ea typeface="맑은 고딕"/>
              </a:rPr>
              <a:t>과제 배경</a:t>
            </a:r>
            <a:r>
              <a:rPr sz="2200" b="1" i="0">
                <a:solidFill>
                  <a:srgbClr val="7F7F7F"/>
                </a:solidFill>
                <a:latin typeface="맑은 고딕"/>
                <a:ea typeface="맑은 고딕"/>
              </a:rPr>
              <a:t>  |  </a:t>
            </a:r>
            <a:r>
              <a:rPr sz="2200" b="1" i="0">
                <a:solidFill>
                  <a:srgbClr val="595959"/>
                </a:solidFill>
                <a:latin typeface="맑은 고딕"/>
                <a:ea typeface="맑은 고딕"/>
              </a:rPr>
              <a:t>관련 동향 — Web Agent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822960"/>
            <a:ext cx="11384280" cy="40640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Pentagon 3"/>
          <p:cNvSpPr/>
          <p:nvPr/>
        </p:nvSpPr>
        <p:spPr>
          <a:xfrm>
            <a:off x="7244791" y="274320"/>
            <a:ext cx="1024128" cy="310896"/>
          </a:xfrm>
          <a:prstGeom prst="homePlate">
            <a:avLst>
              <a:gd name="adj" fmla="val 50000"/>
            </a:avLst>
          </a:prstGeom>
          <a:solidFill>
            <a:srgbClr val="4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2700" tIns="0" rIns="12700" bIns="0" rtlCol="0" anchor="ctr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  <a:ea typeface="맑은 고딕"/>
              </a:rPr>
              <a:t>과제 소개</a:t>
            </a:r>
          </a:p>
        </p:txBody>
      </p:sp>
      <p:sp>
        <p:nvSpPr>
          <p:cNvPr id="5" name="Chevron 4"/>
          <p:cNvSpPr/>
          <p:nvPr/>
        </p:nvSpPr>
        <p:spPr>
          <a:xfrm>
            <a:off x="8122615" y="274320"/>
            <a:ext cx="1024128" cy="310896"/>
          </a:xfrm>
          <a:prstGeom prst="chevron">
            <a:avLst>
              <a:gd name="adj" fmla="val 50000"/>
            </a:avLst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2700" tIns="0" rIns="12700" bIns="0" rtlCol="0" anchor="ctr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  <a:ea typeface="맑은 고딕"/>
              </a:rPr>
              <a:t>요구사항 분석</a:t>
            </a:r>
          </a:p>
        </p:txBody>
      </p:sp>
      <p:sp>
        <p:nvSpPr>
          <p:cNvPr id="6" name="Chevron 5"/>
          <p:cNvSpPr/>
          <p:nvPr/>
        </p:nvSpPr>
        <p:spPr>
          <a:xfrm>
            <a:off x="9000439" y="274320"/>
            <a:ext cx="1024128" cy="310896"/>
          </a:xfrm>
          <a:prstGeom prst="chevron">
            <a:avLst>
              <a:gd name="adj" fmla="val 50000"/>
            </a:avLst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2700" tIns="0" rIns="12700" bIns="0" rtlCol="0" anchor="ctr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  <a:ea typeface="맑은 고딕"/>
              </a:rPr>
              <a:t>설계</a:t>
            </a:r>
          </a:p>
        </p:txBody>
      </p:sp>
      <p:sp>
        <p:nvSpPr>
          <p:cNvPr id="7" name="Chevron 6"/>
          <p:cNvSpPr/>
          <p:nvPr/>
        </p:nvSpPr>
        <p:spPr>
          <a:xfrm>
            <a:off x="9878263" y="274320"/>
            <a:ext cx="1024128" cy="310896"/>
          </a:xfrm>
          <a:prstGeom prst="chevron">
            <a:avLst>
              <a:gd name="adj" fmla="val 50000"/>
            </a:avLst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2700" tIns="0" rIns="12700" bIns="0" rtlCol="0" anchor="ctr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  <a:ea typeface="맑은 고딕"/>
              </a:rPr>
              <a:t>구현 및 검증</a:t>
            </a:r>
          </a:p>
        </p:txBody>
      </p:sp>
      <p:sp>
        <p:nvSpPr>
          <p:cNvPr id="8" name="Chevron 7"/>
          <p:cNvSpPr/>
          <p:nvPr/>
        </p:nvSpPr>
        <p:spPr>
          <a:xfrm>
            <a:off x="10756087" y="274320"/>
            <a:ext cx="1024128" cy="310896"/>
          </a:xfrm>
          <a:prstGeom prst="chevron">
            <a:avLst>
              <a:gd name="adj" fmla="val 50000"/>
            </a:avLst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2700" tIns="0" rIns="12700" bIns="0" rtlCol="0" anchor="ctr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  <a:ea typeface="맑은 고딕"/>
              </a:rPr>
              <a:t>결론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280160"/>
            <a:ext cx="3703320" cy="4617720"/>
          </a:xfrm>
          <a:prstGeom prst="roundRect">
            <a:avLst>
              <a:gd name="adj" fmla="val 3000"/>
            </a:avLst>
          </a:prstGeom>
          <a:solidFill>
            <a:srgbClr val="FBFCFD"/>
          </a:solidFill>
          <a:ln w="15875">
            <a:solidFill>
              <a:srgbClr val="D0D5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731520" y="1078992"/>
            <a:ext cx="3063240" cy="457200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</a:rPr>
              <a:t>패러다임 전환 · 웹 생태계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42816" y="1280160"/>
            <a:ext cx="3703320" cy="4617720"/>
          </a:xfrm>
          <a:prstGeom prst="roundRect">
            <a:avLst>
              <a:gd name="adj" fmla="val 3000"/>
            </a:avLst>
          </a:prstGeom>
          <a:solidFill>
            <a:srgbClr val="FBFCFD"/>
          </a:solidFill>
          <a:ln w="15875">
            <a:solidFill>
              <a:srgbClr val="D0D5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4562856" y="1078992"/>
            <a:ext cx="3063240" cy="457200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</a:rPr>
              <a:t>제품 경쟁 구도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74152" y="1280160"/>
            <a:ext cx="3703320" cy="4617720"/>
          </a:xfrm>
          <a:prstGeom prst="roundRect">
            <a:avLst>
              <a:gd name="adj" fmla="val 3000"/>
            </a:avLst>
          </a:prstGeom>
          <a:solidFill>
            <a:srgbClr val="FBFCFD"/>
          </a:solidFill>
          <a:ln w="15875">
            <a:solidFill>
              <a:srgbClr val="D0D5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8394192" y="1078992"/>
            <a:ext cx="3063240" cy="457200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</a:rPr>
              <a:t>기술 성숙도 · 접근 방식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" y="1700784"/>
            <a:ext cx="3246120" cy="7315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marL="190500" indent="-190500" algn="l">
              <a:lnSpc>
                <a:spcPct val="103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750" b="1" i="0">
                <a:solidFill>
                  <a:srgbClr val="1F3864"/>
                </a:solidFill>
                <a:latin typeface="맑은 고딕"/>
                <a:ea typeface="맑은 고딕"/>
              </a:rPr>
              <a:t>■ </a:t>
            </a:r>
            <a:r>
              <a:rPr sz="1250" b="1" i="0">
                <a:solidFill>
                  <a:srgbClr val="202020"/>
                </a:solidFill>
                <a:latin typeface="맑은 고딕"/>
                <a:ea typeface="맑은 고딕"/>
              </a:rPr>
              <a:t>챗봇 → 자율 작업 Agent</a:t>
            </a:r>
          </a:p>
          <a:p>
            <a:pPr marL="355600" indent="-165100" algn="l">
              <a:lnSpc>
                <a:spcPct val="103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050" b="0" i="0">
                <a:solidFill>
                  <a:srgbClr val="595959"/>
                </a:solidFill>
                <a:latin typeface="맑은 고딕"/>
                <a:ea typeface="맑은 고딕"/>
              </a:rPr>
              <a:t>– </a:t>
            </a:r>
            <a:r>
              <a:rPr sz="1050" b="1" i="0">
                <a:solidFill>
                  <a:srgbClr val="202020"/>
                </a:solidFill>
                <a:highlight>
                  <a:srgbClr val="C6EFCE"/>
                </a:highlight>
                <a:latin typeface="맑은 고딕"/>
                <a:ea typeface="맑은 고딕"/>
              </a:rPr>
              <a:t>의도 이해 + 브라우저 자율 조작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" y="2267712"/>
            <a:ext cx="3246120" cy="21945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1F3864"/>
                </a:solidFill>
                <a:latin typeface="맑은 고딕"/>
                <a:ea typeface="맑은 고딕"/>
              </a:rPr>
              <a:t>AI Agent 시장 (USD B)</a:t>
            </a:r>
          </a:p>
        </p:txBody>
      </p:sp>
      <p:graphicFrame>
        <p:nvGraphicFramePr>
          <p:cNvPr id="17" name="Chart 16"/>
          <p:cNvGraphicFramePr>
            <a:graphicFrameLocks noGrp="1"/>
          </p:cNvGraphicFramePr>
          <p:nvPr/>
        </p:nvGraphicFramePr>
        <p:xfrm>
          <a:off x="457200" y="2487168"/>
          <a:ext cx="1783080" cy="98755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8" name="Rounded Rectangle 17"/>
          <p:cNvSpPr/>
          <p:nvPr/>
        </p:nvSpPr>
        <p:spPr>
          <a:xfrm>
            <a:off x="2285999" y="2578608"/>
            <a:ext cx="1645920" cy="868680"/>
          </a:xfrm>
          <a:prstGeom prst="roundRect">
            <a:avLst>
              <a:gd name="adj" fmla="val 10000"/>
            </a:avLst>
          </a:prstGeom>
          <a:solidFill>
            <a:srgbClr val="E9EFF8"/>
          </a:solidFill>
          <a:ln w="12700">
            <a:solidFill>
              <a:srgbClr val="B9C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285999" y="2587752"/>
            <a:ext cx="1645920" cy="85039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1E9E5A"/>
                </a:solidFill>
                <a:latin typeface="맑은 고딕"/>
                <a:ea typeface="맑은 고딕"/>
              </a:rPr>
              <a:t>CAGR 46.3%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595959"/>
                </a:solidFill>
                <a:latin typeface="맑은 고딕"/>
                <a:ea typeface="맑은 고딕"/>
              </a:rPr>
              <a:t>’25 $7.84B → ’30 $52.62B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" y="3566160"/>
            <a:ext cx="3246120" cy="23774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1F3864"/>
                </a:solidFill>
                <a:latin typeface="맑은 고딕"/>
                <a:ea typeface="맑은 고딕"/>
              </a:rPr>
              <a:t>웹 생태계 재편 — AI가 웹 소비를 바꾸는 3가지 지표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9224" y="3895344"/>
            <a:ext cx="786384" cy="475488"/>
          </a:xfrm>
          <a:prstGeom prst="roundRect">
            <a:avLst>
              <a:gd name="adj" fmla="val 18000"/>
            </a:avLst>
          </a:prstGeom>
          <a:solidFill>
            <a:srgbClr val="1E9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9224" y="3886200"/>
            <a:ext cx="786384" cy="47548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맑은 고딕"/>
                <a:ea typeface="맑은 고딕"/>
              </a:rPr>
              <a:t>13×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08760" y="3831336"/>
            <a:ext cx="2386584" cy="6400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94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02020"/>
                </a:solidFill>
                <a:latin typeface="맑은 고딕"/>
                <a:ea typeface="맑은 고딕"/>
              </a:rPr>
              <a:t>생성형 AI 경유 웹 트래픽 13배↑</a:t>
            </a:r>
          </a:p>
          <a:p>
            <a:pPr algn="l">
              <a:lnSpc>
                <a:spcPct val="94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595959"/>
                </a:solidFill>
                <a:latin typeface="맑은 고딕"/>
                <a:ea typeface="맑은 고딕"/>
              </a:rPr>
              <a:t>ChatGPT 등 생성형 AI 응답을 거쳐 웹사이트로 유입된 방문이 ’24.7 대비 ’25.5에 13배 이상 증가. AI가 검색을 대신해 '웹 발견의 입구'가 되는 중.</a:t>
            </a:r>
          </a:p>
          <a:p>
            <a:pPr algn="l">
              <a:lnSpc>
                <a:spcPct val="94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7F7F7F"/>
                </a:solidFill>
                <a:latin typeface="맑은 고딕"/>
                <a:ea typeface="맑은 고딕"/>
              </a:rPr>
              <a:t>출처: </a:t>
            </a:r>
            <a:r>
              <a:rPr sz="700" b="0" i="0">
                <a:solidFill>
                  <a:srgbClr val="7F7F7F"/>
                </a:solidFill>
                <a:latin typeface="맑은 고딕"/>
                <a:ea typeface="맑은 고딕"/>
              </a:rPr>
              <a:t>Adobe Analytics, 2025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9224" y="4517136"/>
            <a:ext cx="786384" cy="475488"/>
          </a:xfrm>
          <a:prstGeom prst="roundRect">
            <a:avLst>
              <a:gd name="adj" fmla="val 18000"/>
            </a:avLst>
          </a:prstGeom>
          <a:solidFill>
            <a:srgbClr val="2E5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49224" y="4507992"/>
            <a:ext cx="786384" cy="47548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맑은 고딕"/>
                <a:ea typeface="맑은 고딕"/>
              </a:rPr>
              <a:t>$3~5T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08760" y="4453128"/>
            <a:ext cx="2386584" cy="6400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94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02020"/>
                </a:solidFill>
                <a:latin typeface="맑은 고딕"/>
                <a:ea typeface="맑은 고딕"/>
              </a:rPr>
              <a:t>에이전틱 커머스가 $3~5조 재배분</a:t>
            </a:r>
          </a:p>
          <a:p>
            <a:pPr algn="l">
              <a:lnSpc>
                <a:spcPct val="94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595959"/>
                </a:solidFill>
                <a:latin typeface="맑은 고딕"/>
                <a:ea typeface="맑은 고딕"/>
              </a:rPr>
              <a:t>AI 에이전트가 사용자 대신 탐색·구매를 수행하는 커머스가 2030년까지 글로벌 소매 지출 $3~5조의 흐름을 재편할 전망.</a:t>
            </a:r>
          </a:p>
          <a:p>
            <a:pPr algn="l">
              <a:lnSpc>
                <a:spcPct val="94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7F7F7F"/>
                </a:solidFill>
                <a:latin typeface="맑은 고딕"/>
                <a:ea typeface="맑은 고딕"/>
              </a:rPr>
              <a:t>출처: </a:t>
            </a:r>
            <a:r>
              <a:rPr sz="700" b="0" i="0">
                <a:solidFill>
                  <a:srgbClr val="7F7F7F"/>
                </a:solidFill>
                <a:latin typeface="맑은 고딕"/>
                <a:ea typeface="맑은 고딕"/>
              </a:rPr>
              <a:t>McKinsey, 2025.10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9224" y="5138928"/>
            <a:ext cx="786384" cy="475488"/>
          </a:xfrm>
          <a:prstGeom prst="roundRect">
            <a:avLst>
              <a:gd name="adj" fmla="val 18000"/>
            </a:avLst>
          </a:prstGeom>
          <a:solidFill>
            <a:srgbClr val="E0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49224" y="5129784"/>
            <a:ext cx="786384" cy="47548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맑은 고딕"/>
                <a:ea typeface="맑은 고딕"/>
              </a:rPr>
              <a:t>4×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08760" y="5074920"/>
            <a:ext cx="2386584" cy="6400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94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02020"/>
                </a:solidFill>
                <a:latin typeface="맑은 고딕"/>
                <a:ea typeface="맑은 고딕"/>
              </a:rPr>
              <a:t>AI 채팅 상호작용 시 구매 전환 4배</a:t>
            </a:r>
          </a:p>
          <a:p>
            <a:pPr algn="l">
              <a:lnSpc>
                <a:spcPct val="94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595959"/>
                </a:solidFill>
                <a:latin typeface="맑은 고딕"/>
                <a:ea typeface="맑은 고딕"/>
              </a:rPr>
              <a:t>AI 채팅과 상호작용한 쇼핑객의 구매 전환율 12.3% — 상호작용하지 않은 경우(3.1%) 대비 약 4배.</a:t>
            </a:r>
          </a:p>
          <a:p>
            <a:pPr algn="l">
              <a:lnSpc>
                <a:spcPct val="94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7F7F7F"/>
                </a:solidFill>
                <a:latin typeface="맑은 고딕"/>
                <a:ea typeface="맑은 고딕"/>
              </a:rPr>
              <a:t>출처: </a:t>
            </a:r>
            <a:r>
              <a:rPr sz="700" b="0" i="0">
                <a:solidFill>
                  <a:srgbClr val="7F7F7F"/>
                </a:solidFill>
                <a:latin typeface="맑은 고딕"/>
                <a:ea typeface="맑은 고딕"/>
              </a:rPr>
              <a:t>Envive.ai, 2026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80560" y="1700784"/>
            <a:ext cx="3246120" cy="7315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marL="190500" indent="-190500" algn="l">
              <a:lnSpc>
                <a:spcPct val="103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750" b="1" i="0">
                <a:solidFill>
                  <a:srgbClr val="1F3864"/>
                </a:solidFill>
                <a:latin typeface="맑은 고딕"/>
                <a:ea typeface="맑은 고딕"/>
              </a:rPr>
              <a:t>■ </a:t>
            </a:r>
            <a:r>
              <a:rPr sz="1250" b="1" i="0">
                <a:solidFill>
                  <a:srgbClr val="202020"/>
                </a:solidFill>
                <a:latin typeface="맑은 고딕"/>
                <a:ea typeface="맑은 고딕"/>
              </a:rPr>
              <a:t>쏟아지는 AI 브라우저</a:t>
            </a:r>
          </a:p>
          <a:p>
            <a:pPr marL="355600" indent="-165100" algn="l">
              <a:lnSpc>
                <a:spcPct val="103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050" b="0" i="0">
                <a:solidFill>
                  <a:srgbClr val="595959"/>
                </a:solidFill>
                <a:latin typeface="맑은 고딕"/>
                <a:ea typeface="맑은 고딕"/>
              </a:rPr>
              <a:t>– </a:t>
            </a:r>
            <a:r>
              <a:rPr sz="1050" b="0" i="0">
                <a:solidFill>
                  <a:srgbClr val="202020"/>
                </a:solidFill>
                <a:latin typeface="맑은 고딕"/>
                <a:ea typeface="맑은 고딕"/>
              </a:rPr>
              <a:t>독립 제품 + 브라우저 통합 </a:t>
            </a:r>
            <a:r>
              <a:rPr sz="1050" b="1" i="0">
                <a:solidFill>
                  <a:srgbClr val="202020"/>
                </a:solidFill>
                <a:highlight>
                  <a:srgbClr val="C6EFCE"/>
                </a:highlight>
                <a:latin typeface="맑은 고딕"/>
                <a:ea typeface="맑은 고딕"/>
              </a:rPr>
              <a:t>두 갈래</a:t>
            </a:r>
          </a:p>
        </p:txBody>
      </p:sp>
      <p:sp>
        <p:nvSpPr>
          <p:cNvPr id="31" name="Oval 30"/>
          <p:cNvSpPr/>
          <p:nvPr/>
        </p:nvSpPr>
        <p:spPr>
          <a:xfrm>
            <a:off x="4498848" y="2450592"/>
            <a:ext cx="118872" cy="118872"/>
          </a:xfrm>
          <a:prstGeom prst="ellipse">
            <a:avLst/>
          </a:prstGeom>
          <a:solidFill>
            <a:srgbClr val="2E5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654296" y="2368296"/>
            <a:ext cx="822960" cy="237744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맑은 고딕"/>
                <a:ea typeface="맑은 고딕"/>
              </a:rPr>
              <a:t>독립</a:t>
            </a:r>
          </a:p>
        </p:txBody>
      </p:sp>
      <p:sp>
        <p:nvSpPr>
          <p:cNvPr id="33" name="Oval 32"/>
          <p:cNvSpPr/>
          <p:nvPr/>
        </p:nvSpPr>
        <p:spPr>
          <a:xfrm>
            <a:off x="5202936" y="2450592"/>
            <a:ext cx="118872" cy="118872"/>
          </a:xfrm>
          <a:prstGeom prst="ellipse">
            <a:avLst/>
          </a:prstGeom>
          <a:solidFill>
            <a:srgbClr val="1E9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358384" y="2368296"/>
            <a:ext cx="1371600" cy="237744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맑은 고딕"/>
                <a:ea typeface="맑은 고딕"/>
              </a:rPr>
              <a:t>브라우저 통합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96256" y="2907792"/>
            <a:ext cx="30480" cy="2743200"/>
          </a:xfrm>
          <a:prstGeom prst="rect">
            <a:avLst/>
          </a:prstGeom>
          <a:solidFill>
            <a:srgbClr val="D0D5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>
            <a:off x="5038344" y="2834640"/>
            <a:ext cx="146304" cy="146304"/>
          </a:xfrm>
          <a:prstGeom prst="ellipse">
            <a:avLst/>
          </a:prstGeom>
          <a:solidFill>
            <a:srgbClr val="2E5BA8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462272" y="2770632"/>
            <a:ext cx="566928" cy="27432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2E5BA8"/>
                </a:solidFill>
                <a:latin typeface="맑은 고딕"/>
                <a:ea typeface="맑은 고딕"/>
              </a:rPr>
              <a:t>’25.06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57800" y="2724912"/>
            <a:ext cx="2560320" cy="38404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02020"/>
                </a:solidFill>
                <a:latin typeface="맑은 고딕"/>
                <a:ea typeface="맑은 고딕"/>
              </a:rPr>
              <a:t>Dia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F7F7F"/>
                </a:solidFill>
                <a:latin typeface="맑은 고딕"/>
                <a:ea typeface="맑은 고딕"/>
              </a:rPr>
              <a:t>Browser Co.</a:t>
            </a:r>
          </a:p>
        </p:txBody>
      </p:sp>
      <p:sp>
        <p:nvSpPr>
          <p:cNvPr id="39" name="Oval 38"/>
          <p:cNvSpPr/>
          <p:nvPr/>
        </p:nvSpPr>
        <p:spPr>
          <a:xfrm>
            <a:off x="5038344" y="3520440"/>
            <a:ext cx="146304" cy="146304"/>
          </a:xfrm>
          <a:prstGeom prst="ellipse">
            <a:avLst/>
          </a:prstGeom>
          <a:solidFill>
            <a:srgbClr val="2E5BA8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4462272" y="3456432"/>
            <a:ext cx="566928" cy="27432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2E5BA8"/>
                </a:solidFill>
                <a:latin typeface="맑은 고딕"/>
                <a:ea typeface="맑은 고딕"/>
              </a:rPr>
              <a:t>’25.07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257800" y="3410712"/>
            <a:ext cx="2560320" cy="38404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02020"/>
                </a:solidFill>
                <a:latin typeface="맑은 고딕"/>
                <a:ea typeface="맑은 고딕"/>
              </a:rPr>
              <a:t>Comet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F7F7F"/>
                </a:solidFill>
                <a:latin typeface="맑은 고딕"/>
                <a:ea typeface="맑은 고딕"/>
              </a:rPr>
              <a:t>Perplexity</a:t>
            </a:r>
          </a:p>
        </p:txBody>
      </p:sp>
      <p:sp>
        <p:nvSpPr>
          <p:cNvPr id="42" name="Oval 41"/>
          <p:cNvSpPr/>
          <p:nvPr/>
        </p:nvSpPr>
        <p:spPr>
          <a:xfrm>
            <a:off x="5038344" y="4206240"/>
            <a:ext cx="146304" cy="146304"/>
          </a:xfrm>
          <a:prstGeom prst="ellipse">
            <a:avLst/>
          </a:prstGeom>
          <a:solidFill>
            <a:srgbClr val="2E5BA8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4462272" y="4142232"/>
            <a:ext cx="566928" cy="27432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2E5BA8"/>
                </a:solidFill>
                <a:latin typeface="맑은 고딕"/>
                <a:ea typeface="맑은 고딕"/>
              </a:rPr>
              <a:t>’25.10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257800" y="4096512"/>
            <a:ext cx="2560320" cy="38404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02020"/>
                </a:solidFill>
                <a:latin typeface="맑은 고딕"/>
                <a:ea typeface="맑은 고딕"/>
              </a:rPr>
              <a:t>ChatGPT Atlas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F7F7F"/>
                </a:solidFill>
                <a:latin typeface="맑은 고딕"/>
                <a:ea typeface="맑은 고딕"/>
              </a:rPr>
              <a:t>OpenAI</a:t>
            </a:r>
          </a:p>
        </p:txBody>
      </p:sp>
      <p:sp>
        <p:nvSpPr>
          <p:cNvPr id="45" name="Oval 44"/>
          <p:cNvSpPr/>
          <p:nvPr/>
        </p:nvSpPr>
        <p:spPr>
          <a:xfrm>
            <a:off x="5038344" y="4892040"/>
            <a:ext cx="146304" cy="146304"/>
          </a:xfrm>
          <a:prstGeom prst="ellipse">
            <a:avLst/>
          </a:prstGeom>
          <a:solidFill>
            <a:srgbClr val="1E9E5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4462272" y="4828032"/>
            <a:ext cx="566928" cy="27432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1E9E5A"/>
                </a:solidFill>
                <a:latin typeface="맑은 고딕"/>
                <a:ea typeface="맑은 고딕"/>
              </a:rPr>
              <a:t>’26.01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257800" y="4782312"/>
            <a:ext cx="2560320" cy="38404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02020"/>
                </a:solidFill>
                <a:latin typeface="맑은 고딕"/>
                <a:ea typeface="맑은 고딕"/>
              </a:rPr>
              <a:t>Chrome Auto Browse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F7F7F"/>
                </a:solidFill>
                <a:latin typeface="맑은 고딕"/>
                <a:ea typeface="맑은 고딕"/>
              </a:rPr>
              <a:t>Google</a:t>
            </a:r>
          </a:p>
        </p:txBody>
      </p:sp>
      <p:sp>
        <p:nvSpPr>
          <p:cNvPr id="48" name="Oval 47"/>
          <p:cNvSpPr/>
          <p:nvPr/>
        </p:nvSpPr>
        <p:spPr>
          <a:xfrm>
            <a:off x="5038344" y="5577840"/>
            <a:ext cx="146304" cy="146304"/>
          </a:xfrm>
          <a:prstGeom prst="ellipse">
            <a:avLst/>
          </a:prstGeom>
          <a:solidFill>
            <a:srgbClr val="2E5BA8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4462272" y="5513832"/>
            <a:ext cx="566928" cy="27432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2E5BA8"/>
                </a:solidFill>
                <a:latin typeface="맑은 고딕"/>
                <a:ea typeface="맑은 고딕"/>
              </a:rPr>
              <a:t>’26.02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257800" y="5468112"/>
            <a:ext cx="2560320" cy="38404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02020"/>
                </a:solidFill>
                <a:latin typeface="맑은 고딕"/>
                <a:ea typeface="맑은 고딕"/>
              </a:rPr>
              <a:t>Opera Neon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F7F7F"/>
                </a:solidFill>
                <a:latin typeface="맑은 고딕"/>
                <a:ea typeface="맑은 고딕"/>
              </a:rPr>
              <a:t>Opera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11896" y="1700784"/>
            <a:ext cx="3246120" cy="6400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marL="190500" indent="-190500" algn="l">
              <a:lnSpc>
                <a:spcPct val="103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690" b="1" i="0">
                <a:solidFill>
                  <a:srgbClr val="1F3864"/>
                </a:solidFill>
                <a:latin typeface="맑은 고딕"/>
                <a:ea typeface="맑은 고딕"/>
              </a:rPr>
              <a:t>■ </a:t>
            </a:r>
            <a:r>
              <a:rPr sz="1150" b="1" i="0">
                <a:solidFill>
                  <a:srgbClr val="202020"/>
                </a:solidFill>
                <a:latin typeface="맑은 고딕"/>
                <a:ea typeface="맑은 고딕"/>
              </a:rPr>
              <a:t>웹 자율수행 — 실용 수준 도달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11896" y="2212848"/>
            <a:ext cx="3246120" cy="23774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1F3864"/>
                </a:solidFill>
                <a:latin typeface="맑은 고딕"/>
                <a:ea typeface="맑은 고딕"/>
              </a:rPr>
              <a:t>WebVoyager 점수 (%)</a:t>
            </a:r>
          </a:p>
        </p:txBody>
      </p:sp>
      <p:graphicFrame>
        <p:nvGraphicFramePr>
          <p:cNvPr id="53" name="Chart 52"/>
          <p:cNvGraphicFramePr>
            <a:graphicFrameLocks noGrp="1"/>
          </p:cNvGraphicFramePr>
          <p:nvPr/>
        </p:nvGraphicFramePr>
        <p:xfrm>
          <a:off x="8119872" y="2450592"/>
          <a:ext cx="3566160" cy="1920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4" name="TextBox 53"/>
          <p:cNvSpPr txBox="1"/>
          <p:nvPr/>
        </p:nvSpPr>
        <p:spPr>
          <a:xfrm>
            <a:off x="8311896" y="4498848"/>
            <a:ext cx="3246120" cy="25603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1F3864"/>
                </a:solidFill>
                <a:latin typeface="맑은 고딕"/>
                <a:ea typeface="맑은 고딕"/>
              </a:rPr>
              <a:t>기술 접근 방식의 다양화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8311896" y="4791456"/>
            <a:ext cx="740664" cy="310896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8311896" y="4791456"/>
            <a:ext cx="740664" cy="31089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1F3864"/>
                </a:solidFill>
                <a:latin typeface="맑은 고딕"/>
                <a:ea typeface="맑은 고딕"/>
              </a:rPr>
              <a:t>DOM 인식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9144000" y="4791456"/>
            <a:ext cx="896112" cy="310896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9144000" y="4791456"/>
            <a:ext cx="896112" cy="31089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1F3864"/>
                </a:solidFill>
                <a:latin typeface="맑은 고딕"/>
                <a:ea typeface="맑은 고딕"/>
              </a:rPr>
              <a:t>비전 (VLM)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10131552" y="4791456"/>
            <a:ext cx="896112" cy="310896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10131552" y="4791456"/>
            <a:ext cx="896112" cy="31089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1F3864"/>
                </a:solidFill>
                <a:latin typeface="맑은 고딕"/>
                <a:ea typeface="맑은 고딕"/>
              </a:rPr>
              <a:t>오픈소스 SDK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311896" y="5230368"/>
            <a:ext cx="3246120" cy="4572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맑은 고딕"/>
                <a:ea typeface="맑은 고딕"/>
              </a:rPr>
              <a:t>DOM·비전·오픈웨이트로 </a:t>
            </a:r>
            <a:r>
              <a:rPr sz="900" b="1" i="0">
                <a:solidFill>
                  <a:srgbClr val="1F3864"/>
                </a:solidFill>
                <a:latin typeface="맑은 고딕"/>
                <a:ea typeface="맑은 고딕"/>
              </a:rPr>
              <a:t>구현 경로 다양화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11480" y="6053328"/>
            <a:ext cx="11384280" cy="45720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640080" y="6053328"/>
            <a:ext cx="10972800" cy="45720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4FA9C4"/>
                </a:solidFill>
                <a:latin typeface="맑은 고딕"/>
                <a:ea typeface="맑은 고딕"/>
              </a:rPr>
              <a:t>결론  </a:t>
            </a:r>
            <a:r>
              <a:rPr sz="1250" b="0" i="0">
                <a:solidFill>
                  <a:srgbClr val="FFFFFF"/>
                </a:solidFill>
                <a:latin typeface="맑은 고딕"/>
                <a:ea typeface="맑은 고딕"/>
              </a:rPr>
              <a:t>기술은 '되는가'를 넘어 </a:t>
            </a:r>
            <a:r>
              <a:rPr sz="1250" b="1" i="0">
                <a:solidFill>
                  <a:srgbClr val="4FA9C4"/>
                </a:solidFill>
                <a:latin typeface="맑은 고딕"/>
                <a:ea typeface="맑은 고딕"/>
              </a:rPr>
              <a:t>실용 단계</a:t>
            </a:r>
            <a:r>
              <a:rPr sz="1250" b="0" i="0">
                <a:solidFill>
                  <a:srgbClr val="FFFFFF"/>
                </a:solidFill>
                <a:latin typeface="맑은 고딕"/>
                <a:ea typeface="맑은 고딕"/>
              </a:rPr>
              <a:t> — 그러나 모든 제품이 </a:t>
            </a:r>
            <a:r>
              <a:rPr sz="1250" b="1" i="0">
                <a:solidFill>
                  <a:srgbClr val="4FA9C4"/>
                </a:solidFill>
                <a:latin typeface="맑은 고딕"/>
                <a:ea typeface="맑은 고딕"/>
              </a:rPr>
              <a:t>PC·모바일 타겟, TV는 공백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11480" y="6565392"/>
            <a:ext cx="11338560" cy="25603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F7F7F"/>
                </a:solidFill>
                <a:latin typeface="맑은 고딕"/>
                <a:ea typeface="맑은 고딕"/>
              </a:rPr>
              <a:t>출처: MarketsandMarkets (시장); Steel.dev WebVoyager Leaderboard (2026.02); Adobe Analytics·McKinsey·Envive (웹 생태계 영향).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182880"/>
            <a:ext cx="7772400" cy="56692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202020"/>
                </a:solidFill>
                <a:latin typeface="맑은 고딕"/>
                <a:ea typeface="맑은 고딕"/>
              </a:rPr>
              <a:t>과제 필요성</a:t>
            </a:r>
            <a:r>
              <a:rPr sz="2200" b="1" i="0">
                <a:solidFill>
                  <a:srgbClr val="7F7F7F"/>
                </a:solidFill>
                <a:latin typeface="맑은 고딕"/>
                <a:ea typeface="맑은 고딕"/>
              </a:rPr>
              <a:t>  |  </a:t>
            </a:r>
            <a:r>
              <a:rPr sz="2200" b="1" i="0">
                <a:solidFill>
                  <a:srgbClr val="595959"/>
                </a:solidFill>
                <a:latin typeface="맑은 고딕"/>
                <a:ea typeface="맑은 고딕"/>
              </a:rPr>
              <a:t>왜 삼성이, 지금 해야 하는가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822960"/>
            <a:ext cx="11384280" cy="40640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Pentagon 3"/>
          <p:cNvSpPr/>
          <p:nvPr/>
        </p:nvSpPr>
        <p:spPr>
          <a:xfrm>
            <a:off x="7244791" y="274320"/>
            <a:ext cx="1024128" cy="310896"/>
          </a:xfrm>
          <a:prstGeom prst="homePlate">
            <a:avLst>
              <a:gd name="adj" fmla="val 50000"/>
            </a:avLst>
          </a:prstGeom>
          <a:solidFill>
            <a:srgbClr val="4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2700" tIns="0" rIns="12700" bIns="0" rtlCol="0" anchor="ctr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  <a:ea typeface="맑은 고딕"/>
              </a:rPr>
              <a:t>과제 소개</a:t>
            </a:r>
          </a:p>
        </p:txBody>
      </p:sp>
      <p:sp>
        <p:nvSpPr>
          <p:cNvPr id="5" name="Chevron 4"/>
          <p:cNvSpPr/>
          <p:nvPr/>
        </p:nvSpPr>
        <p:spPr>
          <a:xfrm>
            <a:off x="8122615" y="274320"/>
            <a:ext cx="1024128" cy="310896"/>
          </a:xfrm>
          <a:prstGeom prst="chevron">
            <a:avLst>
              <a:gd name="adj" fmla="val 50000"/>
            </a:avLst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2700" tIns="0" rIns="12700" bIns="0" rtlCol="0" anchor="ctr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  <a:ea typeface="맑은 고딕"/>
              </a:rPr>
              <a:t>요구사항 분석</a:t>
            </a:r>
          </a:p>
        </p:txBody>
      </p:sp>
      <p:sp>
        <p:nvSpPr>
          <p:cNvPr id="6" name="Chevron 5"/>
          <p:cNvSpPr/>
          <p:nvPr/>
        </p:nvSpPr>
        <p:spPr>
          <a:xfrm>
            <a:off x="9000439" y="274320"/>
            <a:ext cx="1024128" cy="310896"/>
          </a:xfrm>
          <a:prstGeom prst="chevron">
            <a:avLst>
              <a:gd name="adj" fmla="val 50000"/>
            </a:avLst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2700" tIns="0" rIns="12700" bIns="0" rtlCol="0" anchor="ctr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  <a:ea typeface="맑은 고딕"/>
              </a:rPr>
              <a:t>설계</a:t>
            </a:r>
          </a:p>
        </p:txBody>
      </p:sp>
      <p:sp>
        <p:nvSpPr>
          <p:cNvPr id="7" name="Chevron 6"/>
          <p:cNvSpPr/>
          <p:nvPr/>
        </p:nvSpPr>
        <p:spPr>
          <a:xfrm>
            <a:off x="9878263" y="274320"/>
            <a:ext cx="1024128" cy="310896"/>
          </a:xfrm>
          <a:prstGeom prst="chevron">
            <a:avLst>
              <a:gd name="adj" fmla="val 50000"/>
            </a:avLst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2700" tIns="0" rIns="12700" bIns="0" rtlCol="0" anchor="ctr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  <a:ea typeface="맑은 고딕"/>
              </a:rPr>
              <a:t>구현 및 검증</a:t>
            </a:r>
          </a:p>
        </p:txBody>
      </p:sp>
      <p:sp>
        <p:nvSpPr>
          <p:cNvPr id="8" name="Chevron 7"/>
          <p:cNvSpPr/>
          <p:nvPr/>
        </p:nvSpPr>
        <p:spPr>
          <a:xfrm>
            <a:off x="10756087" y="274320"/>
            <a:ext cx="1024128" cy="310896"/>
          </a:xfrm>
          <a:prstGeom prst="chevron">
            <a:avLst>
              <a:gd name="adj" fmla="val 50000"/>
            </a:avLst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2700" tIns="0" rIns="12700" bIns="0" rtlCol="0" anchor="ctr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  <a:ea typeface="맑은 고딕"/>
              </a:rPr>
              <a:t>결론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280160"/>
            <a:ext cx="3703320" cy="4617720"/>
          </a:xfrm>
          <a:prstGeom prst="roundRect">
            <a:avLst>
              <a:gd name="adj" fmla="val 3000"/>
            </a:avLst>
          </a:prstGeom>
          <a:solidFill>
            <a:srgbClr val="FBFCFD"/>
          </a:solidFill>
          <a:ln w="15875">
            <a:solidFill>
              <a:srgbClr val="D0D5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777240" y="1078992"/>
            <a:ext cx="2971800" cy="457200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HW 경쟁의 한계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42816" y="1280160"/>
            <a:ext cx="3703320" cy="4617720"/>
          </a:xfrm>
          <a:prstGeom prst="roundRect">
            <a:avLst>
              <a:gd name="adj" fmla="val 3000"/>
            </a:avLst>
          </a:prstGeom>
          <a:solidFill>
            <a:srgbClr val="FBFCFD"/>
          </a:solidFill>
          <a:ln w="15875">
            <a:solidFill>
              <a:srgbClr val="D0D5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4608576" y="1078992"/>
            <a:ext cx="2971800" cy="457200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오픈 웹 = TV의 미개척 자산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74152" y="1280160"/>
            <a:ext cx="3703320" cy="4617720"/>
          </a:xfrm>
          <a:prstGeom prst="roundRect">
            <a:avLst>
              <a:gd name="adj" fmla="val 3000"/>
            </a:avLst>
          </a:prstGeom>
          <a:solidFill>
            <a:srgbClr val="FBFCFD"/>
          </a:solidFill>
          <a:ln w="15875">
            <a:solidFill>
              <a:srgbClr val="D0D5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8439912" y="1078992"/>
            <a:ext cx="2971800" cy="457200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비어 있는 TV 기회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" y="1719072"/>
            <a:ext cx="3264408" cy="1463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marL="190500" indent="-190500"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750" b="1" i="0">
                <a:solidFill>
                  <a:srgbClr val="1F3864"/>
                </a:solidFill>
                <a:latin typeface="맑은 고딕"/>
                <a:ea typeface="맑은 고딕"/>
              </a:rPr>
              <a:t>■ </a:t>
            </a:r>
            <a:r>
              <a:rPr sz="1250" b="1" i="0">
                <a:solidFill>
                  <a:srgbClr val="202020"/>
                </a:solidFill>
                <a:latin typeface="맑은 고딕"/>
                <a:ea typeface="맑은 고딕"/>
              </a:rPr>
              <a:t>HW 스펙 경쟁의 포화</a:t>
            </a:r>
          </a:p>
          <a:p>
            <a:pPr marL="355600" indent="-165100" algn="l">
              <a:lnSpc>
                <a:spcPct val="103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000" b="0" i="0">
                <a:solidFill>
                  <a:srgbClr val="595959"/>
                </a:solidFill>
                <a:latin typeface="맑은 고딕"/>
                <a:ea typeface="맑은 고딕"/>
              </a:rPr>
              <a:t>– </a:t>
            </a:r>
            <a:r>
              <a:rPr sz="1000" b="0" i="0">
                <a:solidFill>
                  <a:srgbClr val="202020"/>
                </a:solidFill>
                <a:latin typeface="맑은 고딕"/>
                <a:ea typeface="맑은 고딕"/>
              </a:rPr>
              <a:t>패널·화질·8K·밝기 경쟁이 </a:t>
            </a:r>
            <a:r>
              <a:rPr sz="1000" b="1" i="0">
                <a:solidFill>
                  <a:srgbClr val="202020"/>
                </a:solidFill>
                <a:highlight>
                  <a:srgbClr val="C6EFCE"/>
                </a:highlight>
                <a:latin typeface="맑은 고딕"/>
                <a:ea typeface="맑은 고딕"/>
              </a:rPr>
              <a:t>상향 평준화</a:t>
            </a:r>
          </a:p>
          <a:p>
            <a:pPr marL="355600" indent="-165100" algn="l">
              <a:lnSpc>
                <a:spcPct val="103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000" b="0" i="0">
                <a:solidFill>
                  <a:srgbClr val="595959"/>
                </a:solidFill>
                <a:latin typeface="맑은 고딕"/>
                <a:ea typeface="맑은 고딕"/>
              </a:rPr>
              <a:t>– </a:t>
            </a:r>
            <a:r>
              <a:rPr sz="1000" b="0" i="0">
                <a:solidFill>
                  <a:srgbClr val="202020"/>
                </a:solidFill>
                <a:latin typeface="맑은 고딕"/>
                <a:ea typeface="맑은 고딕"/>
              </a:rPr>
              <a:t>→ 체감 차별화 한계, 가격 경쟁으로 수렴</a:t>
            </a:r>
          </a:p>
          <a:p>
            <a:pPr marL="190500" indent="-190500"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750" b="1" i="0">
                <a:solidFill>
                  <a:srgbClr val="1F3864"/>
                </a:solidFill>
                <a:latin typeface="맑은 고딕"/>
                <a:ea typeface="맑은 고딕"/>
              </a:rPr>
              <a:t>■ </a:t>
            </a:r>
            <a:r>
              <a:rPr sz="1250" b="1" i="0">
                <a:solidFill>
                  <a:srgbClr val="202020"/>
                </a:solidFill>
                <a:latin typeface="맑은 고딕"/>
                <a:ea typeface="맑은 고딕"/>
              </a:rPr>
              <a:t>SW·AI 경험으로 경쟁축 이동</a:t>
            </a:r>
          </a:p>
          <a:p>
            <a:pPr marL="355600" indent="-165100" algn="l">
              <a:lnSpc>
                <a:spcPct val="103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000" b="0" i="0">
                <a:solidFill>
                  <a:srgbClr val="595959"/>
                </a:solidFill>
                <a:latin typeface="맑은 고딕"/>
                <a:ea typeface="맑은 고딕"/>
              </a:rPr>
              <a:t>– </a:t>
            </a:r>
            <a:r>
              <a:rPr sz="1000" b="0" i="0">
                <a:solidFill>
                  <a:srgbClr val="202020"/>
                </a:solidFill>
                <a:latin typeface="맑은 고딕"/>
                <a:ea typeface="맑은 고딕"/>
              </a:rPr>
              <a:t>Android/Google TV가 </a:t>
            </a:r>
            <a:r>
              <a:rPr sz="1000" b="1" i="0">
                <a:solidFill>
                  <a:srgbClr val="202020"/>
                </a:solidFill>
                <a:highlight>
                  <a:srgbClr val="C6EFCE"/>
                </a:highlight>
                <a:latin typeface="맑은 고딕"/>
                <a:ea typeface="맑은 고딕"/>
              </a:rPr>
              <a:t>Gemini를 OS에 통합</a:t>
            </a:r>
          </a:p>
          <a:p>
            <a:pPr marL="355600" indent="-165100" algn="l">
              <a:lnSpc>
                <a:spcPct val="103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000" b="0" i="0">
                <a:solidFill>
                  <a:srgbClr val="595959"/>
                </a:solidFill>
                <a:latin typeface="맑은 고딕"/>
                <a:ea typeface="맑은 고딕"/>
              </a:rPr>
              <a:t>– </a:t>
            </a:r>
            <a:r>
              <a:rPr sz="1000" b="0" i="0">
                <a:solidFill>
                  <a:srgbClr val="202020"/>
                </a:solidFill>
                <a:latin typeface="맑은 고딕"/>
                <a:ea typeface="맑은 고딕"/>
              </a:rPr>
              <a:t>→ AI 경험 격차 확대, Tizen은 </a:t>
            </a:r>
            <a:r>
              <a:rPr sz="1000" b="1" i="0">
                <a:solidFill>
                  <a:srgbClr val="C0322B"/>
                </a:solidFill>
                <a:latin typeface="맑은 고딕"/>
                <a:ea typeface="맑은 고딕"/>
              </a:rPr>
              <a:t>양쪽서 압박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" y="3547872"/>
            <a:ext cx="3264408" cy="13716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595959"/>
                </a:solidFill>
                <a:latin typeface="맑은 고딕"/>
                <a:ea typeface="맑은 고딕"/>
              </a:rPr>
              <a:t>하드웨어(패널·화질·해상도)로 벌 수 있는 차별화 마진이 줄면서, 플랫폼 경쟁력의 다음 축은 </a:t>
            </a:r>
            <a:r>
              <a:rPr sz="950" b="1" i="0">
                <a:solidFill>
                  <a:srgbClr val="1F3864"/>
                </a:solidFill>
                <a:latin typeface="맑은 고딕"/>
                <a:ea typeface="맑은 고딕"/>
              </a:rPr>
              <a:t>소프트웨어·서비스 경험</a:t>
            </a:r>
            <a:r>
              <a:rPr sz="950" b="0" i="0">
                <a:solidFill>
                  <a:srgbClr val="595959"/>
                </a:solidFill>
                <a:latin typeface="맑은 고딕"/>
                <a:ea typeface="맑은 고딕"/>
              </a:rPr>
              <a:t>으로 이동하고 있다. 경쟁 OS가 AI를 빠르게 통합하는 상황에서, AI 기반 웹 경험은 Tizen이 확보해야 할 핵심 차별화 수단이다.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" y="4864608"/>
            <a:ext cx="3264408" cy="20116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30" b="0" i="1">
                <a:solidFill>
                  <a:srgbClr val="7F7F7F"/>
                </a:solidFill>
                <a:latin typeface="맑은 고딕"/>
                <a:ea typeface="맑은 고딕"/>
              </a:rPr>
              <a:t>출처: Google ‘Gemini for Google TV’(2026)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111496"/>
            <a:ext cx="3246120" cy="621792"/>
          </a:xfrm>
          <a:prstGeom prst="roundRect">
            <a:avLst>
              <a:gd name="adj" fmla="val 10000"/>
            </a:avLst>
          </a:prstGeom>
          <a:solidFill>
            <a:srgbClr val="E9EFF8"/>
          </a:solidFill>
          <a:ln w="15875">
            <a:solidFill>
              <a:srgbClr val="B9C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49808" y="5111496"/>
            <a:ext cx="3026664" cy="62179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1">
                <a:solidFill>
                  <a:srgbClr val="1F3864"/>
                </a:solidFill>
                <a:latin typeface="맑은 고딕"/>
                <a:ea typeface="맑은 고딕"/>
              </a:rPr>
              <a:t>SW·서비스로 승부해야</a:t>
            </a:r>
          </a:p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1">
                <a:solidFill>
                  <a:srgbClr val="1F3864"/>
                </a:solidFill>
                <a:latin typeface="맑은 고딕"/>
                <a:ea typeface="맑은 고딕"/>
              </a:rPr>
              <a:t>HW 차별화 한계 → 경험 경쟁으로 전환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17136" y="1682496"/>
            <a:ext cx="3154680" cy="749808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517136" y="1700784"/>
            <a:ext cx="3154680" cy="71323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600" b="1" i="0">
                <a:solidFill>
                  <a:srgbClr val="FFFFFF"/>
                </a:solidFill>
                <a:latin typeface="맑은 고딕"/>
                <a:ea typeface="맑은 고딕"/>
              </a:rPr>
              <a:t>200개국 · 2억 대+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C9D6EC"/>
                </a:solidFill>
                <a:latin typeface="맑은 고딕"/>
                <a:ea typeface="맑은 고딕"/>
              </a:rPr>
              <a:t>Tizen 글로벌 설치 기반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98848" y="2505456"/>
            <a:ext cx="3246120" cy="23774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1F3864"/>
                </a:solidFill>
                <a:latin typeface="맑은 고딕"/>
                <a:ea typeface="맑은 고딕"/>
              </a:rPr>
              <a:t>TV가 접근할 콘텐츠·커머스 유니버스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17136" y="2761488"/>
            <a:ext cx="990600" cy="658368"/>
          </a:xfrm>
          <a:prstGeom prst="roundRect">
            <a:avLst>
              <a:gd name="adj" fmla="val 10000"/>
            </a:avLst>
          </a:prstGeom>
          <a:solidFill>
            <a:srgbClr val="E9EFF8"/>
          </a:solidFill>
          <a:ln w="12700">
            <a:solidFill>
              <a:srgbClr val="B9C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517136" y="2770632"/>
            <a:ext cx="990600" cy="6400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1F3864"/>
                </a:solidFill>
                <a:latin typeface="맑은 고딕"/>
                <a:ea typeface="맑은 고딕"/>
              </a:rPr>
              <a:t>무한한 콘텐츠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730" b="0" i="0">
                <a:solidFill>
                  <a:srgbClr val="595959"/>
                </a:solidFill>
                <a:latin typeface="맑은 고딕"/>
                <a:ea typeface="맑은 고딕"/>
              </a:rPr>
              <a:t>(정보·뉴스·영상)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599176" y="2761488"/>
            <a:ext cx="990600" cy="658368"/>
          </a:xfrm>
          <a:prstGeom prst="roundRect">
            <a:avLst>
              <a:gd name="adj" fmla="val 10000"/>
            </a:avLst>
          </a:prstGeom>
          <a:solidFill>
            <a:srgbClr val="E9EFF8"/>
          </a:solidFill>
          <a:ln w="12700">
            <a:solidFill>
              <a:srgbClr val="B9C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599176" y="2770632"/>
            <a:ext cx="990600" cy="6400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1F3864"/>
                </a:solidFill>
                <a:latin typeface="맑은 고딕"/>
                <a:ea typeface="맑은 고딕"/>
              </a:rPr>
              <a:t>트랜잭션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730" b="0" i="0">
                <a:solidFill>
                  <a:srgbClr val="595959"/>
                </a:solidFill>
                <a:latin typeface="맑은 고딕"/>
                <a:ea typeface="맑은 고딕"/>
              </a:rPr>
              <a:t>(쇼핑·예약·결제)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681216" y="2761488"/>
            <a:ext cx="990600" cy="658368"/>
          </a:xfrm>
          <a:prstGeom prst="roundRect">
            <a:avLst>
              <a:gd name="adj" fmla="val 10000"/>
            </a:avLst>
          </a:prstGeom>
          <a:solidFill>
            <a:srgbClr val="E9EFF8"/>
          </a:solidFill>
          <a:ln w="12700">
            <a:solidFill>
              <a:srgbClr val="B9C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681216" y="2770632"/>
            <a:ext cx="990600" cy="6400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1F3864"/>
                </a:solidFill>
                <a:latin typeface="맑은 고딕"/>
                <a:ea typeface="맑은 고딕"/>
              </a:rPr>
              <a:t>앱 밖 영역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730" b="0" i="0">
                <a:solidFill>
                  <a:srgbClr val="595959"/>
                </a:solidFill>
                <a:latin typeface="맑은 고딕"/>
                <a:ea typeface="맑은 고딕"/>
              </a:rPr>
              <a:t>(전 사이트 커버)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98848" y="3511296"/>
            <a:ext cx="3246120" cy="7498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830" b="0" i="0">
                <a:solidFill>
                  <a:srgbClr val="595959"/>
                </a:solidFill>
                <a:latin typeface="맑은 고딕"/>
                <a:ea typeface="맑은 고딕"/>
              </a:rPr>
              <a:t>앱(OTT 등)은 폐쇄적·파편적이지만, </a:t>
            </a:r>
            <a:r>
              <a:rPr sz="830" b="1" i="0">
                <a:solidFill>
                  <a:srgbClr val="1F3864"/>
                </a:solidFill>
                <a:latin typeface="맑은 고딕"/>
                <a:ea typeface="맑은 고딕"/>
              </a:rPr>
              <a:t>오픈 웹은 거의 모든 콘텐츠·쇼핑·서비스로 통하는 접점</a:t>
            </a:r>
            <a:r>
              <a:rPr sz="830" b="0" i="0">
                <a:solidFill>
                  <a:srgbClr val="595959"/>
                </a:solidFill>
                <a:latin typeface="맑은 고딕"/>
                <a:ea typeface="맑은 고딕"/>
              </a:rPr>
              <a:t>. AI Web Agent가 TV에서 이 웹을 ‘열어’ 미개척 자산을 활성화한다.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498848" y="4297680"/>
            <a:ext cx="3191256" cy="365760"/>
          </a:xfrm>
          <a:prstGeom prst="roundRect">
            <a:avLst>
              <a:gd name="adj" fmla="val 20000"/>
            </a:avLst>
          </a:prstGeom>
          <a:solidFill>
            <a:srgbClr val="EEF2F8"/>
          </a:solidFill>
          <a:ln w="12700">
            <a:solidFill>
              <a:srgbClr val="B9C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498848" y="4297680"/>
            <a:ext cx="3191256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202020"/>
                </a:solidFill>
                <a:latin typeface="맑은 고딕"/>
                <a:ea typeface="맑은 고딕"/>
              </a:rPr>
              <a:t>Smart TV 플랫폼 시장 </a:t>
            </a:r>
            <a:r>
              <a:rPr sz="900" b="1" i="0">
                <a:solidFill>
                  <a:srgbClr val="1F3864"/>
                </a:solidFill>
                <a:latin typeface="맑은 고딕"/>
                <a:ea typeface="맑은 고딕"/>
              </a:rPr>
              <a:t>$449.7B(’24) → $966.9B(’33)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98848" y="4809744"/>
            <a:ext cx="3246120" cy="20116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30" b="0" i="1">
                <a:solidFill>
                  <a:srgbClr val="7F7F7F"/>
                </a:solidFill>
                <a:latin typeface="맑은 고딕"/>
                <a:ea typeface="맑은 고딕"/>
              </a:rPr>
              <a:t>출처: Samsung Global Newsroom; ElectroIQ Smart TV Statistics(2026)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471416" y="5111496"/>
            <a:ext cx="3246120" cy="621792"/>
          </a:xfrm>
          <a:prstGeom prst="roundRect">
            <a:avLst>
              <a:gd name="adj" fmla="val 10000"/>
            </a:avLst>
          </a:prstGeom>
          <a:solidFill>
            <a:srgbClr val="E9EFF8"/>
          </a:solidFill>
          <a:ln w="15875">
            <a:solidFill>
              <a:srgbClr val="B9C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581144" y="5111496"/>
            <a:ext cx="3026664" cy="62179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1">
                <a:solidFill>
                  <a:srgbClr val="1F3864"/>
                </a:solidFill>
                <a:latin typeface="맑은 고딕"/>
                <a:ea typeface="맑은 고딕"/>
              </a:rPr>
              <a:t>오픈 웹 = 가장 큰 콘텐츠·커머스 접점</a:t>
            </a:r>
          </a:p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1">
                <a:solidFill>
                  <a:srgbClr val="1F3864"/>
                </a:solidFill>
                <a:latin typeface="맑은 고딕"/>
                <a:ea typeface="맑은 고딕"/>
              </a:rPr>
              <a:t>TV에선 닫혀 있다(Slide 1) → 에이전트가 연다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11896" y="1700784"/>
            <a:ext cx="3264408" cy="8686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marL="190500" indent="-190500" algn="l">
              <a:lnSpc>
                <a:spcPct val="103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750" b="1" i="0">
                <a:solidFill>
                  <a:srgbClr val="1F3864"/>
                </a:solidFill>
                <a:latin typeface="맑은 고딕"/>
                <a:ea typeface="맑은 고딕"/>
              </a:rPr>
              <a:t>■ </a:t>
            </a:r>
            <a:r>
              <a:rPr sz="1250" b="1" i="0">
                <a:solidFill>
                  <a:srgbClr val="202020"/>
                </a:solidFill>
                <a:latin typeface="맑은 고딕"/>
                <a:ea typeface="맑은 고딕"/>
              </a:rPr>
              <a:t>TV에는 아무도 없다</a:t>
            </a:r>
          </a:p>
          <a:p>
            <a:pPr marL="355600" indent="-165100" algn="l">
              <a:lnSpc>
                <a:spcPct val="103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950" b="0" i="0">
                <a:solidFill>
                  <a:srgbClr val="595959"/>
                </a:solidFill>
                <a:latin typeface="맑은 고딕"/>
                <a:ea typeface="맑은 고딕"/>
              </a:rPr>
              <a:t>– </a:t>
            </a:r>
            <a:r>
              <a:rPr sz="950" b="0" i="0">
                <a:solidFill>
                  <a:srgbClr val="202020"/>
                </a:solidFill>
                <a:latin typeface="맑은 고딕"/>
                <a:ea typeface="맑은 고딕"/>
              </a:rPr>
              <a:t>모든 AI 브라우저가 </a:t>
            </a:r>
            <a:r>
              <a:rPr sz="950" b="1" i="0">
                <a:solidFill>
                  <a:srgbClr val="C0322B"/>
                </a:solidFill>
                <a:latin typeface="맑은 고딕"/>
                <a:ea typeface="맑은 고딕"/>
              </a:rPr>
              <a:t>PC·모바일 전용</a:t>
            </a:r>
          </a:p>
          <a:p>
            <a:pPr marL="355600" indent="-165100" algn="l">
              <a:lnSpc>
                <a:spcPct val="103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950" b="0" i="0">
                <a:solidFill>
                  <a:srgbClr val="595959"/>
                </a:solidFill>
                <a:latin typeface="맑은 고딕"/>
                <a:ea typeface="맑은 고딕"/>
              </a:rPr>
              <a:t>– </a:t>
            </a:r>
            <a:r>
              <a:rPr sz="950" b="0" i="0">
                <a:solidFill>
                  <a:srgbClr val="202020"/>
                </a:solidFill>
                <a:latin typeface="맑은 고딕"/>
                <a:ea typeface="맑은 고딕"/>
              </a:rPr>
              <a:t>본격 적용 사례 전무 = </a:t>
            </a:r>
            <a:r>
              <a:rPr sz="950" b="1" i="0">
                <a:solidFill>
                  <a:srgbClr val="202020"/>
                </a:solidFill>
                <a:highlight>
                  <a:srgbClr val="C6EFCE"/>
                </a:highlight>
                <a:latin typeface="맑은 고딕"/>
                <a:ea typeface="맑은 고딕"/>
              </a:rPr>
              <a:t>블루오션</a:t>
            </a:r>
          </a:p>
        </p:txBody>
      </p:sp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8275320" y="2359152"/>
          <a:ext cx="3529584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제품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PC·모바일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TV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02020"/>
                          </a:solidFill>
                          <a:latin typeface="맑은 고딕"/>
                          <a:ea typeface="맑은 고딕"/>
                        </a:rPr>
                        <a:t>ChatGPT Atlas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1E9E5A"/>
                          </a:solidFill>
                          <a:latin typeface="맑은 고딕"/>
                          <a:ea typeface="맑은 고딕"/>
                        </a:rPr>
                        <a:t>✓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C0322B"/>
                          </a:solidFill>
                          <a:latin typeface="맑은 고딕"/>
                          <a:ea typeface="맑은 고딕"/>
                        </a:rPr>
                        <a:t>✗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02020"/>
                          </a:solidFill>
                          <a:latin typeface="맑은 고딕"/>
                          <a:ea typeface="맑은 고딕"/>
                        </a:rPr>
                        <a:t>Comet / Dia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1E9E5A"/>
                          </a:solidFill>
                          <a:latin typeface="맑은 고딕"/>
                          <a:ea typeface="맑은 고딕"/>
                        </a:rPr>
                        <a:t>✓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C0322B"/>
                          </a:solidFill>
                          <a:latin typeface="맑은 고딕"/>
                          <a:ea typeface="맑은 고딕"/>
                        </a:rPr>
                        <a:t>✗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02020"/>
                          </a:solidFill>
                          <a:latin typeface="맑은 고딕"/>
                          <a:ea typeface="맑은 고딕"/>
                        </a:rPr>
                        <a:t>Chrome Auto Browse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1E9E5A"/>
                          </a:solidFill>
                          <a:latin typeface="맑은 고딕"/>
                          <a:ea typeface="맑은 고딕"/>
                        </a:rPr>
                        <a:t>✓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C0322B"/>
                          </a:solidFill>
                          <a:latin typeface="맑은 고딕"/>
                          <a:ea typeface="맑은 고딕"/>
                        </a:rPr>
                        <a:t>✗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1E9E5A"/>
                          </a:solidFill>
                          <a:latin typeface="맑은 고딕"/>
                          <a:ea typeface="맑은 고딕"/>
                        </a:rPr>
                        <a:t>Tizen AI Web Agent</a:t>
                      </a:r>
                    </a:p>
                  </a:txBody>
                  <a:tcPr marL="50800" marR="50800" marT="12700" marB="12700" anchor="ctr">
                    <a:solidFill>
                      <a:srgbClr val="E8F3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50800" marR="50800" marT="12700" marB="12700" anchor="ctr">
                    <a:solidFill>
                      <a:srgbClr val="E8F3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E08A00"/>
                          </a:solidFill>
                          <a:latin typeface="맑은 고딕"/>
                          <a:ea typeface="맑은 고딕"/>
                        </a:rPr>
                        <a:t>★</a:t>
                      </a:r>
                    </a:p>
                  </a:txBody>
                  <a:tcPr marL="50800" marR="50800" marT="12700" marB="12700" anchor="ctr">
                    <a:solidFill>
                      <a:srgbClr val="E8F3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7" name="TextBox 36"/>
          <p:cNvSpPr txBox="1"/>
          <p:nvPr/>
        </p:nvSpPr>
        <p:spPr>
          <a:xfrm>
            <a:off x="8311896" y="4041648"/>
            <a:ext cx="3264408" cy="65836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830" b="0" i="0">
                <a:solidFill>
                  <a:srgbClr val="595959"/>
                </a:solidFill>
                <a:latin typeface="맑은 고딕"/>
                <a:ea typeface="맑은 고딕"/>
              </a:rPr>
              <a:t>데스크톱·모바일은 이미 레드오션. TV는 first-mover가 없는 </a:t>
            </a:r>
            <a:r>
              <a:rPr sz="830" b="1" i="0">
                <a:solidFill>
                  <a:srgbClr val="1F3864"/>
                </a:solidFill>
                <a:latin typeface="맑은 고딕"/>
                <a:ea typeface="맑은 고딕"/>
              </a:rPr>
              <a:t>블루오션</a:t>
            </a:r>
            <a:r>
              <a:rPr sz="830" b="0" i="0">
                <a:solidFill>
                  <a:srgbClr val="595959"/>
                </a:solidFill>
                <a:latin typeface="맑은 고딕"/>
                <a:ea typeface="맑은 고딕"/>
              </a:rPr>
              <a:t> — CES 2026 AI-Native TV 등장 등 흐름은 막 시작.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11896" y="4809744"/>
            <a:ext cx="3264408" cy="20116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30" b="0" i="1">
                <a:solidFill>
                  <a:srgbClr val="7F7F7F"/>
                </a:solidFill>
                <a:latin typeface="맑은 고딕"/>
                <a:ea typeface="맑은 고딕"/>
              </a:rPr>
              <a:t>출처: Steel.dev 리더보드(2026.02); AndroidGuys CES 2026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302752" y="5111496"/>
            <a:ext cx="3246120" cy="621792"/>
          </a:xfrm>
          <a:prstGeom prst="roundRect">
            <a:avLst>
              <a:gd name="adj" fmla="val 10000"/>
            </a:avLst>
          </a:prstGeom>
          <a:solidFill>
            <a:srgbClr val="E9EFF8"/>
          </a:solidFill>
          <a:ln w="15875">
            <a:solidFill>
              <a:srgbClr val="B9C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412480" y="5111496"/>
            <a:ext cx="3026664" cy="62179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1">
                <a:solidFill>
                  <a:srgbClr val="1F3864"/>
                </a:solidFill>
                <a:latin typeface="맑은 고딕"/>
                <a:ea typeface="맑은 고딕"/>
              </a:rPr>
              <a:t>First-mover 선점 기회</a:t>
            </a:r>
          </a:p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1">
                <a:solidFill>
                  <a:srgbClr val="1F3864"/>
                </a:solidFill>
                <a:latin typeface="맑은 고딕"/>
                <a:ea typeface="맑은 고딕"/>
              </a:rPr>
              <a:t>2억 대 기반 삼성이 선점 시 표준 효과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11480" y="6053328"/>
            <a:ext cx="11384280" cy="45720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40080" y="6053328"/>
            <a:ext cx="10972800" cy="45720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4FA9C4"/>
                </a:solidFill>
                <a:latin typeface="맑은 고딕"/>
                <a:ea typeface="맑은 고딕"/>
              </a:rPr>
              <a:t>결론  </a:t>
            </a:r>
            <a:r>
              <a:rPr sz="1250" b="0" i="0">
                <a:solidFill>
                  <a:srgbClr val="FFFFFF"/>
                </a:solidFill>
                <a:latin typeface="맑은 고딕"/>
                <a:ea typeface="맑은 고딕"/>
              </a:rPr>
              <a:t>2억 대 자산 </a:t>
            </a:r>
            <a:r>
              <a:rPr sz="1250" b="1" i="0">
                <a:solidFill>
                  <a:srgbClr val="4FA9C4"/>
                </a:solidFill>
                <a:latin typeface="맑은 고딕"/>
                <a:ea typeface="맑은 고딕"/>
              </a:rPr>
              <a:t>방어</a:t>
            </a:r>
            <a:r>
              <a:rPr sz="1250" b="0" i="0">
                <a:solidFill>
                  <a:srgbClr val="FFFFFF"/>
                </a:solidFill>
                <a:latin typeface="맑은 고딕"/>
                <a:ea typeface="맑은 고딕"/>
              </a:rPr>
              <a:t> × 비어 있는 TV </a:t>
            </a:r>
            <a:r>
              <a:rPr sz="1250" b="1" i="0">
                <a:solidFill>
                  <a:srgbClr val="4FA9C4"/>
                </a:solidFill>
                <a:latin typeface="맑은 고딕"/>
                <a:ea typeface="맑은 고딕"/>
              </a:rPr>
              <a:t>선점</a:t>
            </a:r>
            <a:r>
              <a:rPr sz="1250" b="0" i="0">
                <a:solidFill>
                  <a:srgbClr val="FFFFFF"/>
                </a:solidFill>
                <a:latin typeface="맑은 고딕"/>
                <a:ea typeface="맑은 고딕"/>
              </a:rPr>
              <a:t> → Tizen TV용 On-Device AI Web Agent를 지금 설계한다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1480" y="6565392"/>
            <a:ext cx="11338560" cy="25603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F7F7F"/>
                </a:solidFill>
                <a:latin typeface="맑은 고딕"/>
                <a:ea typeface="맑은 고딕"/>
              </a:rPr>
              <a:t>출처: Samsung Global Newsroom (Tizen 2억 대+); ElectroIQ Smart TV Statistics (2026); AndroidGuys CES 2026.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182880"/>
            <a:ext cx="7772400" cy="56692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202020"/>
                </a:solidFill>
                <a:latin typeface="맑은 고딕"/>
                <a:ea typeface="맑은 고딕"/>
              </a:rPr>
              <a:t>과제 개요</a:t>
            </a:r>
            <a:r>
              <a:rPr sz="2200" b="1" i="0">
                <a:solidFill>
                  <a:srgbClr val="7F7F7F"/>
                </a:solidFill>
                <a:latin typeface="맑은 고딕"/>
                <a:ea typeface="맑은 고딕"/>
              </a:rPr>
              <a:t>  |  </a:t>
            </a:r>
            <a:r>
              <a:rPr sz="2200" b="1" i="0">
                <a:solidFill>
                  <a:srgbClr val="595959"/>
                </a:solidFill>
                <a:latin typeface="맑은 고딕"/>
                <a:ea typeface="맑은 고딕"/>
              </a:rPr>
              <a:t>Project Overview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822960"/>
            <a:ext cx="11384280" cy="40640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Pentagon 3"/>
          <p:cNvSpPr/>
          <p:nvPr/>
        </p:nvSpPr>
        <p:spPr>
          <a:xfrm>
            <a:off x="7244791" y="274320"/>
            <a:ext cx="1024128" cy="310896"/>
          </a:xfrm>
          <a:prstGeom prst="homePlate">
            <a:avLst>
              <a:gd name="adj" fmla="val 50000"/>
            </a:avLst>
          </a:prstGeom>
          <a:solidFill>
            <a:srgbClr val="4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2700" tIns="0" rIns="12700" bIns="0" rtlCol="0" anchor="ctr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  <a:ea typeface="맑은 고딕"/>
              </a:rPr>
              <a:t>과제 소개</a:t>
            </a:r>
          </a:p>
        </p:txBody>
      </p:sp>
      <p:sp>
        <p:nvSpPr>
          <p:cNvPr id="5" name="Chevron 4"/>
          <p:cNvSpPr/>
          <p:nvPr/>
        </p:nvSpPr>
        <p:spPr>
          <a:xfrm>
            <a:off x="8122615" y="274320"/>
            <a:ext cx="1024128" cy="310896"/>
          </a:xfrm>
          <a:prstGeom prst="chevron">
            <a:avLst>
              <a:gd name="adj" fmla="val 50000"/>
            </a:avLst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2700" tIns="0" rIns="12700" bIns="0" rtlCol="0" anchor="ctr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  <a:ea typeface="맑은 고딕"/>
              </a:rPr>
              <a:t>요구사항 분석</a:t>
            </a:r>
          </a:p>
        </p:txBody>
      </p:sp>
      <p:sp>
        <p:nvSpPr>
          <p:cNvPr id="6" name="Chevron 5"/>
          <p:cNvSpPr/>
          <p:nvPr/>
        </p:nvSpPr>
        <p:spPr>
          <a:xfrm>
            <a:off x="9000439" y="274320"/>
            <a:ext cx="1024128" cy="310896"/>
          </a:xfrm>
          <a:prstGeom prst="chevron">
            <a:avLst>
              <a:gd name="adj" fmla="val 50000"/>
            </a:avLst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2700" tIns="0" rIns="12700" bIns="0" rtlCol="0" anchor="ctr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  <a:ea typeface="맑은 고딕"/>
              </a:rPr>
              <a:t>설계</a:t>
            </a:r>
          </a:p>
        </p:txBody>
      </p:sp>
      <p:sp>
        <p:nvSpPr>
          <p:cNvPr id="7" name="Chevron 6"/>
          <p:cNvSpPr/>
          <p:nvPr/>
        </p:nvSpPr>
        <p:spPr>
          <a:xfrm>
            <a:off x="9878263" y="274320"/>
            <a:ext cx="1024128" cy="310896"/>
          </a:xfrm>
          <a:prstGeom prst="chevron">
            <a:avLst>
              <a:gd name="adj" fmla="val 50000"/>
            </a:avLst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2700" tIns="0" rIns="12700" bIns="0" rtlCol="0" anchor="ctr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  <a:ea typeface="맑은 고딕"/>
              </a:rPr>
              <a:t>구현 및 검증</a:t>
            </a:r>
          </a:p>
        </p:txBody>
      </p:sp>
      <p:sp>
        <p:nvSpPr>
          <p:cNvPr id="8" name="Chevron 7"/>
          <p:cNvSpPr/>
          <p:nvPr/>
        </p:nvSpPr>
        <p:spPr>
          <a:xfrm>
            <a:off x="10756087" y="274320"/>
            <a:ext cx="1024128" cy="310896"/>
          </a:xfrm>
          <a:prstGeom prst="chevron">
            <a:avLst>
              <a:gd name="adj" fmla="val 50000"/>
            </a:avLst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2700" tIns="0" rIns="12700" bIns="0" rtlCol="0" anchor="ctr"/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  <a:ea typeface="맑은 고딕"/>
              </a:rPr>
              <a:t>결론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5097766"/>
              </p:ext>
            </p:extLst>
          </p:nvPr>
        </p:nvGraphicFramePr>
        <p:xfrm>
          <a:off x="640080" y="1417320"/>
          <a:ext cx="10908792" cy="44460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227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과제명</a:t>
                      </a:r>
                    </a:p>
                  </a:txBody>
                  <a:tcPr marL="152400" marR="508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6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50" b="1" i="0">
                          <a:solidFill>
                            <a:srgbClr val="1F3864"/>
                          </a:solidFill>
                          <a:latin typeface="맑은 고딕"/>
                          <a:ea typeface="맑은 고딕"/>
                        </a:rPr>
                        <a:t>Tizen TV AI Web Agent (AI Browser)</a:t>
                      </a:r>
                    </a:p>
                  </a:txBody>
                  <a:tcPr marL="152400" marR="1016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과제 유형</a:t>
                      </a:r>
                    </a:p>
                  </a:txBody>
                  <a:tcPr marL="152400" marR="508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6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150" b="1" i="0" dirty="0" err="1">
                          <a:solidFill>
                            <a:srgbClr val="202020"/>
                          </a:solidFill>
                          <a:latin typeface="맑은 고딕"/>
                          <a:ea typeface="맑은 고딕"/>
                        </a:rPr>
                        <a:t>신규</a:t>
                      </a:r>
                      <a:r>
                        <a:rPr sz="1150" b="1" i="0" dirty="0">
                          <a:solidFill>
                            <a:srgbClr val="20202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50" b="1" i="0" dirty="0" err="1">
                          <a:solidFill>
                            <a:srgbClr val="202020"/>
                          </a:solidFill>
                          <a:latin typeface="맑은 고딕"/>
                          <a:ea typeface="맑은 고딕"/>
                        </a:rPr>
                        <a:t>플랫폼</a:t>
                      </a:r>
                      <a:r>
                        <a:rPr sz="1150" b="1" i="0" dirty="0">
                          <a:solidFill>
                            <a:srgbClr val="20202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50" b="1" i="0" dirty="0" err="1">
                          <a:solidFill>
                            <a:srgbClr val="202020"/>
                          </a:solidFill>
                          <a:latin typeface="맑은 고딕"/>
                          <a:ea typeface="맑은 고딕"/>
                        </a:rPr>
                        <a:t>기능</a:t>
                      </a:r>
                      <a:r>
                        <a:rPr sz="1150" b="1" i="0" dirty="0">
                          <a:solidFill>
                            <a:srgbClr val="20202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50" b="1" i="0" dirty="0" err="1">
                          <a:solidFill>
                            <a:srgbClr val="202020"/>
                          </a:solidFill>
                          <a:latin typeface="맑은 고딕"/>
                          <a:ea typeface="맑은 고딕"/>
                        </a:rPr>
                        <a:t>설계</a:t>
                      </a:r>
                      <a:r>
                        <a:rPr sz="1150" b="1" i="0" dirty="0">
                          <a:solidFill>
                            <a:srgbClr val="202020"/>
                          </a:solidFill>
                          <a:latin typeface="맑은 고딕"/>
                          <a:ea typeface="맑은 고딕"/>
                        </a:rPr>
                        <a:t> · </a:t>
                      </a:r>
                      <a:r>
                        <a:rPr sz="1150" b="1" i="0" dirty="0" err="1">
                          <a:solidFill>
                            <a:srgbClr val="202020"/>
                          </a:solidFill>
                          <a:latin typeface="맑은 고딕"/>
                          <a:ea typeface="맑은 고딕"/>
                        </a:rPr>
                        <a:t>아키텍처</a:t>
                      </a:r>
                      <a:r>
                        <a:rPr sz="1150" b="1" i="0" dirty="0">
                          <a:solidFill>
                            <a:srgbClr val="20202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50" b="1" i="0" dirty="0" err="1">
                          <a:solidFill>
                            <a:srgbClr val="202020"/>
                          </a:solidFill>
                          <a:latin typeface="맑은 고딕"/>
                          <a:ea typeface="맑은 고딕"/>
                        </a:rPr>
                        <a:t>설계</a:t>
                      </a:r>
                      <a:r>
                        <a:rPr sz="1150" b="1" i="0" dirty="0">
                          <a:solidFill>
                            <a:srgbClr val="20202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50" b="1" i="0" dirty="0" err="1">
                          <a:solidFill>
                            <a:srgbClr val="202020"/>
                          </a:solidFill>
                          <a:latin typeface="맑은 고딕"/>
                          <a:ea typeface="맑은 고딕"/>
                        </a:rPr>
                        <a:t>문서화</a:t>
                      </a:r>
                      <a:r>
                        <a:rPr sz="1150" b="1" i="0" dirty="0">
                          <a:solidFill>
                            <a:srgbClr val="202020"/>
                          </a:solidFill>
                          <a:latin typeface="맑은 고딕"/>
                          <a:ea typeface="맑은 고딕"/>
                        </a:rPr>
                        <a:t>(ADS)</a:t>
                      </a:r>
                    </a:p>
                  </a:txBody>
                  <a:tcPr marL="152400" marR="1016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대상 플랫폼</a:t>
                      </a:r>
                    </a:p>
                  </a:txBody>
                  <a:tcPr marL="152400" marR="508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6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1" i="0" dirty="0">
                          <a:solidFill>
                            <a:srgbClr val="202020"/>
                          </a:solidFill>
                          <a:latin typeface="맑은 고딕"/>
                          <a:ea typeface="맑은 고딕"/>
                        </a:rPr>
                        <a:t>Samsung Tizen TV</a:t>
                      </a:r>
                      <a:endParaRPr sz="1050" b="0" i="0" dirty="0">
                        <a:solidFill>
                          <a:srgbClr val="595959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152400" marR="1016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과제 목표</a:t>
                      </a:r>
                    </a:p>
                  </a:txBody>
                  <a:tcPr marL="152400" marR="508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6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1" i="0" dirty="0">
                          <a:solidFill>
                            <a:srgbClr val="202020"/>
                          </a:solidFill>
                          <a:latin typeface="맑은 고딕"/>
                          <a:ea typeface="맑은 고딕"/>
                        </a:rPr>
                        <a:t>On-Device </a:t>
                      </a:r>
                      <a:r>
                        <a:rPr sz="1200" b="1" i="0" dirty="0" err="1">
                          <a:solidFill>
                            <a:srgbClr val="202020"/>
                          </a:solidFill>
                          <a:latin typeface="맑은 고딕"/>
                          <a:ea typeface="맑은 고딕"/>
                        </a:rPr>
                        <a:t>하네스</a:t>
                      </a:r>
                      <a:r>
                        <a:rPr sz="1200" b="1" i="0" dirty="0">
                          <a:solidFill>
                            <a:srgbClr val="20202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200" b="1" i="0" dirty="0" err="1">
                          <a:solidFill>
                            <a:srgbClr val="202020"/>
                          </a:solidFill>
                          <a:latin typeface="맑은 고딕"/>
                          <a:ea typeface="맑은 고딕"/>
                        </a:rPr>
                        <a:t>기반</a:t>
                      </a:r>
                      <a:r>
                        <a:rPr sz="1200" b="1" i="0" dirty="0">
                          <a:solidFill>
                            <a:srgbClr val="202020"/>
                          </a:solidFill>
                          <a:latin typeface="맑은 고딕"/>
                          <a:ea typeface="맑은 고딕"/>
                        </a:rPr>
                        <a:t> AI Web Agent </a:t>
                      </a:r>
                      <a:r>
                        <a:rPr sz="1200" b="1" i="0" dirty="0" err="1">
                          <a:solidFill>
                            <a:srgbClr val="202020"/>
                          </a:solidFill>
                          <a:latin typeface="맑은 고딕"/>
                          <a:ea typeface="맑은 고딕"/>
                        </a:rPr>
                        <a:t>설계</a:t>
                      </a:r>
                      <a:endParaRPr sz="950" b="1" i="0" dirty="0">
                        <a:solidFill>
                          <a:srgbClr val="595959"/>
                        </a:solidFill>
                        <a:latin typeface="맑은 고딕"/>
                        <a:ea typeface="맑은 고딕"/>
                      </a:endParaRPr>
                    </a:p>
                    <a:p>
                      <a:pPr marL="171450" indent="-171450" algn="l">
                        <a:lnSpc>
                          <a:spcPct val="106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sz="1100" b="1" i="0" dirty="0" err="1">
                          <a:solidFill>
                            <a:srgbClr val="202020"/>
                          </a:solidFill>
                          <a:latin typeface="맑은 고딕"/>
                          <a:ea typeface="맑은 고딕"/>
                        </a:rPr>
                        <a:t>음성·자연어로</a:t>
                      </a:r>
                      <a:r>
                        <a:rPr sz="1100" b="1" i="0" dirty="0">
                          <a:solidFill>
                            <a:srgbClr val="20202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1" i="0" dirty="0" err="1">
                          <a:solidFill>
                            <a:srgbClr val="202020"/>
                          </a:solidFill>
                          <a:latin typeface="맑은 고딕"/>
                          <a:ea typeface="맑은 고딕"/>
                        </a:rPr>
                        <a:t>위임하면</a:t>
                      </a:r>
                      <a:r>
                        <a:rPr sz="1100" b="1" i="0" dirty="0">
                          <a:solidFill>
                            <a:srgbClr val="20202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1" i="0" dirty="0" err="1">
                          <a:solidFill>
                            <a:srgbClr val="202020"/>
                          </a:solidFill>
                          <a:highlight>
                            <a:srgbClr val="C6EFCE"/>
                          </a:highlight>
                          <a:latin typeface="맑은 고딕"/>
                          <a:ea typeface="맑은 고딕"/>
                        </a:rPr>
                        <a:t>에이전트가</a:t>
                      </a:r>
                      <a:r>
                        <a:rPr sz="1100" b="1" i="0" dirty="0">
                          <a:solidFill>
                            <a:srgbClr val="202020"/>
                          </a:solidFill>
                          <a:highlight>
                            <a:srgbClr val="C6EFCE"/>
                          </a:highlight>
                          <a:latin typeface="맑은 고딕"/>
                          <a:ea typeface="맑은 고딕"/>
                        </a:rPr>
                        <a:t> 웹 </a:t>
                      </a:r>
                      <a:r>
                        <a:rPr sz="1100" b="1" i="0" dirty="0" err="1">
                          <a:solidFill>
                            <a:srgbClr val="202020"/>
                          </a:solidFill>
                          <a:highlight>
                            <a:srgbClr val="C6EFCE"/>
                          </a:highlight>
                          <a:latin typeface="맑은 고딕"/>
                          <a:ea typeface="맑은 고딕"/>
                        </a:rPr>
                        <a:t>브라우저를</a:t>
                      </a:r>
                      <a:r>
                        <a:rPr sz="1100" b="1" i="0" dirty="0">
                          <a:solidFill>
                            <a:srgbClr val="202020"/>
                          </a:solidFill>
                          <a:highlight>
                            <a:srgbClr val="C6EFCE"/>
                          </a:highlight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1" i="0" dirty="0" err="1">
                          <a:solidFill>
                            <a:srgbClr val="202020"/>
                          </a:solidFill>
                          <a:highlight>
                            <a:srgbClr val="C6EFCE"/>
                          </a:highlight>
                          <a:latin typeface="맑은 고딕"/>
                          <a:ea typeface="맑은 고딕"/>
                        </a:rPr>
                        <a:t>자율</a:t>
                      </a:r>
                      <a:r>
                        <a:rPr sz="1100" b="1" i="0" dirty="0">
                          <a:solidFill>
                            <a:srgbClr val="202020"/>
                          </a:solidFill>
                          <a:highlight>
                            <a:srgbClr val="C6EFCE"/>
                          </a:highlight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1" i="0" dirty="0" err="1">
                          <a:solidFill>
                            <a:srgbClr val="202020"/>
                          </a:solidFill>
                          <a:highlight>
                            <a:srgbClr val="C6EFCE"/>
                          </a:highlight>
                          <a:latin typeface="맑은 고딕"/>
                          <a:ea typeface="맑은 고딕"/>
                        </a:rPr>
                        <a:t>조작</a:t>
                      </a:r>
                      <a:r>
                        <a:rPr sz="1100" b="1" i="0" dirty="0" err="1">
                          <a:solidFill>
                            <a:srgbClr val="202020"/>
                          </a:solidFill>
                          <a:latin typeface="맑은 고딕"/>
                          <a:ea typeface="맑은 고딕"/>
                        </a:rPr>
                        <a:t>해</a:t>
                      </a:r>
                      <a:r>
                        <a:rPr sz="1100" b="1" i="0" dirty="0">
                          <a:solidFill>
                            <a:srgbClr val="20202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1" i="0" dirty="0" err="1">
                          <a:solidFill>
                            <a:srgbClr val="202020"/>
                          </a:solidFill>
                          <a:latin typeface="맑은 고딕"/>
                          <a:ea typeface="맑은 고딕"/>
                        </a:rPr>
                        <a:t>태스크</a:t>
                      </a:r>
                      <a:r>
                        <a:rPr sz="1100" b="1" i="0" dirty="0">
                          <a:solidFill>
                            <a:srgbClr val="20202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1" i="0" dirty="0" err="1">
                          <a:solidFill>
                            <a:srgbClr val="202020"/>
                          </a:solidFill>
                          <a:latin typeface="맑은 고딕"/>
                          <a:ea typeface="맑은 고딕"/>
                        </a:rPr>
                        <a:t>완료</a:t>
                      </a:r>
                      <a:endParaRPr lang="en-US" sz="1100" b="1" i="0" dirty="0">
                        <a:solidFill>
                          <a:srgbClr val="202020"/>
                        </a:solidFill>
                        <a:latin typeface="맑은 고딕"/>
                        <a:ea typeface="맑은 고딕"/>
                      </a:endParaRPr>
                    </a:p>
                    <a:p>
                      <a:pPr marL="171450" indent="-171450" algn="l">
                        <a:lnSpc>
                          <a:spcPct val="106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sz="1100" b="1" i="0" dirty="0">
                          <a:solidFill>
                            <a:srgbClr val="202020"/>
                          </a:solidFill>
                          <a:latin typeface="맑은 고딕"/>
                          <a:ea typeface="맑은 고딕"/>
                        </a:rPr>
                        <a:t>Background</a:t>
                      </a:r>
                      <a:r>
                        <a:rPr lang="ko-KR" altLang="en-US" sz="1100" b="1" i="0" dirty="0">
                          <a:solidFill>
                            <a:srgbClr val="202020"/>
                          </a:solidFill>
                          <a:latin typeface="맑은 고딕"/>
                          <a:ea typeface="맑은 고딕"/>
                        </a:rPr>
                        <a:t>에서 태스크 처리를 위한 </a:t>
                      </a:r>
                      <a:r>
                        <a:rPr lang="en-US" altLang="ko-KR" sz="1100" b="1" i="0" dirty="0">
                          <a:solidFill>
                            <a:srgbClr val="202020"/>
                          </a:solidFill>
                          <a:latin typeface="맑은 고딕"/>
                          <a:ea typeface="맑은 고딕"/>
                        </a:rPr>
                        <a:t>Headless </a:t>
                      </a:r>
                      <a:r>
                        <a:rPr lang="ko-KR" altLang="en-US" sz="1100" b="1" i="0" dirty="0">
                          <a:solidFill>
                            <a:srgbClr val="202020"/>
                          </a:solidFill>
                          <a:latin typeface="맑은 고딕"/>
                          <a:ea typeface="맑은 고딕"/>
                        </a:rPr>
                        <a:t>브라우저 지원</a:t>
                      </a:r>
                      <a:endParaRPr lang="en-US" altLang="ko-KR" sz="1100" b="1" i="0" dirty="0">
                        <a:solidFill>
                          <a:srgbClr val="202020"/>
                        </a:solidFill>
                        <a:latin typeface="맑은 고딕"/>
                        <a:ea typeface="맑은 고딕"/>
                      </a:endParaRPr>
                    </a:p>
                    <a:p>
                      <a:pPr marL="171450" indent="-171450" algn="l">
                        <a:lnSpc>
                          <a:spcPct val="106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sz="1100" b="1" i="0" dirty="0">
                          <a:solidFill>
                            <a:srgbClr val="202020"/>
                          </a:solidFill>
                          <a:latin typeface="맑은 고딕"/>
                          <a:ea typeface="맑은 고딕"/>
                        </a:rPr>
                        <a:t>AIOS </a:t>
                      </a:r>
                      <a:r>
                        <a:rPr lang="ko-KR" altLang="en-US" sz="1100" b="1" i="0" dirty="0">
                          <a:solidFill>
                            <a:srgbClr val="202020"/>
                          </a:solidFill>
                          <a:latin typeface="맑은 고딕"/>
                          <a:ea typeface="맑은 고딕"/>
                        </a:rPr>
                        <a:t>다른 </a:t>
                      </a:r>
                      <a:r>
                        <a:rPr lang="en-US" altLang="ko-KR" sz="1100" b="1" i="0" dirty="0">
                          <a:solidFill>
                            <a:srgbClr val="202020"/>
                          </a:solidFill>
                          <a:latin typeface="맑은 고딕"/>
                          <a:ea typeface="맑은 고딕"/>
                        </a:rPr>
                        <a:t>Agentic </a:t>
                      </a:r>
                      <a:r>
                        <a:rPr lang="ko-KR" altLang="en-US" sz="1100" b="1" i="0" dirty="0">
                          <a:solidFill>
                            <a:srgbClr val="202020"/>
                          </a:solidFill>
                          <a:latin typeface="맑은 고딕"/>
                          <a:ea typeface="맑은 고딕"/>
                        </a:rPr>
                        <a:t>모듈들과 상호작용할 수 있는 인터페이스 지원</a:t>
                      </a:r>
                      <a:endParaRPr sz="1100" b="1" i="0" dirty="0">
                        <a:solidFill>
                          <a:srgbClr val="20202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152400" marR="1016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250" b="1" i="0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핵심</a:t>
                      </a:r>
                      <a:r>
                        <a:rPr sz="1250" b="1" i="0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250" b="1" i="0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산출물</a:t>
                      </a:r>
                      <a:endParaRPr sz="1250" b="1" i="0" dirty="0">
                        <a:solidFill>
                          <a:srgbClr val="FFFFFF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152400" marR="508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6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lang="en-US" sz="1200" b="1" i="0" dirty="0">
                          <a:solidFill>
                            <a:srgbClr val="202020"/>
                          </a:solidFill>
                          <a:latin typeface="맑은 고딕"/>
                          <a:ea typeface="맑은 고딕"/>
                        </a:rPr>
                        <a:t>Web Agent daemon / Headless</a:t>
                      </a:r>
                      <a:r>
                        <a:rPr lang="ko-KR" altLang="en-US" sz="1200" b="1" i="0" dirty="0">
                          <a:solidFill>
                            <a:srgbClr val="202020"/>
                          </a:solidFill>
                          <a:latin typeface="맑은 고딕"/>
                          <a:ea typeface="맑은 고딕"/>
                        </a:rPr>
                        <a:t> 브라우저</a:t>
                      </a:r>
                      <a:endParaRPr lang="en-US" sz="1200" b="1" i="0" dirty="0">
                        <a:solidFill>
                          <a:srgbClr val="202020"/>
                        </a:solidFill>
                        <a:latin typeface="맑은 고딕"/>
                        <a:ea typeface="맑은 고딕"/>
                      </a:endParaRPr>
                    </a:p>
                    <a:p>
                      <a:pPr algn="l">
                        <a:lnSpc>
                          <a:spcPct val="106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1" i="0" dirty="0">
                          <a:solidFill>
                            <a:srgbClr val="202020"/>
                          </a:solidFill>
                          <a:latin typeface="맑은 고딕"/>
                          <a:ea typeface="맑은 고딕"/>
                        </a:rPr>
                        <a:t>Architecture Design Specification (ADS)</a:t>
                      </a:r>
                      <a:endParaRPr sz="1000" b="1" i="0" dirty="0">
                        <a:solidFill>
                          <a:srgbClr val="595959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152400" marR="1016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참여 인력</a:t>
                      </a:r>
                    </a:p>
                  </a:txBody>
                  <a:tcPr marL="152400" marR="508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6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lang="en-US" sz="1100" b="1" i="0" dirty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</a:rPr>
                        <a:t>SR : x</a:t>
                      </a:r>
                      <a:r>
                        <a:rPr lang="ko-KR" altLang="en-US" sz="1100" b="1" i="0" dirty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</a:rPr>
                        <a:t>명 </a:t>
                      </a:r>
                      <a:r>
                        <a:rPr lang="en-US" altLang="ko-KR" sz="1100" b="1" i="0" dirty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</a:rPr>
                        <a:t>&lt;</a:t>
                      </a:r>
                      <a:r>
                        <a:rPr lang="ko-KR" altLang="en-US" sz="1100" b="1" i="0" dirty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</a:rPr>
                        <a:t>설계 </a:t>
                      </a:r>
                      <a:r>
                        <a:rPr lang="en-US" altLang="ko-KR" sz="1100" b="1" i="0" dirty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</a:rPr>
                        <a:t>/ </a:t>
                      </a:r>
                      <a:r>
                        <a:rPr lang="ko-KR" altLang="en-US" sz="1100" b="1" i="0" dirty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</a:rPr>
                        <a:t>구현</a:t>
                      </a:r>
                      <a:r>
                        <a:rPr lang="en-US" altLang="ko-KR" sz="1100" b="1" i="0" dirty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</a:rPr>
                        <a:t>&gt;</a:t>
                      </a:r>
                    </a:p>
                    <a:p>
                      <a:pPr algn="l">
                        <a:lnSpc>
                          <a:spcPct val="106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lang="en-US" sz="1100" b="1" i="0" dirty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</a:rPr>
                        <a:t>VD</a:t>
                      </a:r>
                      <a:r>
                        <a:rPr lang="ko-KR" altLang="en-US" sz="1100" b="1" i="0" dirty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lang="en-US" altLang="ko-KR" sz="1100" b="1" i="0" dirty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</a:rPr>
                        <a:t>:</a:t>
                      </a:r>
                      <a:r>
                        <a:rPr lang="ko-KR" altLang="en-US" sz="1100" b="1" i="0" dirty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lang="en-US" altLang="ko-KR" sz="1100" b="1" i="0" dirty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</a:rPr>
                        <a:t>x</a:t>
                      </a:r>
                      <a:r>
                        <a:rPr lang="ko-KR" altLang="en-US" sz="1100" b="1" i="0" dirty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</a:rPr>
                        <a:t>명 </a:t>
                      </a:r>
                      <a:r>
                        <a:rPr lang="en-US" altLang="ko-KR" sz="1100" b="1" i="0" dirty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</a:rPr>
                        <a:t>&lt;</a:t>
                      </a:r>
                      <a:r>
                        <a:rPr lang="ko-KR" altLang="en-US" sz="1100" b="1" i="0" dirty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</a:rPr>
                        <a:t>설계 리뷰</a:t>
                      </a:r>
                      <a:r>
                        <a:rPr lang="en-US" altLang="ko-KR" sz="1100" b="1" i="0" dirty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</a:rPr>
                        <a:t>&gt;</a:t>
                      </a:r>
                      <a:endParaRPr sz="1100" b="1" i="1" dirty="0">
                        <a:solidFill>
                          <a:srgbClr val="7F7F7F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152400" marR="1016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R&amp;R · 역할</a:t>
                      </a:r>
                    </a:p>
                  </a:txBody>
                  <a:tcPr marL="152400" marR="508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6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lang="en-US" sz="1100" b="1" i="0" dirty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</a:rPr>
                        <a:t>S/W </a:t>
                      </a:r>
                      <a:r>
                        <a:rPr lang="ko-KR" altLang="en-US" sz="1100" b="1" i="0" dirty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</a:rPr>
                        <a:t>설계 및 </a:t>
                      </a:r>
                      <a:r>
                        <a:rPr lang="en-US" altLang="ko-KR" sz="1100" b="1" i="0" dirty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</a:rPr>
                        <a:t>TL</a:t>
                      </a:r>
                      <a:endParaRPr sz="1100" b="1" i="0" dirty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152400" marR="1016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일정</a:t>
                      </a:r>
                    </a:p>
                  </a:txBody>
                  <a:tcPr marL="152400" marR="508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6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lang="en-US" altLang="ko-KR" sz="1100" b="1" i="0" dirty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</a:rPr>
                        <a:t>`26.01 ~ `26.12</a:t>
                      </a:r>
                    </a:p>
                  </a:txBody>
                  <a:tcPr marL="152400" marR="1016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640080" y="5961888"/>
            <a:ext cx="10908792" cy="45720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68680" y="6089178"/>
            <a:ext cx="10469880" cy="20262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 dirty="0">
                <a:solidFill>
                  <a:srgbClr val="4FA9C4"/>
                </a:solidFill>
                <a:latin typeface="맑은 고딕"/>
                <a:ea typeface="맑은 고딕"/>
              </a:rPr>
              <a:t>한 줄 </a:t>
            </a:r>
            <a:r>
              <a:rPr sz="1100" b="1" i="0" dirty="0" err="1">
                <a:solidFill>
                  <a:srgbClr val="4FA9C4"/>
                </a:solidFill>
                <a:latin typeface="맑은 고딕"/>
                <a:ea typeface="맑은 고딕"/>
              </a:rPr>
              <a:t>정의</a:t>
            </a:r>
            <a:r>
              <a:rPr sz="1100" b="1" i="0" dirty="0">
                <a:solidFill>
                  <a:srgbClr val="4FA9C4"/>
                </a:solidFill>
                <a:latin typeface="맑은 고딕"/>
                <a:ea typeface="맑은 고딕"/>
              </a:rPr>
              <a:t>  </a:t>
            </a:r>
            <a:r>
              <a:rPr lang="ko-KR" altLang="en-US" sz="1150" b="0" i="0" dirty="0">
                <a:solidFill>
                  <a:srgbClr val="FFFFFF"/>
                </a:solidFill>
                <a:latin typeface="맑은 고딕"/>
                <a:ea typeface="맑은 고딕"/>
              </a:rPr>
              <a:t> 사용자의 자연어 의도를 이해하고 웹 브라우저를 자율 조작해 태스크를 완료하는 </a:t>
            </a:r>
            <a:r>
              <a:rPr lang="en-US" altLang="ko-KR" sz="1150" b="0" i="0" dirty="0">
                <a:solidFill>
                  <a:srgbClr val="FFFFFF"/>
                </a:solidFill>
                <a:latin typeface="맑은 고딕"/>
                <a:ea typeface="맑은 고딕"/>
              </a:rPr>
              <a:t>On-Device </a:t>
            </a:r>
            <a:r>
              <a:rPr lang="ko-KR" altLang="en-US" sz="1150" b="0" i="0" dirty="0" err="1">
                <a:solidFill>
                  <a:srgbClr val="FFFFFF"/>
                </a:solidFill>
                <a:latin typeface="맑은 고딕"/>
                <a:ea typeface="맑은 고딕"/>
              </a:rPr>
              <a:t>하네스</a:t>
            </a:r>
            <a:r>
              <a:rPr lang="ko-KR" altLang="en-US" sz="1150" b="0" i="0" dirty="0">
                <a:solidFill>
                  <a:srgbClr val="FFFFFF"/>
                </a:solidFill>
                <a:latin typeface="맑은 고딕"/>
                <a:ea typeface="맑은 고딕"/>
              </a:rPr>
              <a:t> 기반 </a:t>
            </a:r>
            <a:r>
              <a:rPr lang="en-US" altLang="ko-KR" sz="1150" b="0" i="0" dirty="0">
                <a:solidFill>
                  <a:srgbClr val="FFFFFF"/>
                </a:solidFill>
                <a:latin typeface="맑은 고딕"/>
                <a:ea typeface="맑은 고딕"/>
              </a:rPr>
              <a:t>AI Web Agent</a:t>
            </a:r>
            <a:endParaRPr sz="1150" b="0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21</TotalTime>
  <Words>1102</Words>
  <Application>Microsoft Office PowerPoint</Application>
  <PresentationFormat>와이드스크린</PresentationFormat>
  <Paragraphs>198</Paragraphs>
  <Slides>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</vt:i4>
      </vt:variant>
    </vt:vector>
  </HeadingPairs>
  <TitlesOfParts>
    <vt:vector size="8" baseType="lpstr">
      <vt:lpstr>맑은 고딕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Sunwoo Nam</cp:lastModifiedBy>
  <cp:revision>2</cp:revision>
  <dcterms:created xsi:type="dcterms:W3CDTF">2013-01-27T09:14:16Z</dcterms:created>
  <dcterms:modified xsi:type="dcterms:W3CDTF">2026-06-29T17:06:41Z</dcterms:modified>
  <cp:category/>
</cp:coreProperties>
</file>
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7F7F7F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61D4-4955-9A7E-8BD4C3764BD6}"/>
              </c:ext>
            </c:extLst>
          </c:dPt>
          <c:dPt>
            <c:idx val="1"/>
            <c:invertIfNegative val="1"/>
            <c:bubble3D val="0"/>
            <c:spPr>
              <a:solidFill>
                <a:srgbClr val="1F3864"/>
              </a:solidFill>
            </c:spPr>
            <c:extLst>
              <c:ext xmlns:c16="http://schemas.microsoft.com/office/drawing/2014/chart" uri="{C3380CC4-5D6E-409C-BE32-E72D297353CC}">
                <c16:uniqueId val="{00000003-61D4-4955-9A7E-8BD4C3764BD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F3864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2030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7.84</c:v>
                </c:pt>
                <c:pt idx="1">
                  <c:v>52.62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61D4-4955-9A7E-8BD4C3764B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9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7F7F7F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D37C-46BB-B8DA-F2A14EB1E5F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D37C-46BB-B8DA-F2A14EB1E5F8}"/>
              </c:ext>
            </c:extLst>
          </c:dPt>
          <c:dPt>
            <c:idx val="2"/>
            <c:invertIfNegative val="1"/>
            <c:bubble3D val="0"/>
            <c:spPr>
              <a:solidFill>
                <a:srgbClr val="2E5BA8"/>
              </a:solidFill>
            </c:spPr>
            <c:extLst>
              <c:ext xmlns:c16="http://schemas.microsoft.com/office/drawing/2014/chart" uri="{C3380CC4-5D6E-409C-BE32-E72D297353CC}">
                <c16:uniqueId val="{00000005-D37C-46BB-B8DA-F2A14EB1E5F8}"/>
              </c:ext>
            </c:extLst>
          </c:dPt>
          <c:dPt>
            <c:idx val="3"/>
            <c:invertIfNegative val="1"/>
            <c:bubble3D val="0"/>
            <c:spPr>
              <a:solidFill>
                <a:srgbClr val="2E5BA8"/>
              </a:solidFill>
            </c:spPr>
            <c:extLst>
              <c:ext xmlns:c16="http://schemas.microsoft.com/office/drawing/2014/chart" uri="{C3380CC4-5D6E-409C-BE32-E72D297353CC}">
                <c16:uniqueId val="{00000007-D37C-46BB-B8DA-F2A14EB1E5F8}"/>
              </c:ext>
            </c:extLst>
          </c:dPt>
          <c:dPt>
            <c:idx val="4"/>
            <c:invertIfNegative val="1"/>
            <c:bubble3D val="0"/>
            <c:spPr>
              <a:solidFill>
                <a:srgbClr val="1E9E5A"/>
              </a:solidFill>
            </c:spPr>
            <c:extLst>
              <c:ext xmlns:c16="http://schemas.microsoft.com/office/drawing/2014/chart" uri="{C3380CC4-5D6E-409C-BE32-E72D297353CC}">
                <c16:uniqueId val="{00000009-D37C-46BB-B8DA-F2A14EB1E5F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0202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Mariner</c:v>
                </c:pt>
                <c:pt idx="1">
                  <c:v>OpenAI CUA</c:v>
                </c:pt>
                <c:pt idx="2">
                  <c:v>Browser Use</c:v>
                </c:pt>
                <c:pt idx="3">
                  <c:v>Magnitude</c:v>
                </c:pt>
                <c:pt idx="4">
                  <c:v>Surfer 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83.5</c:v>
                </c:pt>
                <c:pt idx="1">
                  <c:v>87</c:v>
                </c:pt>
                <c:pt idx="2">
                  <c:v>89.1</c:v>
                </c:pt>
                <c:pt idx="3">
                  <c:v>93.9</c:v>
                </c:pt>
                <c:pt idx="4">
                  <c:v>97.1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D37C-46BB-B8DA-F2A14EB1E5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9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배경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TV 웹 브라우저, 왜 외면받는가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89888"/>
            <a:ext cx="5559552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1207008"/>
            <a:ext cx="4279392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리모컨 입력의 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2971800" cy="1554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리모컨 포인팅의 비효율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커서 탐색 느림 · </a:t>
            </a:r>
            <a:r>
              <a:rPr sz="1050" b="1" i="0">
                <a:solidFill>
                  <a:srgbClr val="C0322B"/>
                </a:solidFill>
                <a:latin typeface="맑은 고딕"/>
                <a:ea typeface="맑은 고딕"/>
              </a:rPr>
              <a:t>91% UI 불만족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텍스트 입력 = 최대 장벽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가상 키보드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~5 WPM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 → 검색·로그인 봉쇄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3048" y="1920240"/>
            <a:ext cx="1737360" cy="182880"/>
          </a:xfrm>
          <a:prstGeom prst="rect">
            <a:avLst/>
          </a:prstGeom>
          <a:solidFill>
            <a:srgbClr val="EFF1F4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7912" y="1920240"/>
            <a:ext cx="16459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검색어 입력…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3048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13048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8496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8496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23944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23944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79392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45736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45736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01184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01184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6632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56632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80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77056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77056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32504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32504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87952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87952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43400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98848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DBEAFB"/>
          </a:solidFill>
          <a:ln w="17780">
            <a:solidFill>
              <a:srgbClr val="2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98848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1" i="0">
                <a:solidFill>
                  <a:srgbClr val="2E5BA8"/>
                </a:solidFill>
                <a:latin typeface="맑은 고딕"/>
                <a:ea typeface="맑은 고딕"/>
              </a:rPr>
              <a:t>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54296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54296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09744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09744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J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65192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65192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20640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20640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41064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41064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Z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96512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96512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51960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07408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07408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V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62856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62856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18304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18304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73752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873752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30952" y="2176272"/>
            <a:ext cx="274320" cy="566928"/>
          </a:xfrm>
          <a:prstGeom prst="roundRect">
            <a:avLst>
              <a:gd name="adj" fmla="val 35000"/>
            </a:avLst>
          </a:prstGeom>
          <a:solidFill>
            <a:srgbClr val="3C4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376672" y="2249424"/>
            <a:ext cx="182880" cy="182880"/>
          </a:xfrm>
          <a:prstGeom prst="ellipse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6199632" y="1389888"/>
            <a:ext cx="5577840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839712" y="1207008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콘텐츠 부적합 · 인지 과부하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7376" y="1773936"/>
            <a:ext cx="2971800" cy="1554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웹 콘텐츠 호환성 부재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대부분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PC·모바일 최적화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 → 10-feet UI 부적합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인지 과부하 (Overload)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정보·링크 과밀 →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고령층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 조작 곤란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09760" y="1865376"/>
            <a:ext cx="1920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601200" y="1938528"/>
            <a:ext cx="1737360" cy="100584"/>
          </a:xfrm>
          <a:prstGeom prst="rect">
            <a:avLst/>
          </a:prstGeom>
          <a:solidFill>
            <a:srgbClr val="33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619488" y="2112264"/>
            <a:ext cx="86868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619488" y="2217420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619488" y="2322576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619488" y="2427732"/>
            <a:ext cx="86868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19488" y="2532888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619488" y="2638044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89920" y="2139696"/>
            <a:ext cx="530352" cy="219456"/>
          </a:xfrm>
          <a:prstGeom prst="rect">
            <a:avLst/>
          </a:prstGeom>
          <a:solidFill>
            <a:srgbClr val="E6E9EE"/>
          </a:solidFill>
          <a:ln w="635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89920" y="2414016"/>
            <a:ext cx="530352" cy="219456"/>
          </a:xfrm>
          <a:prstGeom prst="rect">
            <a:avLst/>
          </a:prstGeom>
          <a:solidFill>
            <a:srgbClr val="E6E9EE"/>
          </a:solidFill>
          <a:ln w="635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89920" y="2688336"/>
            <a:ext cx="530352" cy="219456"/>
          </a:xfrm>
          <a:prstGeom prst="rect">
            <a:avLst/>
          </a:prstGeom>
          <a:solidFill>
            <a:srgbClr val="E6E9EE"/>
          </a:solidFill>
          <a:ln w="635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424160" y="2596896"/>
            <a:ext cx="347472" cy="347472"/>
          </a:xfrm>
          <a:prstGeom prst="ellipse">
            <a:avLst/>
          </a:prstGeom>
          <a:noFill/>
          <a:ln w="28575">
            <a:solidFill>
              <a:srgbClr val="C0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 rot="2700000">
            <a:off x="10716768" y="2916936"/>
            <a:ext cx="164592" cy="45720"/>
          </a:xfrm>
          <a:prstGeom prst="rect">
            <a:avLst/>
          </a:prstGeom>
          <a:solidFill>
            <a:srgbClr val="C0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11480" y="3730752"/>
            <a:ext cx="5559552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051560" y="3547872"/>
            <a:ext cx="4279392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공용 기기 · 프라이버시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" y="4114800"/>
            <a:ext cx="2971800" cy="1554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거실 공용 기기 특성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가족 공유 →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개인 로그인 꺼림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민감정보 입력 회피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계정·결제·주소 입력을 </a:t>
            </a:r>
            <a:r>
              <a:rPr sz="1050" b="1" i="0">
                <a:solidFill>
                  <a:srgbClr val="C0322B"/>
                </a:solidFill>
                <a:latin typeface="맑은 고딕"/>
                <a:ea typeface="맑은 고딕"/>
              </a:rPr>
              <a:t>행동 자체 회피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950208" y="4261104"/>
            <a:ext cx="1463040" cy="850392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014216" y="4315968"/>
            <a:ext cx="1335024" cy="72237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462272" y="5129784"/>
            <a:ext cx="438912" cy="457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178808" y="4443984"/>
            <a:ext cx="182880" cy="182880"/>
          </a:xfrm>
          <a:prstGeom prst="ellipse">
            <a:avLst/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4142232" y="4645152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4636008" y="4443984"/>
            <a:ext cx="182880" cy="18288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4599432" y="4645152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5093208" y="4443984"/>
            <a:ext cx="182880" cy="182880"/>
          </a:xfrm>
          <a:prstGeom prst="ellips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5056632" y="4645152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239512" y="4261104"/>
            <a:ext cx="146304" cy="146304"/>
          </a:xfrm>
          <a:prstGeom prst="ellipse">
            <a:avLst/>
          </a:prstGeom>
          <a:noFill/>
          <a:ln w="31750">
            <a:solidFill>
              <a:srgbClr val="C0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5184648" y="4352544"/>
            <a:ext cx="256032" cy="201168"/>
          </a:xfrm>
          <a:prstGeom prst="roundRect">
            <a:avLst>
              <a:gd name="adj" fmla="val 20000"/>
            </a:avLst>
          </a:prstGeom>
          <a:solidFill>
            <a:srgbClr val="C0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285232" y="440740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6199632" y="3730752"/>
            <a:ext cx="5577840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6839712" y="3547872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디바이스 성능 한계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37376" y="4114800"/>
            <a:ext cx="2971800" cy="1554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저사양 SoC · 제한 메모리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무거운 현대 웹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렌더링 버벅임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체감 품질 저하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로딩 지연·스크롤 끊김 → </a:t>
            </a:r>
            <a:r>
              <a:rPr sz="1050" b="1" i="0">
                <a:solidFill>
                  <a:srgbClr val="C0322B"/>
                </a:solidFill>
                <a:latin typeface="맑은 고딕"/>
                <a:ea typeface="맑은 고딕"/>
              </a:rPr>
              <a:t>이탈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619488" y="4462272"/>
            <a:ext cx="603504" cy="603504"/>
          </a:xfrm>
          <a:prstGeom prst="roundRect">
            <a:avLst>
              <a:gd name="adj" fmla="val 8000"/>
            </a:avLst>
          </a:prstGeom>
          <a:solidFill>
            <a:srgbClr val="3C4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72921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72921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86637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86637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000353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000353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014069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14069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619488" y="4462272"/>
            <a:ext cx="603504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SoC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78440" y="4443984"/>
            <a:ext cx="914400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필요 리소스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378440" y="4590288"/>
            <a:ext cx="914400" cy="118872"/>
          </a:xfrm>
          <a:prstGeom prst="roundRect">
            <a:avLst>
              <a:gd name="adj" fmla="val 4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0378440" y="4736592"/>
            <a:ext cx="914400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실제 처리량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378440" y="4882896"/>
            <a:ext cx="384048" cy="118872"/>
          </a:xfrm>
          <a:prstGeom prst="roundRect">
            <a:avLst>
              <a:gd name="adj" fmla="val 45000"/>
            </a:avLst>
          </a:prstGeom>
          <a:solidFill>
            <a:srgbClr val="C0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378440" y="5029200"/>
            <a:ext cx="91440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C0322B"/>
                </a:solidFill>
                <a:latin typeface="맑은 고딕"/>
                <a:ea typeface="맑은 고딕"/>
              </a:rPr>
              <a:t>버벅임 · 지연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11480" y="5907024"/>
            <a:ext cx="11384280" cy="47548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0080" y="5907024"/>
            <a:ext cx="10972800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A9C4"/>
                </a:solidFill>
                <a:latin typeface="맑은 고딕"/>
                <a:ea typeface="맑은 고딕"/>
              </a:rPr>
              <a:t>결론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리모컨·공용·저사양이라는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TV 고유의 4대 제약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— UI 재배치가 아니라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인터랙션 패러다임 전환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이 필요하다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출처: Khan et al., "Smart TV User Interfaces" (2022) — UI 불만족률 91%. 가상 키보드 입력 속도·디바이스 성능은 내부 추정(공개 벤치마크 부재).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배경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관련 동향 — Web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0789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패러다임 전환 · 웹 생태계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62856" y="10789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제품 경쟁 구도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94192" y="10789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기술 성숙도 · 접근 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700784"/>
            <a:ext cx="32461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챗봇 → 자율 작업 Agent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의도 이해 + 브라우저 자율 조작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67712"/>
            <a:ext cx="3246120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</a:rPr>
              <a:t>AI Agent 시장 (USD B)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57200" y="2487168"/>
          <a:ext cx="1783080" cy="987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2285999" y="2578608"/>
            <a:ext cx="1645920" cy="86868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5999" y="2587752"/>
            <a:ext cx="1645920" cy="8503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9E5A"/>
                </a:solidFill>
                <a:latin typeface="맑은 고딕"/>
                <a:ea typeface="맑은 고딕"/>
              </a:rPr>
              <a:t>CAGR 46.3%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</a:rPr>
              <a:t>’25 $7.84B → ’30 $52.62B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566160"/>
            <a:ext cx="32461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맑은 고딕"/>
                <a:ea typeface="맑은 고딕"/>
              </a:rPr>
              <a:t>웹 생태계 재편 — AI가 웹 소비를 바꾸는 3가지 지표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" y="3895344"/>
            <a:ext cx="786384" cy="475488"/>
          </a:xfrm>
          <a:prstGeom prst="roundRect">
            <a:avLst>
              <a:gd name="adj" fmla="val 18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" y="3886200"/>
            <a:ext cx="786384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13×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31336"/>
            <a:ext cx="2386584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2020"/>
                </a:solidFill>
                <a:latin typeface="맑은 고딕"/>
                <a:ea typeface="맑은 고딕"/>
              </a:rPr>
              <a:t>생성형 AI 경유 웹 트래픽 13배↑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95959"/>
                </a:solidFill>
                <a:latin typeface="맑은 고딕"/>
                <a:ea typeface="맑은 고딕"/>
              </a:rPr>
              <a:t>ChatGPT 등 생성형 AI 응답을 거쳐 웹사이트로 유입된 방문이 ’24.7 대비 ’25.5에 13배 이상 증가. AI가 검색을 대신해 '웹 발견의 입구'가 되는 중.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F7F7F"/>
                </a:solidFill>
                <a:latin typeface="맑은 고딕"/>
                <a:ea typeface="맑은 고딕"/>
              </a:rPr>
              <a:t>출처: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Adobe Analytics, 2025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" y="4517136"/>
            <a:ext cx="786384" cy="475488"/>
          </a:xfrm>
          <a:prstGeom prst="roundRect">
            <a:avLst>
              <a:gd name="adj" fmla="val 18000"/>
            </a:avLst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4507992"/>
            <a:ext cx="786384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$3~5T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453128"/>
            <a:ext cx="2386584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2020"/>
                </a:solidFill>
                <a:latin typeface="맑은 고딕"/>
                <a:ea typeface="맑은 고딕"/>
              </a:rPr>
              <a:t>에이전틱 커머스가 $3~5조 재배분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95959"/>
                </a:solidFill>
                <a:latin typeface="맑은 고딕"/>
                <a:ea typeface="맑은 고딕"/>
              </a:rPr>
              <a:t>AI 에이전트가 사용자 대신 탐색·구매를 수행하는 커머스가 2030년까지 글로벌 소매 지출 $3~5조의 흐름을 재편할 전망.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F7F7F"/>
                </a:solidFill>
                <a:latin typeface="맑은 고딕"/>
                <a:ea typeface="맑은 고딕"/>
              </a:rPr>
              <a:t>출처: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McKinsey, 2025.10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" y="5138928"/>
            <a:ext cx="786384" cy="475488"/>
          </a:xfrm>
          <a:prstGeom prst="roundRect">
            <a:avLst>
              <a:gd name="adj" fmla="val 18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5129784"/>
            <a:ext cx="786384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4×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074920"/>
            <a:ext cx="2386584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2020"/>
                </a:solidFill>
                <a:latin typeface="맑은 고딕"/>
                <a:ea typeface="맑은 고딕"/>
              </a:rPr>
              <a:t>AI 채팅 상호작용 시 구매 전환 4배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95959"/>
                </a:solidFill>
                <a:latin typeface="맑은 고딕"/>
                <a:ea typeface="맑은 고딕"/>
              </a:rPr>
              <a:t>AI 채팅과 상호작용한 쇼핑객의 구매 전환율 12.3% — 상호작용하지 않은 경우(3.1%) 대비 약 4배.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F7F7F"/>
                </a:solidFill>
                <a:latin typeface="맑은 고딕"/>
                <a:ea typeface="맑은 고딕"/>
              </a:rPr>
              <a:t>출처: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Envive.ai,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1700784"/>
            <a:ext cx="32461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쏟아지는 AI 브라우저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독립 제품 + 브라우저 통합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두 갈래</a:t>
            </a:r>
          </a:p>
        </p:txBody>
      </p:sp>
      <p:sp>
        <p:nvSpPr>
          <p:cNvPr id="31" name="Oval 30"/>
          <p:cNvSpPr/>
          <p:nvPr/>
        </p:nvSpPr>
        <p:spPr>
          <a:xfrm>
            <a:off x="4498848" y="2450592"/>
            <a:ext cx="118872" cy="118872"/>
          </a:xfrm>
          <a:prstGeom prst="ellipse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54296" y="2368296"/>
            <a:ext cx="82296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독립</a:t>
            </a:r>
          </a:p>
        </p:txBody>
      </p:sp>
      <p:sp>
        <p:nvSpPr>
          <p:cNvPr id="33" name="Oval 32"/>
          <p:cNvSpPr/>
          <p:nvPr/>
        </p:nvSpPr>
        <p:spPr>
          <a:xfrm>
            <a:off x="5202936" y="2450592"/>
            <a:ext cx="118872" cy="118872"/>
          </a:xfrm>
          <a:prstGeom prst="ellips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58384" y="2368296"/>
            <a:ext cx="137160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브라우저 통합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6256" y="2907792"/>
            <a:ext cx="30480" cy="2743200"/>
          </a:xfrm>
          <a:prstGeom prst="rect">
            <a:avLst/>
          </a:prstGeom>
          <a:solidFill>
            <a:srgbClr val="D0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38344" y="28346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62272" y="27706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’25.06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27249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Dia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Browser Co.</a:t>
            </a:r>
          </a:p>
        </p:txBody>
      </p:sp>
      <p:sp>
        <p:nvSpPr>
          <p:cNvPr id="39" name="Oval 38"/>
          <p:cNvSpPr/>
          <p:nvPr/>
        </p:nvSpPr>
        <p:spPr>
          <a:xfrm>
            <a:off x="5038344" y="35204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62272" y="34564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’25.07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34107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Comet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Perplexity</a:t>
            </a:r>
          </a:p>
        </p:txBody>
      </p:sp>
      <p:sp>
        <p:nvSpPr>
          <p:cNvPr id="42" name="Oval 41"/>
          <p:cNvSpPr/>
          <p:nvPr/>
        </p:nvSpPr>
        <p:spPr>
          <a:xfrm>
            <a:off x="5038344" y="42062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62272" y="41422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’25.10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40965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ChatGPT Atlas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OpenAI</a:t>
            </a:r>
          </a:p>
        </p:txBody>
      </p:sp>
      <p:sp>
        <p:nvSpPr>
          <p:cNvPr id="45" name="Oval 44"/>
          <p:cNvSpPr/>
          <p:nvPr/>
        </p:nvSpPr>
        <p:spPr>
          <a:xfrm>
            <a:off x="5038344" y="4892040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62272" y="48280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9E5A"/>
                </a:solidFill>
                <a:latin typeface="맑은 고딕"/>
                <a:ea typeface="맑은 고딕"/>
              </a:rPr>
              <a:t>’26.01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47823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Chrome Auto Browse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Google</a:t>
            </a:r>
          </a:p>
        </p:txBody>
      </p:sp>
      <p:sp>
        <p:nvSpPr>
          <p:cNvPr id="48" name="Oval 47"/>
          <p:cNvSpPr/>
          <p:nvPr/>
        </p:nvSpPr>
        <p:spPr>
          <a:xfrm>
            <a:off x="5038344" y="55778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62272" y="55138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’26.02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54681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Opera Neon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Opera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1896" y="1700784"/>
            <a:ext cx="32461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69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150" b="1" i="0">
                <a:solidFill>
                  <a:srgbClr val="202020"/>
                </a:solidFill>
                <a:latin typeface="맑은 고딕"/>
                <a:ea typeface="맑은 고딕"/>
              </a:rPr>
              <a:t>웹 자율수행 — 실용 수준 도달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1896" y="2212848"/>
            <a:ext cx="32461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</a:rPr>
              <a:t>WebVoyager 점수 (%)</a:t>
            </a:r>
          </a:p>
        </p:txBody>
      </p:sp>
      <p:graphicFrame>
        <p:nvGraphicFramePr>
          <p:cNvPr id="53" name="Chart 52"/>
          <p:cNvGraphicFramePr>
            <a:graphicFrameLocks noGrp="1"/>
          </p:cNvGraphicFramePr>
          <p:nvPr/>
        </p:nvGraphicFramePr>
        <p:xfrm>
          <a:off x="8119872" y="2450592"/>
          <a:ext cx="35661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8311896" y="4498848"/>
            <a:ext cx="324612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맑은 고딕"/>
                <a:ea typeface="맑은 고딕"/>
              </a:rPr>
              <a:t>기술 접근 방식의 다양화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11896" y="4791456"/>
            <a:ext cx="740664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11896" y="4791456"/>
            <a:ext cx="74066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DOM 인식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44000" y="4791456"/>
            <a:ext cx="896112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0" y="4791456"/>
            <a:ext cx="896112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비전 (VLM)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31552" y="4791456"/>
            <a:ext cx="896112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131552" y="4791456"/>
            <a:ext cx="896112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오픈소스 SDK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1896" y="5230368"/>
            <a:ext cx="32461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DOM·비전·오픈웨이트로 </a:t>
            </a: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구현 경로 다양화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6053328"/>
            <a:ext cx="113842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A9C4"/>
                </a:solidFill>
                <a:latin typeface="맑은 고딕"/>
                <a:ea typeface="맑은 고딕"/>
              </a:rPr>
              <a:t>결론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기술은 '되는가'를 넘어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실용 단계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— 그러나 모든 제품이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PC·모바일 타겟, TV는 공백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출처: MarketsandMarkets (시장); Steel.dev WebVoyager Leaderboard (2026.02); Adobe Analytics·McKinsey·Envive (웹 생태계 영향).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필요성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왜 삼성이, 지금 해야 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078992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HW 경쟁의 한계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08576" y="1078992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오픈 웹 = TV의 미개척 자산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39912" y="1078992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비어 있는 TV 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719072"/>
            <a:ext cx="3264408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HW 스펙 경쟁의 포화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패널·화질·8K·밝기 경쟁이 </a:t>
            </a:r>
            <a:r>
              <a:rPr sz="100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상향 평준화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→ 체감 차별화 한계, 가격 경쟁으로 수렴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SW·AI 경험으로 경쟁축 이동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Android/Google TV가 </a:t>
            </a:r>
            <a:r>
              <a:rPr sz="100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Gemini를 OS에 통합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→ AI 경험 격차 확대, Tizen은 </a:t>
            </a:r>
            <a:r>
              <a:rPr sz="1000" b="1" i="0">
                <a:solidFill>
                  <a:srgbClr val="C0322B"/>
                </a:solidFill>
                <a:latin typeface="맑은 고딕"/>
                <a:ea typeface="맑은 고딕"/>
              </a:rPr>
              <a:t>양쪽서 압박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547872"/>
            <a:ext cx="3264408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하드웨어(패널·화질·해상도)로 벌 수 있는 차별화 마진이 줄면서, 플랫폼 경쟁력의 다음 축은 </a:t>
            </a:r>
            <a:r>
              <a:rPr sz="950" b="1" i="0">
                <a:solidFill>
                  <a:srgbClr val="1F3864"/>
                </a:solidFill>
                <a:latin typeface="맑은 고딕"/>
                <a:ea typeface="맑은 고딕"/>
              </a:rPr>
              <a:t>소프트웨어·서비스 경험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으로 이동하고 있다. 경쟁 OS가 AI를 빠르게 통합하는 상황에서, AI 기반 웹 경험은 Tizen이 확보해야 할 핵심 차별화 수단이다.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4864608"/>
            <a:ext cx="3264408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30" b="0" i="1">
                <a:solidFill>
                  <a:srgbClr val="7F7F7F"/>
                </a:solidFill>
                <a:latin typeface="맑은 고딕"/>
                <a:ea typeface="맑은 고딕"/>
              </a:rPr>
              <a:t>출처: Google ‘Gemini for Google TV’(2026)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11496"/>
            <a:ext cx="3246120" cy="62179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5875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111496"/>
            <a:ext cx="3026664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1">
                <a:solidFill>
                  <a:srgbClr val="1F3864"/>
                </a:solidFill>
                <a:latin typeface="맑은 고딕"/>
                <a:ea typeface="맑은 고딕"/>
              </a:rPr>
              <a:t>SW·서비스로 승부해야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1F3864"/>
                </a:solidFill>
                <a:latin typeface="맑은 고딕"/>
                <a:ea typeface="맑은 고딕"/>
              </a:rPr>
              <a:t>HW 차별화 한계 → 경험 경쟁으로 전환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7136" y="1682496"/>
            <a:ext cx="3154680" cy="749808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17136" y="1700784"/>
            <a:ext cx="31546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200개국 · 2억 대+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9D6EC"/>
                </a:solidFill>
                <a:latin typeface="맑은 고딕"/>
                <a:ea typeface="맑은 고딕"/>
              </a:rPr>
              <a:t>Tizen 글로벌 설치 기반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05456"/>
            <a:ext cx="32461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</a:rPr>
              <a:t>TV가 접근할 콘텐츠·커머스 유니버스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136" y="2761488"/>
            <a:ext cx="990600" cy="65836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7136" y="2770632"/>
            <a:ext cx="9906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무한한 콘텐츠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</a:rPr>
              <a:t>(정보·뉴스·영상)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99176" y="2761488"/>
            <a:ext cx="990600" cy="65836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99176" y="2770632"/>
            <a:ext cx="9906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트랜잭션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</a:rPr>
              <a:t>(쇼핑·예약·결제)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81216" y="2761488"/>
            <a:ext cx="990600" cy="65836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81216" y="2770632"/>
            <a:ext cx="9906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앱 밖 영역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</a:rPr>
              <a:t>(전 사이트 커버)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511296"/>
            <a:ext cx="3246120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앱(OTT 등)은 폐쇄적·파편적이지만, </a:t>
            </a:r>
            <a:r>
              <a:rPr sz="830" b="1" i="0">
                <a:solidFill>
                  <a:srgbClr val="1F3864"/>
                </a:solidFill>
                <a:latin typeface="맑은 고딕"/>
                <a:ea typeface="맑은 고딕"/>
              </a:rPr>
              <a:t>오픈 웹은 거의 모든 콘텐츠·쇼핑·서비스로 통하는 접점</a:t>
            </a: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. AI Web Agent가 TV에서 이 웹을 ‘열어’ 미개척 자산을 활성화한다.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8848" y="4297680"/>
            <a:ext cx="3191256" cy="36576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98848" y="4297680"/>
            <a:ext cx="3191256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02020"/>
                </a:solidFill>
                <a:latin typeface="맑은 고딕"/>
                <a:ea typeface="맑은 고딕"/>
              </a:rPr>
              <a:t>Smart TV 플랫폼 시장 </a:t>
            </a: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$449.7B(’24) → $966.9B(’33)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809744"/>
            <a:ext cx="324612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30" b="0" i="1">
                <a:solidFill>
                  <a:srgbClr val="7F7F7F"/>
                </a:solidFill>
                <a:latin typeface="맑은 고딕"/>
                <a:ea typeface="맑은 고딕"/>
              </a:rPr>
              <a:t>출처: Samsung Global Newsroom; ElectroIQ Smart TV Statistics(2026)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71416" y="5111496"/>
            <a:ext cx="3246120" cy="62179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5875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1144" y="5111496"/>
            <a:ext cx="3026664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1">
                <a:solidFill>
                  <a:srgbClr val="1F3864"/>
                </a:solidFill>
                <a:latin typeface="맑은 고딕"/>
                <a:ea typeface="맑은 고딕"/>
              </a:rPr>
              <a:t>오픈 웹 = 가장 큰 콘텐츠·커머스 접점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1F3864"/>
                </a:solidFill>
                <a:latin typeface="맑은 고딕"/>
                <a:ea typeface="맑은 고딕"/>
              </a:rPr>
              <a:t>TV에선 닫혀 있다(Slide 1) → 에이전트가 연다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1700784"/>
            <a:ext cx="3264408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TV에는 아무도 없다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950" b="0" i="0">
                <a:solidFill>
                  <a:srgbClr val="202020"/>
                </a:solidFill>
                <a:latin typeface="맑은 고딕"/>
                <a:ea typeface="맑은 고딕"/>
              </a:rPr>
              <a:t>모든 AI 브라우저가 </a:t>
            </a:r>
            <a:r>
              <a:rPr sz="950" b="1" i="0">
                <a:solidFill>
                  <a:srgbClr val="C0322B"/>
                </a:solidFill>
                <a:latin typeface="맑은 고딕"/>
                <a:ea typeface="맑은 고딕"/>
              </a:rPr>
              <a:t>PC·모바일 전용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950" b="0" i="0">
                <a:solidFill>
                  <a:srgbClr val="202020"/>
                </a:solidFill>
                <a:latin typeface="맑은 고딕"/>
                <a:ea typeface="맑은 고딕"/>
              </a:rPr>
              <a:t>본격 적용 사례 전무 = </a:t>
            </a:r>
            <a:r>
              <a:rPr sz="9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블루오션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8275320" y="2359152"/>
          <a:ext cx="3529584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제품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PC·모바일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TV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ChatGPT Atlas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E9E5A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C0322B"/>
                          </a:solidFill>
                          <a:latin typeface="맑은 고딕"/>
                          <a:ea typeface="맑은 고딕"/>
                        </a:rPr>
                        <a:t>✗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Comet / Dia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E9E5A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C0322B"/>
                          </a:solidFill>
                          <a:latin typeface="맑은 고딕"/>
                          <a:ea typeface="맑은 고딕"/>
                        </a:rPr>
                        <a:t>✗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Chrome Auto Browse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E9E5A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C0322B"/>
                          </a:solidFill>
                          <a:latin typeface="맑은 고딕"/>
                          <a:ea typeface="맑은 고딕"/>
                        </a:rPr>
                        <a:t>✗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9E5A"/>
                          </a:solidFill>
                          <a:latin typeface="맑은 고딕"/>
                          <a:ea typeface="맑은 고딕"/>
                        </a:rPr>
                        <a:t>Tizen AI Web Agent</a:t>
                      </a:r>
                    </a:p>
                  </a:txBody>
                  <a:tcPr marL="50800" marR="50800" marT="12700" marB="12700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12700" marB="12700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E08A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0800" marR="50800" marT="12700" marB="12700" anchor="ctr">
                    <a:solidFill>
                      <a:srgbClr val="E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8311896" y="4041648"/>
            <a:ext cx="3264408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데스크톱·모바일은 이미 레드오션. TV는 first-mover가 없는 </a:t>
            </a:r>
            <a:r>
              <a:rPr sz="830" b="1" i="0">
                <a:solidFill>
                  <a:srgbClr val="1F3864"/>
                </a:solidFill>
                <a:latin typeface="맑은 고딕"/>
                <a:ea typeface="맑은 고딕"/>
              </a:rPr>
              <a:t>블루오션</a:t>
            </a: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 — CES 2026 AI-Native TV 등장 등 흐름은 막 시작.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4809744"/>
            <a:ext cx="3264408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30" b="0" i="1">
                <a:solidFill>
                  <a:srgbClr val="7F7F7F"/>
                </a:solidFill>
                <a:latin typeface="맑은 고딕"/>
                <a:ea typeface="맑은 고딕"/>
              </a:rPr>
              <a:t>출처: Steel.dev 리더보드(2026.02); AndroidGuys CES 2026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5111496"/>
            <a:ext cx="3246120" cy="62179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5875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5111496"/>
            <a:ext cx="3026664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1">
                <a:solidFill>
                  <a:srgbClr val="1F3864"/>
                </a:solidFill>
                <a:latin typeface="맑은 고딕"/>
                <a:ea typeface="맑은 고딕"/>
              </a:rPr>
              <a:t>First-mover 선점 기회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1F3864"/>
                </a:solidFill>
                <a:latin typeface="맑은 고딕"/>
                <a:ea typeface="맑은 고딕"/>
              </a:rPr>
              <a:t>2억 대 기반 삼성이 선점 시 표준 효과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6053328"/>
            <a:ext cx="113842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A9C4"/>
                </a:solidFill>
                <a:latin typeface="맑은 고딕"/>
                <a:ea typeface="맑은 고딕"/>
              </a:rPr>
              <a:t>결론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2억 대 자산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방어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× 비어 있는 TV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선점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→ Tizen TV용 On-Device AI Web Agent를 지금 설계한다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출처: Samsung Global Newsroom (Tizen 2억 대+); ElectroIQ Smart TV Statistics (2026); AndroidGuys CES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개요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097766"/>
              </p:ext>
            </p:extLst>
          </p:nvPr>
        </p:nvGraphicFramePr>
        <p:xfrm>
          <a:off x="640080" y="1417320"/>
          <a:ext cx="10908792" cy="444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2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50" b="1" i="0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Tizen TV AI Web Agent (AI Browser)</a:t>
                      </a: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 유형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신규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플랫폼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설계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·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아키텍처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설계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문서화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(ADS)</a:t>
                      </a: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 플랫폼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Samsung Tizen TV</a:t>
                      </a:r>
                      <a:endParaRPr sz="1050" b="0" i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 목표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On-Device </a:t>
                      </a:r>
                      <a:r>
                        <a:rPr sz="12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하네스</a:t>
                      </a: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기반</a:t>
                      </a: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AI Web Agent </a:t>
                      </a:r>
                      <a:r>
                        <a:rPr sz="12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설계</a:t>
                      </a:r>
                      <a:endParaRPr sz="950" b="1" i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음성·자연어로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위임하면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에이전트가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 웹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브라우저를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자율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조작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해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태스크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  <a:endParaRPr lang="en-US" sz="1100" b="1" i="0" dirty="0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Background</a:t>
                      </a:r>
                      <a:r>
                        <a:rPr lang="ko-KR" alt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에서 태스크 처리를 위한 </a:t>
                      </a:r>
                      <a:r>
                        <a:rPr lang="en-US" altLang="ko-KR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Headless </a:t>
                      </a:r>
                      <a:r>
                        <a:rPr lang="ko-KR" alt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브라우저 지원</a:t>
                      </a:r>
                      <a:endParaRPr lang="en-US" altLang="ko-KR" sz="1100" b="1" i="0" dirty="0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AIOS </a:t>
                      </a:r>
                      <a:r>
                        <a:rPr lang="ko-KR" alt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다른 </a:t>
                      </a:r>
                      <a:r>
                        <a:rPr lang="en-US" altLang="ko-KR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Agentic </a:t>
                      </a:r>
                      <a:r>
                        <a:rPr lang="ko-KR" alt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모듈들과 상호작용할 수 있는 인터페이스 지원</a:t>
                      </a:r>
                      <a:endParaRPr sz="1100" b="1" i="0" dirty="0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</a:t>
                      </a:r>
                      <a:r>
                        <a:rPr sz="125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산출물</a:t>
                      </a:r>
                      <a:endParaRPr sz="125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Web Agent daemon / Headless</a:t>
                      </a:r>
                      <a:r>
                        <a:rPr lang="ko-KR" altLang="en-US"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브라우저</a:t>
                      </a:r>
                      <a:endParaRPr lang="en-US" sz="1200" b="1" i="0" dirty="0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Architecture Design Specification (ADS)</a:t>
                      </a:r>
                      <a:endParaRPr sz="1000" b="1" i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참여 인력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SR : x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명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&lt;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설계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/ 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&gt;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VD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: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x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명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&lt;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설계 리뷰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&gt;</a:t>
                      </a:r>
                      <a:endParaRPr sz="1100" b="1" i="1" dirty="0">
                        <a:solidFill>
                          <a:srgbClr val="7F7F7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R&amp;R · 역할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S/W 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설계 및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TL</a:t>
                      </a:r>
                      <a:endParaRPr sz="1100" b="1" i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`26.01 ~ `26.12</a:t>
                      </a: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961888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6089178"/>
            <a:ext cx="10469880" cy="202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4FA9C4"/>
                </a:solidFill>
                <a:latin typeface="맑은 고딕"/>
                <a:ea typeface="맑은 고딕"/>
              </a:rPr>
              <a:t>한 줄 </a:t>
            </a:r>
            <a:r>
              <a:rPr sz="1100" b="1" i="0" dirty="0" err="1">
                <a:solidFill>
                  <a:srgbClr val="4FA9C4"/>
                </a:solidFill>
                <a:latin typeface="맑은 고딕"/>
                <a:ea typeface="맑은 고딕"/>
              </a:rPr>
              <a:t>정의</a:t>
            </a:r>
            <a:r>
              <a:rPr sz="1100" b="1" i="0" dirty="0">
                <a:solidFill>
                  <a:srgbClr val="4FA9C4"/>
                </a:solidFill>
                <a:latin typeface="맑은 고딕"/>
                <a:ea typeface="맑은 고딕"/>
              </a:rPr>
              <a:t>  </a:t>
            </a:r>
            <a:r>
              <a:rPr lang="ko-KR" altLang="en-US" sz="1150" b="0" i="0" dirty="0">
                <a:solidFill>
                  <a:srgbClr val="FFFFFF"/>
                </a:solidFill>
                <a:latin typeface="맑은 고딕"/>
                <a:ea typeface="맑은 고딕"/>
              </a:rPr>
              <a:t> 사용자의 자연어 의도를 이해하고 웹 브라우저를 자율 조작해 태스크를 완료하는 </a:t>
            </a:r>
            <a:r>
              <a:rPr lang="en-US" altLang="ko-KR" sz="1150" b="0" i="0" dirty="0">
                <a:solidFill>
                  <a:srgbClr val="FFFFFF"/>
                </a:solidFill>
                <a:latin typeface="맑은 고딕"/>
                <a:ea typeface="맑은 고딕"/>
              </a:rPr>
              <a:t>On-Device </a:t>
            </a:r>
            <a:r>
              <a:rPr lang="ko-KR" altLang="en-US" sz="11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하네스</a:t>
            </a:r>
            <a:r>
              <a:rPr lang="ko-KR" altLang="en-US" sz="1150" b="0" i="0" dirty="0">
                <a:solidFill>
                  <a:srgbClr val="FFFFFF"/>
                </a:solidFill>
                <a:latin typeface="맑은 고딕"/>
                <a:ea typeface="맑은 고딕"/>
              </a:rPr>
              <a:t> 기반 </a:t>
            </a:r>
            <a:r>
              <a:rPr lang="en-US" altLang="ko-KR" sz="1150" b="0" i="0" dirty="0">
                <a:solidFill>
                  <a:srgbClr val="FFFFFF"/>
                </a:solidFill>
                <a:latin typeface="맑은 고딕"/>
                <a:ea typeface="맑은 고딕"/>
              </a:rPr>
              <a:t>AI Web Agent</a:t>
            </a:r>
            <a:endParaRPr sz="11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grpSp>
        <p:nvGrpSpPr>
          <p:cNvPr id="31" name="과제목표_도해">
            <a:extLst>
              <a:ext uri="{FF2B5EF4-FFF2-40B4-BE49-F238E27FC236}">
                <a16:creationId xmlns:a16="http://schemas.microsoft.com/office/drawing/2014/main" id="{A1352BB0-EB57-2E54-DF29-C4D61C9C02DC}"/>
              </a:ext>
            </a:extLst>
          </p:cNvPr>
          <p:cNvGrpSpPr/>
          <p:nvPr/>
        </p:nvGrpSpPr>
        <p:grpSpPr>
          <a:xfrm>
            <a:off x="8255000" y="1570101"/>
            <a:ext cx="2870200" cy="4167898"/>
            <a:chOff x="8255000" y="1570101"/>
            <a:chExt cx="2870200" cy="4167898"/>
          </a:xfrm>
        </p:grpSpPr>
        <p:sp>
          <p:nvSpPr>
            <p:cNvPr id="12" name="FIG_C1">
              <a:extLst>
                <a:ext uri="{FF2B5EF4-FFF2-40B4-BE49-F238E27FC236}">
                  <a16:creationId xmlns:a16="http://schemas.microsoft.com/office/drawing/2014/main" id="{AF21EAAC-9D21-E6CA-5D38-1DD3E967BE3B}"/>
                </a:ext>
              </a:extLst>
            </p:cNvPr>
            <p:cNvSpPr/>
            <p:nvPr/>
          </p:nvSpPr>
          <p:spPr>
            <a:xfrm>
              <a:off x="8632825" y="1570101"/>
              <a:ext cx="2446020" cy="1195832"/>
            </a:xfrm>
            <a:prstGeom prst="roundRect">
              <a:avLst>
                <a:gd name="adj" fmla="val 9000"/>
              </a:avLst>
            </a:prstGeom>
            <a:solidFill>
              <a:srgbClr val="1F3864"/>
            </a:solidFill>
            <a:ln w="952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FIG_C2">
              <a:extLst>
                <a:ext uri="{FF2B5EF4-FFF2-40B4-BE49-F238E27FC236}">
                  <a16:creationId xmlns:a16="http://schemas.microsoft.com/office/drawing/2014/main" id="{A2D1E68F-444A-D231-985B-E5A4B650D5FA}"/>
                </a:ext>
              </a:extLst>
            </p:cNvPr>
            <p:cNvSpPr/>
            <p:nvPr/>
          </p:nvSpPr>
          <p:spPr>
            <a:xfrm>
              <a:off x="8632825" y="2901823"/>
              <a:ext cx="2446020" cy="1168654"/>
            </a:xfrm>
            <a:prstGeom prst="roundRect">
              <a:avLst>
                <a:gd name="adj" fmla="val 9000"/>
              </a:avLst>
            </a:prstGeom>
            <a:solidFill>
              <a:srgbClr val="F7F9FC"/>
            </a:solidFill>
            <a:ln w="12700">
              <a:solidFill>
                <a:srgbClr val="C7D0DE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FIG_C3">
              <a:extLst>
                <a:ext uri="{FF2B5EF4-FFF2-40B4-BE49-F238E27FC236}">
                  <a16:creationId xmlns:a16="http://schemas.microsoft.com/office/drawing/2014/main" id="{11E5D045-6A51-C888-50E9-CB99DD14C892}"/>
                </a:ext>
              </a:extLst>
            </p:cNvPr>
            <p:cNvSpPr/>
            <p:nvPr/>
          </p:nvSpPr>
          <p:spPr>
            <a:xfrm>
              <a:off x="8632825" y="4206367"/>
              <a:ext cx="2446020" cy="1168654"/>
            </a:xfrm>
            <a:prstGeom prst="roundRect">
              <a:avLst>
                <a:gd name="adj" fmla="val 9000"/>
              </a:avLst>
            </a:prstGeom>
            <a:solidFill>
              <a:srgbClr val="F7F9FC"/>
            </a:solidFill>
            <a:ln w="12700">
              <a:solidFill>
                <a:srgbClr val="C7D0DE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FIG_B1">
              <a:extLst>
                <a:ext uri="{FF2B5EF4-FFF2-40B4-BE49-F238E27FC236}">
                  <a16:creationId xmlns:a16="http://schemas.microsoft.com/office/drawing/2014/main" id="{4B9BC34B-F75B-3FB2-1C93-922315063EC0}"/>
                </a:ext>
              </a:extLst>
            </p:cNvPr>
            <p:cNvSpPr/>
            <p:nvPr/>
          </p:nvSpPr>
          <p:spPr>
            <a:xfrm>
              <a:off x="8699500" y="1638300"/>
              <a:ext cx="190500" cy="190500"/>
            </a:xfrm>
            <a:prstGeom prst="ellipse">
              <a:avLst/>
            </a:prstGeom>
            <a:solidFill>
              <a:srgbClr val="1F3864"/>
            </a:solidFill>
            <a:ln w="15875">
              <a:solidFill>
                <a:srgbClr val="FFFFFF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FIG_B2">
              <a:extLst>
                <a:ext uri="{FF2B5EF4-FFF2-40B4-BE49-F238E27FC236}">
                  <a16:creationId xmlns:a16="http://schemas.microsoft.com/office/drawing/2014/main" id="{CE33D33F-923C-9893-411E-8D2F61258169}"/>
                </a:ext>
              </a:extLst>
            </p:cNvPr>
            <p:cNvSpPr/>
            <p:nvPr/>
          </p:nvSpPr>
          <p:spPr>
            <a:xfrm>
              <a:off x="8699500" y="297180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F3864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900" b="1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FIG_B3">
              <a:extLst>
                <a:ext uri="{FF2B5EF4-FFF2-40B4-BE49-F238E27FC236}">
                  <a16:creationId xmlns:a16="http://schemas.microsoft.com/office/drawing/2014/main" id="{9E132B10-FC87-DFD1-3F1A-D64015479C2C}"/>
                </a:ext>
              </a:extLst>
            </p:cNvPr>
            <p:cNvSpPr/>
            <p:nvPr/>
          </p:nvSpPr>
          <p:spPr>
            <a:xfrm>
              <a:off x="8699500" y="427990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F3864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900" b="1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9" name="FIG_I1">
              <a:extLst>
                <a:ext uri="{FF2B5EF4-FFF2-40B4-BE49-F238E27FC236}">
                  <a16:creationId xmlns:a16="http://schemas.microsoft.com/office/drawing/2014/main" id="{3625113D-CD82-BEAA-8E7E-79522954B6D2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74100" y="1905000"/>
              <a:ext cx="736600" cy="615950"/>
            </a:xfrm>
            <a:prstGeom prst="rect">
              <a:avLst/>
            </a:prstGeom>
          </p:spPr>
        </p:pic>
        <p:pic>
          <p:nvPicPr>
            <p:cNvPr id="21" name="FIG_I2">
              <a:extLst>
                <a:ext uri="{FF2B5EF4-FFF2-40B4-BE49-F238E27FC236}">
                  <a16:creationId xmlns:a16="http://schemas.microsoft.com/office/drawing/2014/main" id="{3FA9B4FF-66A7-38D6-6ABC-3D05934630F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2200" y="3238500"/>
              <a:ext cx="635000" cy="533400"/>
            </a:xfrm>
            <a:prstGeom prst="rect">
              <a:avLst/>
            </a:prstGeom>
          </p:spPr>
        </p:pic>
        <p:pic>
          <p:nvPicPr>
            <p:cNvPr id="23" name="FIG_I3">
              <a:extLst>
                <a:ext uri="{FF2B5EF4-FFF2-40B4-BE49-F238E27FC236}">
                  <a16:creationId xmlns:a16="http://schemas.microsoft.com/office/drawing/2014/main" id="{7EF0DECC-A34B-EC72-17DE-C9C764DD152A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2200" y="4521200"/>
              <a:ext cx="635000" cy="584200"/>
            </a:xfrm>
            <a:prstGeom prst="rect">
              <a:avLst/>
            </a:prstGeom>
          </p:spPr>
        </p:pic>
        <p:sp>
          <p:nvSpPr>
            <p:cNvPr id="24" name="FIG_T1">
              <a:extLst>
                <a:ext uri="{FF2B5EF4-FFF2-40B4-BE49-F238E27FC236}">
                  <a16:creationId xmlns:a16="http://schemas.microsoft.com/office/drawing/2014/main" id="{87AA5730-CBA4-F1F9-1B3E-CCE7FDB1E2C7}"/>
                </a:ext>
              </a:extLst>
            </p:cNvPr>
            <p:cNvSpPr txBox="1"/>
            <p:nvPr/>
          </p:nvSpPr>
          <p:spPr>
            <a:xfrm>
              <a:off x="9423400" y="1930400"/>
              <a:ext cx="16256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ko-KR" altLang="en-US" sz="10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웹 브라우저 자율 조작</a:t>
              </a:r>
            </a:p>
          </p:txBody>
        </p:sp>
        <p:sp>
          <p:nvSpPr>
            <p:cNvPr id="25" name="FIG_S1">
              <a:extLst>
                <a:ext uri="{FF2B5EF4-FFF2-40B4-BE49-F238E27FC236}">
                  <a16:creationId xmlns:a16="http://schemas.microsoft.com/office/drawing/2014/main" id="{7A6798ED-2F09-7770-1518-20837C011A77}"/>
                </a:ext>
              </a:extLst>
            </p:cNvPr>
            <p:cNvSpPr txBox="1"/>
            <p:nvPr/>
          </p:nvSpPr>
          <p:spPr>
            <a:xfrm>
              <a:off x="9448800" y="2184400"/>
              <a:ext cx="1600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ko-KR" altLang="en-US" sz="800">
                  <a:solidFill>
                    <a:srgbClr val="C5D2E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음성</a:t>
              </a:r>
              <a:r>
                <a:rPr lang="en-US" altLang="ko-KR" sz="800">
                  <a:solidFill>
                    <a:srgbClr val="C5D2E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</a:t>
              </a:r>
              <a:r>
                <a:rPr lang="ko-KR" altLang="en-US" sz="800">
                  <a:solidFill>
                    <a:srgbClr val="C5D2E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자연어로 위임하면</a:t>
              </a:r>
            </a:p>
            <a:p>
              <a:r>
                <a:rPr lang="ko-KR" altLang="en-US" sz="800">
                  <a:solidFill>
                    <a:srgbClr val="C5D2E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에이전트가 태스크까지 완료</a:t>
              </a:r>
            </a:p>
          </p:txBody>
        </p:sp>
        <p:sp>
          <p:nvSpPr>
            <p:cNvPr id="26" name="FIG_T2">
              <a:extLst>
                <a:ext uri="{FF2B5EF4-FFF2-40B4-BE49-F238E27FC236}">
                  <a16:creationId xmlns:a16="http://schemas.microsoft.com/office/drawing/2014/main" id="{1D010E7C-C8D6-EDAE-ECA1-440C896D9700}"/>
                </a:ext>
              </a:extLst>
            </p:cNvPr>
            <p:cNvSpPr txBox="1"/>
            <p:nvPr/>
          </p:nvSpPr>
          <p:spPr>
            <a:xfrm>
              <a:off x="9423400" y="3175000"/>
              <a:ext cx="16256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altLang="ko-KR" sz="1000" b="1" dirty="0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Headless </a:t>
              </a:r>
              <a:r>
                <a:rPr lang="ko-KR" altLang="en-US" sz="1000" b="1" dirty="0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브라우저 지원</a:t>
              </a:r>
            </a:p>
          </p:txBody>
        </p:sp>
        <p:sp>
          <p:nvSpPr>
            <p:cNvPr id="27" name="FIG_S2">
              <a:extLst>
                <a:ext uri="{FF2B5EF4-FFF2-40B4-BE49-F238E27FC236}">
                  <a16:creationId xmlns:a16="http://schemas.microsoft.com/office/drawing/2014/main" id="{E1636720-A294-CE7F-2408-17B9B424D8C2}"/>
                </a:ext>
              </a:extLst>
            </p:cNvPr>
            <p:cNvSpPr txBox="1"/>
            <p:nvPr/>
          </p:nvSpPr>
          <p:spPr>
            <a:xfrm>
              <a:off x="9448800" y="3429000"/>
              <a:ext cx="1600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altLang="ko-KR" sz="800" dirty="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Background</a:t>
              </a:r>
              <a:r>
                <a:rPr lang="ko-KR" altLang="en-US" sz="800" dirty="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에서</a:t>
              </a:r>
            </a:p>
            <a:p>
              <a:r>
                <a:rPr lang="ko-KR" altLang="en-US" sz="800" dirty="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태스크 처리 수행</a:t>
              </a:r>
            </a:p>
          </p:txBody>
        </p:sp>
        <p:sp>
          <p:nvSpPr>
            <p:cNvPr id="28" name="FIG_T3">
              <a:extLst>
                <a:ext uri="{FF2B5EF4-FFF2-40B4-BE49-F238E27FC236}">
                  <a16:creationId xmlns:a16="http://schemas.microsoft.com/office/drawing/2014/main" id="{4DE41EC7-3381-F303-E7E2-B18AF3A09230}"/>
                </a:ext>
              </a:extLst>
            </p:cNvPr>
            <p:cNvSpPr txBox="1"/>
            <p:nvPr/>
          </p:nvSpPr>
          <p:spPr>
            <a:xfrm>
              <a:off x="9423400" y="4483100"/>
              <a:ext cx="16256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altLang="ko-KR" sz="10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Agentic </a:t>
              </a:r>
              <a:r>
                <a:rPr lang="ko-KR" altLang="en-US" sz="10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모듈 인터페이스</a:t>
              </a:r>
            </a:p>
          </p:txBody>
        </p:sp>
        <p:sp>
          <p:nvSpPr>
            <p:cNvPr id="29" name="FIG_S3">
              <a:extLst>
                <a:ext uri="{FF2B5EF4-FFF2-40B4-BE49-F238E27FC236}">
                  <a16:creationId xmlns:a16="http://schemas.microsoft.com/office/drawing/2014/main" id="{E299BAC5-E0CF-F394-BEBB-49D420A7B3FF}"/>
                </a:ext>
              </a:extLst>
            </p:cNvPr>
            <p:cNvSpPr txBox="1"/>
            <p:nvPr/>
          </p:nvSpPr>
          <p:spPr>
            <a:xfrm>
              <a:off x="9448800" y="4737100"/>
              <a:ext cx="1600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altLang="ko-KR" sz="80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AIOS </a:t>
              </a:r>
              <a:r>
                <a:rPr lang="ko-KR" altLang="en-US" sz="80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다른 에이전트</a:t>
              </a:r>
            </a:p>
            <a:p>
              <a:r>
                <a:rPr lang="ko-KR" altLang="en-US" sz="80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모듈과 상호작용</a:t>
              </a:r>
            </a:p>
          </p:txBody>
        </p:sp>
        <p:sp>
          <p:nvSpPr>
            <p:cNvPr id="30" name="FIG_CAP">
              <a:extLst>
                <a:ext uri="{FF2B5EF4-FFF2-40B4-BE49-F238E27FC236}">
                  <a16:creationId xmlns:a16="http://schemas.microsoft.com/office/drawing/2014/main" id="{2437C02E-4392-94F8-2E47-3988E83EADB5}"/>
                </a:ext>
              </a:extLst>
            </p:cNvPr>
            <p:cNvSpPr txBox="1"/>
            <p:nvPr/>
          </p:nvSpPr>
          <p:spPr>
            <a:xfrm>
              <a:off x="8255000" y="5461000"/>
              <a:ext cx="2870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altLang="ko-KR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On-Device </a:t>
              </a:r>
              <a:r>
                <a:rPr lang="ko-KR" altLang="en-US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하네스 기반 </a:t>
              </a:r>
              <a:r>
                <a:rPr lang="en-US" altLang="ko-KR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AI Web Agent </a:t>
              </a:r>
              <a:r>
                <a:rPr lang="ko-KR" altLang="en-US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1140</Words>
  <Application>Microsoft Office PowerPoint</Application>
  <PresentationFormat>와이드스크린</PresentationFormat>
  <Paragraphs>211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Sunwoo Nam</cp:lastModifiedBy>
  <cp:revision>3</cp:revision>
  <dcterms:created xsi:type="dcterms:W3CDTF">2013-01-27T09:14:16Z</dcterms:created>
  <dcterms:modified xsi:type="dcterms:W3CDTF">2026-06-30T15:37:46Z</dcterms:modified>
  <cp:category/>
</cp:coreProperties>
</file>